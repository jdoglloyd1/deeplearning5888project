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9" r:id="rId7"/>
    <p:sldId id="261" r:id="rId8"/>
    <p:sldId id="270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6EF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834"/>
    <p:restoredTop sz="94610"/>
  </p:normalViewPr>
  <p:slideViewPr>
    <p:cSldViewPr snapToGrid="0" snapToObjects="1">
      <p:cViewPr varScale="1">
        <p:scale>
          <a:sx n="360" d="100"/>
          <a:sy n="360" d="100"/>
        </p:scale>
        <p:origin x="9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0609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by baselining the audience: this is not only an audio project. It is a controlled way to make the evolution of neural-network capability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hypothesis early, then give the map. Era 1 learns from ESC-50 only. Eras 2 and 3 start with knowledge learned from much larger audio datasets, then adapt that knowledge to ESC-50.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focused on the dataset and the historical anchor. Do not explain voting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as the conceptual break: the first era is not CNN-specific. It is the era where the model learns from the benchmark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Treat voting as part of the official baseline, not as a mistake to discuss. The prior no-voting result is intentionally omitted.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D0D6F-FF64-0FE2-53C6-D6C5817A8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8F081A-F82D-65F5-1F82-D7D1CD956A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49CDCF-0CF2-B0A4-CB78-5F3C7AFD31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Treat voting as part of the official baseline, not as a mistake to discuss. The prior no-voting result is intentionally omitted.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96CAE2-969B-E03C-743B-0D13AC3E7D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8850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overclaim the LSTM interpretation until the teammate confirms it. The safe framing is that it is a from-scratch architecture extension.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ED68F-8770-949D-BB11-2977FD9D1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B1A2FD-DE87-2588-B0B5-E5575DF0AC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FA39B4-A4E7-4CE6-F253-0914F6635E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overclaim the LSTM interpretation until the teammate confirms it. The safe framing is that it is a from-scratch architecture extension.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850BC2-DB33-4877-C5CC-25A7364EE2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3162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first major era break. Make it clear that transfer learning is the big shift; VGGish and YAMNet are the first period inside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pick a frozen/fine-tuned narrative until the teammate confirms. Present both as the current result candidates.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YAMNet is where the transfer-learning story becomes visible in the results. Tie it back to representation quality rather than simply saying this model is newer.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precise: do not say transformers are a separate top-level learning regime. They are a later period inside transfer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AST is the spectrogram-transformer path: familiar audio representation, much more powerful pretrained backbone.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 gives the second modern endpoint. Use it to reinforce the central story: where the model learned audio knowledge mattered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returning to the hypothesis. The results support the idea that modern techniques improve performance, but the strongest explanation is pretrained audio representation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SYSEN 5888 FINAL PROJECT</a:t>
            </a:r>
            <a:endParaRPr lang="en-US" sz="880" dirty="0"/>
          </a:p>
        </p:txBody>
      </p:sp>
      <p:sp>
        <p:nvSpPr>
          <p:cNvPr id="3" name="Text 1"/>
          <p:cNvSpPr/>
          <p:nvPr/>
        </p:nvSpPr>
        <p:spPr>
          <a:xfrm>
            <a:off x="566928" y="512064"/>
            <a:ext cx="10497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Measuring the AI acceleration: Measurable impact of improvements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76656" y="1417320"/>
            <a:ext cx="5394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2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Neural networks span decades. The last decade made their progress visible enough to test.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91403" y="3657600"/>
            <a:ext cx="11465168" cy="0"/>
          </a:xfrm>
          <a:prstGeom prst="line">
            <a:avLst/>
          </a:prstGeom>
          <a:noFill/>
          <a:ln w="13970">
            <a:solidFill>
              <a:srgbClr val="3038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F7F5EF"/>
          </a:solidFill>
          <a:ln w="11430">
            <a:solidFill>
              <a:srgbClr val="3038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315468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1980s-90s</a:t>
            </a:r>
            <a:endParaRPr lang="en-US" sz="880" dirty="0"/>
          </a:p>
        </p:txBody>
      </p:sp>
      <p:sp>
        <p:nvSpPr>
          <p:cNvPr id="9" name="Text 7"/>
          <p:cNvSpPr/>
          <p:nvPr/>
        </p:nvSpPr>
        <p:spPr>
          <a:xfrm>
            <a:off x="219456" y="3913632"/>
            <a:ext cx="1207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8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Backprop and early neural nets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788920" y="3575304"/>
            <a:ext cx="164592" cy="164592"/>
          </a:xfrm>
          <a:prstGeom prst="ellipse">
            <a:avLst/>
          </a:prstGeom>
          <a:solidFill>
            <a:srgbClr val="F7F5EF"/>
          </a:solidFill>
          <a:ln w="11430">
            <a:solidFill>
              <a:srgbClr val="3038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459736" y="315468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2006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2267712" y="3913632"/>
            <a:ext cx="1207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8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 learning revival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837176" y="3575304"/>
            <a:ext cx="164592" cy="164592"/>
          </a:xfrm>
          <a:prstGeom prst="ellipse">
            <a:avLst/>
          </a:prstGeom>
          <a:solidFill>
            <a:srgbClr val="F7F5EF"/>
          </a:solidFill>
          <a:ln w="11430">
            <a:solidFill>
              <a:srgbClr val="3038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07992" y="315468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2012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4315968" y="3913632"/>
            <a:ext cx="1207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8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CNN/ImageNet moment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885432" y="3575304"/>
            <a:ext cx="164592" cy="164592"/>
          </a:xfrm>
          <a:prstGeom prst="ellipse">
            <a:avLst/>
          </a:prstGeom>
          <a:solidFill>
            <a:srgbClr val="B65D3A"/>
          </a:solidFill>
          <a:ln w="11430">
            <a:solidFill>
              <a:srgbClr val="3038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556248" y="315468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B65D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2015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6364224" y="3913632"/>
            <a:ext cx="1207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8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Piczak CNN on ESC-50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933688" y="3575304"/>
            <a:ext cx="164592" cy="164592"/>
          </a:xfrm>
          <a:prstGeom prst="ellipse">
            <a:avLst/>
          </a:prstGeom>
          <a:solidFill>
            <a:srgbClr val="F7F5EF"/>
          </a:solidFill>
          <a:ln w="11430">
            <a:solidFill>
              <a:srgbClr val="3038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604504" y="315468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2017-19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8412480" y="3913632"/>
            <a:ext cx="1207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8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 matures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0981944" y="3575304"/>
            <a:ext cx="164592" cy="164592"/>
          </a:xfrm>
          <a:prstGeom prst="ellipse">
            <a:avLst/>
          </a:prstGeom>
          <a:solidFill>
            <a:srgbClr val="17677D"/>
          </a:solidFill>
          <a:ln w="11430">
            <a:solidFill>
              <a:srgbClr val="3038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652760" y="315468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2020s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10460736" y="3913632"/>
            <a:ext cx="1207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8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Pretrained representations at scale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463401" y="4693985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700" b="1" dirty="0">
                <a:solidFill>
                  <a:srgbClr val="17677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 use a 2015 benchmark as a time capsule: can later neural-network techniques produce measurable gains?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75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BA562B3-85D6-D8F9-B3B8-1384B0F1FBB9}"/>
              </a:ext>
            </a:extLst>
          </p:cNvPr>
          <p:cNvSpPr/>
          <p:nvPr/>
        </p:nvSpPr>
        <p:spPr>
          <a:xfrm>
            <a:off x="6364224" y="2873846"/>
            <a:ext cx="5303520" cy="16881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3B50C48C-33E4-796F-F8B1-DB5A33A30FF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51206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Hypothesis, test design, and roadmap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13232" y="141732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Hypothesis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13232" y="1700784"/>
            <a:ext cx="5303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2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Modern AI techniques will outperform the Piczak 2015 baseline on ESC-50.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49808" y="2788920"/>
            <a:ext cx="1627632" cy="594360"/>
          </a:xfrm>
          <a:prstGeom prst="rect">
            <a:avLst/>
          </a:prstGeom>
          <a:solidFill>
            <a:srgbClr val="FDFDFB"/>
          </a:solidFill>
          <a:ln w="10160">
            <a:solidFill>
              <a:srgbClr val="BFC6C8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8" name="Text 6"/>
          <p:cNvSpPr/>
          <p:nvPr/>
        </p:nvSpPr>
        <p:spPr>
          <a:xfrm>
            <a:off x="822960" y="3012948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05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2015 benchmark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95528" y="3438144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0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Piczak CNN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395728" y="3086100"/>
            <a:ext cx="73152" cy="0"/>
          </a:xfrm>
          <a:prstGeom prst="line">
            <a:avLst/>
          </a:prstGeom>
          <a:noFill/>
          <a:ln w="11430">
            <a:solidFill>
              <a:srgbClr val="BFC6C8"/>
            </a:solidFill>
            <a:prstDash val="solid"/>
            <a:tailEnd type="triangle"/>
          </a:ln>
        </p:spPr>
        <p:txBody>
          <a:bodyPr/>
          <a:lstStyle/>
          <a:p>
            <a:endParaRPr lang="en-US" sz="2800"/>
          </a:p>
        </p:txBody>
      </p:sp>
      <p:sp>
        <p:nvSpPr>
          <p:cNvPr id="11" name="Shape 9"/>
          <p:cNvSpPr/>
          <p:nvPr/>
        </p:nvSpPr>
        <p:spPr>
          <a:xfrm>
            <a:off x="2496312" y="2788920"/>
            <a:ext cx="1627632" cy="594360"/>
          </a:xfrm>
          <a:prstGeom prst="rect">
            <a:avLst/>
          </a:prstGeom>
          <a:solidFill>
            <a:srgbClr val="FDFDFB"/>
          </a:solidFill>
          <a:ln w="10160">
            <a:solidFill>
              <a:srgbClr val="BFC6C8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12" name="Text 10"/>
          <p:cNvSpPr/>
          <p:nvPr/>
        </p:nvSpPr>
        <p:spPr>
          <a:xfrm>
            <a:off x="2569464" y="3012948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05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eras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42032" y="3438144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0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progression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42232" y="3086100"/>
            <a:ext cx="73152" cy="0"/>
          </a:xfrm>
          <a:prstGeom prst="line">
            <a:avLst/>
          </a:prstGeom>
          <a:noFill/>
          <a:ln w="11430">
            <a:solidFill>
              <a:srgbClr val="BFC6C8"/>
            </a:solidFill>
            <a:prstDash val="solid"/>
            <a:tailEnd type="triangle"/>
          </a:ln>
        </p:spPr>
        <p:txBody>
          <a:bodyPr/>
          <a:lstStyle/>
          <a:p>
            <a:endParaRPr lang="en-US" sz="2800"/>
          </a:p>
        </p:txBody>
      </p:sp>
      <p:sp>
        <p:nvSpPr>
          <p:cNvPr id="15" name="Shape 13"/>
          <p:cNvSpPr/>
          <p:nvPr/>
        </p:nvSpPr>
        <p:spPr>
          <a:xfrm>
            <a:off x="4242816" y="2788920"/>
            <a:ext cx="1627632" cy="594360"/>
          </a:xfrm>
          <a:prstGeom prst="rect">
            <a:avLst/>
          </a:prstGeom>
          <a:solidFill>
            <a:srgbClr val="FDFDFB"/>
          </a:solidFill>
          <a:ln w="10160">
            <a:solidFill>
              <a:srgbClr val="BFC6C8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16" name="Text 14"/>
          <p:cNvSpPr/>
          <p:nvPr/>
        </p:nvSpPr>
        <p:spPr>
          <a:xfrm>
            <a:off x="4315968" y="3012948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05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outcomes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288536" y="3438144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0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 | loss | runtime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30367" y="14173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40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Measurement lens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30367" y="1641348"/>
            <a:ext cx="4343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32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5-fold test accuracy is the headline metric.</a:t>
            </a:r>
            <a:endParaRPr lang="en-US" sz="1320" dirty="0"/>
          </a:p>
          <a:p>
            <a:endParaRPr lang="en-US" sz="1320" dirty="0"/>
          </a:p>
          <a:p>
            <a:r>
              <a:rPr lang="en-US" sz="132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Clip-level accuracy is used for segment-based models.</a:t>
            </a:r>
            <a:endParaRPr lang="en-US" sz="1320" dirty="0"/>
          </a:p>
          <a:p>
            <a:endParaRPr lang="en-US" sz="1320" dirty="0"/>
          </a:p>
          <a:p>
            <a:r>
              <a:rPr lang="en-US" sz="132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Loss and runtime help interpret the magnitude of gains…if any.</a:t>
            </a:r>
            <a:endParaRPr lang="en-US" sz="1320" dirty="0"/>
          </a:p>
        </p:txBody>
      </p:sp>
      <p:sp>
        <p:nvSpPr>
          <p:cNvPr id="30" name="Text 28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50" dirty="0"/>
          </a:p>
        </p:txBody>
      </p:sp>
      <p:pic>
        <p:nvPicPr>
          <p:cNvPr id="31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DD9A5103-E31E-A504-2E47-C31FD59BDB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 18">
            <a:extLst>
              <a:ext uri="{FF2B5EF4-FFF2-40B4-BE49-F238E27FC236}">
                <a16:creationId xmlns:a16="http://schemas.microsoft.com/office/drawing/2014/main" id="{9EC3D0E5-D238-25F7-BEDE-595F7C02CC68}"/>
              </a:ext>
            </a:extLst>
          </p:cNvPr>
          <p:cNvSpPr/>
          <p:nvPr/>
        </p:nvSpPr>
        <p:spPr>
          <a:xfrm>
            <a:off x="749808" y="462686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</a:t>
            </a:r>
            <a:endParaRPr lang="en-US" sz="1200" dirty="0"/>
          </a:p>
        </p:txBody>
      </p:sp>
      <p:sp>
        <p:nvSpPr>
          <p:cNvPr id="32" name="Shape 19">
            <a:extLst>
              <a:ext uri="{FF2B5EF4-FFF2-40B4-BE49-F238E27FC236}">
                <a16:creationId xmlns:a16="http://schemas.microsoft.com/office/drawing/2014/main" id="{989F930E-4B60-1142-8E73-06B43B3ACE89}"/>
              </a:ext>
            </a:extLst>
          </p:cNvPr>
          <p:cNvSpPr/>
          <p:nvPr/>
        </p:nvSpPr>
        <p:spPr>
          <a:xfrm>
            <a:off x="749808" y="4882896"/>
            <a:ext cx="3675888" cy="786384"/>
          </a:xfrm>
          <a:prstGeom prst="chevron">
            <a:avLst/>
          </a:prstGeom>
          <a:solidFill>
            <a:srgbClr val="426E9E"/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0">
            <a:extLst>
              <a:ext uri="{FF2B5EF4-FFF2-40B4-BE49-F238E27FC236}">
                <a16:creationId xmlns:a16="http://schemas.microsoft.com/office/drawing/2014/main" id="{A2A55FF3-743B-076E-EF6E-47564C6C6347}"/>
              </a:ext>
            </a:extLst>
          </p:cNvPr>
          <p:cNvSpPr/>
          <p:nvPr/>
        </p:nvSpPr>
        <p:spPr>
          <a:xfrm>
            <a:off x="896112" y="505663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from scratch</a:t>
            </a:r>
            <a:endParaRPr lang="en-US" sz="1050" dirty="0"/>
          </a:p>
        </p:txBody>
      </p:sp>
      <p:sp>
        <p:nvSpPr>
          <p:cNvPr id="34" name="Text 21">
            <a:extLst>
              <a:ext uri="{FF2B5EF4-FFF2-40B4-BE49-F238E27FC236}">
                <a16:creationId xmlns:a16="http://schemas.microsoft.com/office/drawing/2014/main" id="{EE38F352-8307-6CB4-6D39-88F03C668B81}"/>
              </a:ext>
            </a:extLst>
          </p:cNvPr>
          <p:cNvSpPr/>
          <p:nvPr/>
        </p:nvSpPr>
        <p:spPr>
          <a:xfrm>
            <a:off x="896112" y="5321808"/>
            <a:ext cx="3246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20" dirty="0" err="1">
                <a:solidFill>
                  <a:schemeClr val="bg1"/>
                </a:solidFill>
                <a:latin typeface="Aptos" pitchFamily="34" charset="0"/>
              </a:rPr>
              <a:t>Piczak</a:t>
            </a:r>
            <a:r>
              <a:rPr lang="en-US" sz="820" dirty="0">
                <a:solidFill>
                  <a:schemeClr val="bg1"/>
                </a:solidFill>
                <a:latin typeface="Aptos" pitchFamily="34" charset="0"/>
              </a:rPr>
              <a:t> CNN | Variations | LSTM</a:t>
            </a:r>
          </a:p>
        </p:txBody>
      </p:sp>
      <p:sp>
        <p:nvSpPr>
          <p:cNvPr id="35" name="Shape 22">
            <a:extLst>
              <a:ext uri="{FF2B5EF4-FFF2-40B4-BE49-F238E27FC236}">
                <a16:creationId xmlns:a16="http://schemas.microsoft.com/office/drawing/2014/main" id="{295B32F0-04FB-A446-8872-F6911FADA695}"/>
              </a:ext>
            </a:extLst>
          </p:cNvPr>
          <p:cNvSpPr/>
          <p:nvPr/>
        </p:nvSpPr>
        <p:spPr>
          <a:xfrm>
            <a:off x="4315968" y="4882896"/>
            <a:ext cx="3675888" cy="786384"/>
          </a:xfrm>
          <a:prstGeom prst="chevron">
            <a:avLst/>
          </a:prstGeom>
          <a:solidFill>
            <a:srgbClr val="1B667D"/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23">
            <a:extLst>
              <a:ext uri="{FF2B5EF4-FFF2-40B4-BE49-F238E27FC236}">
                <a16:creationId xmlns:a16="http://schemas.microsoft.com/office/drawing/2014/main" id="{97491FF5-57AB-D5B6-C518-FFE73E9C26BA}"/>
              </a:ext>
            </a:extLst>
          </p:cNvPr>
          <p:cNvSpPr/>
          <p:nvPr/>
        </p:nvSpPr>
        <p:spPr>
          <a:xfrm>
            <a:off x="4462272" y="505663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050" b="1" dirty="0">
                <a:solidFill>
                  <a:schemeClr val="bg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learning: pretrained CNN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37" name="Text 24">
            <a:extLst>
              <a:ext uri="{FF2B5EF4-FFF2-40B4-BE49-F238E27FC236}">
                <a16:creationId xmlns:a16="http://schemas.microsoft.com/office/drawing/2014/main" id="{EB8DE7B4-5237-2C44-3DD8-FEC7A2823E12}"/>
              </a:ext>
            </a:extLst>
          </p:cNvPr>
          <p:cNvSpPr/>
          <p:nvPr/>
        </p:nvSpPr>
        <p:spPr>
          <a:xfrm>
            <a:off x="4462272" y="5321808"/>
            <a:ext cx="3246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20" dirty="0">
                <a:solidFill>
                  <a:schemeClr val="bg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VGGish | YAMNet</a:t>
            </a:r>
            <a:endParaRPr lang="en-US" sz="820" dirty="0">
              <a:solidFill>
                <a:schemeClr val="bg1"/>
              </a:solidFill>
            </a:endParaRPr>
          </a:p>
        </p:txBody>
      </p:sp>
      <p:sp>
        <p:nvSpPr>
          <p:cNvPr id="38" name="Shape 25">
            <a:extLst>
              <a:ext uri="{FF2B5EF4-FFF2-40B4-BE49-F238E27FC236}">
                <a16:creationId xmlns:a16="http://schemas.microsoft.com/office/drawing/2014/main" id="{C838B2D9-E5C0-4699-1D82-B1FF36E17010}"/>
              </a:ext>
            </a:extLst>
          </p:cNvPr>
          <p:cNvSpPr/>
          <p:nvPr/>
        </p:nvSpPr>
        <p:spPr>
          <a:xfrm>
            <a:off x="7882128" y="4882896"/>
            <a:ext cx="3566160" cy="786384"/>
          </a:xfrm>
          <a:prstGeom prst="chevron">
            <a:avLst/>
          </a:prstGeom>
          <a:solidFill>
            <a:srgbClr val="B65D3A"/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26">
            <a:extLst>
              <a:ext uri="{FF2B5EF4-FFF2-40B4-BE49-F238E27FC236}">
                <a16:creationId xmlns:a16="http://schemas.microsoft.com/office/drawing/2014/main" id="{E46A358F-FEF1-7ADE-4793-2C4D927A762C}"/>
              </a:ext>
            </a:extLst>
          </p:cNvPr>
          <p:cNvSpPr/>
          <p:nvPr/>
        </p:nvSpPr>
        <p:spPr>
          <a:xfrm>
            <a:off x="8028432" y="505663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050" b="1" dirty="0">
                <a:solidFill>
                  <a:schemeClr val="bg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learning: pretrained transformers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40" name="Text 27">
            <a:extLst>
              <a:ext uri="{FF2B5EF4-FFF2-40B4-BE49-F238E27FC236}">
                <a16:creationId xmlns:a16="http://schemas.microsoft.com/office/drawing/2014/main" id="{1F69587E-DE03-039D-990A-02B7BFF33925}"/>
              </a:ext>
            </a:extLst>
          </p:cNvPr>
          <p:cNvSpPr/>
          <p:nvPr/>
        </p:nvSpPr>
        <p:spPr>
          <a:xfrm>
            <a:off x="8028432" y="5321808"/>
            <a:ext cx="3246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20" dirty="0">
                <a:solidFill>
                  <a:schemeClr val="bg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AST | BEATs</a:t>
            </a:r>
            <a:endParaRPr lang="en-US" sz="82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BENCHMARK</a:t>
            </a:r>
            <a:endParaRPr lang="en-US" sz="880" dirty="0"/>
          </a:p>
        </p:txBody>
      </p:sp>
      <p:sp>
        <p:nvSpPr>
          <p:cNvPr id="3" name="Text 1"/>
          <p:cNvSpPr/>
          <p:nvPr/>
        </p:nvSpPr>
        <p:spPr>
          <a:xfrm>
            <a:off x="566928" y="51206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Piczak and ESC-50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4" name="Text 472"/>
          <p:cNvSpPr/>
          <p:nvPr/>
        </p:nvSpPr>
        <p:spPr>
          <a:xfrm>
            <a:off x="6554586" y="141531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500" b="1" dirty="0">
                <a:solidFill>
                  <a:srgbClr val="17677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ESC-50</a:t>
            </a:r>
            <a:endParaRPr lang="en-US" sz="2500" dirty="0"/>
          </a:p>
        </p:txBody>
      </p:sp>
      <p:sp>
        <p:nvSpPr>
          <p:cNvPr id="475" name="Shape 473"/>
          <p:cNvSpPr/>
          <p:nvPr/>
        </p:nvSpPr>
        <p:spPr>
          <a:xfrm>
            <a:off x="6554586" y="1872510"/>
            <a:ext cx="1783080" cy="914400"/>
          </a:xfrm>
          <a:prstGeom prst="rect">
            <a:avLst/>
          </a:prstGeom>
          <a:solidFill>
            <a:srgbClr val="FFFFFF">
              <a:alpha val="98000"/>
            </a:srgbClr>
          </a:solidFill>
          <a:ln w="17780">
            <a:solidFill>
              <a:srgbClr val="1767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6" name="Text 474"/>
          <p:cNvSpPr/>
          <p:nvPr/>
        </p:nvSpPr>
        <p:spPr>
          <a:xfrm>
            <a:off x="6646026" y="200967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2100" b="1" dirty="0">
                <a:solidFill>
                  <a:srgbClr val="17677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2,000</a:t>
            </a:r>
            <a:endParaRPr lang="en-US" sz="2100" dirty="0"/>
          </a:p>
        </p:txBody>
      </p:sp>
      <p:sp>
        <p:nvSpPr>
          <p:cNvPr id="477" name="Text 475"/>
          <p:cNvSpPr/>
          <p:nvPr/>
        </p:nvSpPr>
        <p:spPr>
          <a:xfrm>
            <a:off x="6664314" y="2402862"/>
            <a:ext cx="1563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8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labeled audio clips</a:t>
            </a:r>
            <a:endParaRPr lang="en-US" sz="780" dirty="0"/>
          </a:p>
        </p:txBody>
      </p:sp>
      <p:sp>
        <p:nvSpPr>
          <p:cNvPr id="478" name="Shape 476"/>
          <p:cNvSpPr/>
          <p:nvPr/>
        </p:nvSpPr>
        <p:spPr>
          <a:xfrm>
            <a:off x="8749146" y="1872510"/>
            <a:ext cx="1783080" cy="914400"/>
          </a:xfrm>
          <a:prstGeom prst="rect">
            <a:avLst/>
          </a:prstGeom>
          <a:solidFill>
            <a:srgbClr val="FFFFFF">
              <a:alpha val="98000"/>
            </a:srgbClr>
          </a:solidFill>
          <a:ln w="17780">
            <a:solidFill>
              <a:srgbClr val="3038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9" name="Text 477"/>
          <p:cNvSpPr/>
          <p:nvPr/>
        </p:nvSpPr>
        <p:spPr>
          <a:xfrm>
            <a:off x="8840586" y="200967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2100" b="1" dirty="0">
                <a:solidFill>
                  <a:srgbClr val="3038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</a:t>
            </a:r>
            <a:endParaRPr lang="en-US" sz="2100" dirty="0"/>
          </a:p>
        </p:txBody>
      </p:sp>
      <p:sp>
        <p:nvSpPr>
          <p:cNvPr id="480" name="Text 478"/>
          <p:cNvSpPr/>
          <p:nvPr/>
        </p:nvSpPr>
        <p:spPr>
          <a:xfrm>
            <a:off x="8858874" y="2402862"/>
            <a:ext cx="1563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8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balanced classes</a:t>
            </a:r>
            <a:endParaRPr lang="en-US" sz="780" dirty="0"/>
          </a:p>
        </p:txBody>
      </p:sp>
      <p:sp>
        <p:nvSpPr>
          <p:cNvPr id="481" name="Shape 479"/>
          <p:cNvSpPr/>
          <p:nvPr/>
        </p:nvSpPr>
        <p:spPr>
          <a:xfrm>
            <a:off x="6554586" y="2951502"/>
            <a:ext cx="1783080" cy="914400"/>
          </a:xfrm>
          <a:prstGeom prst="rect">
            <a:avLst/>
          </a:prstGeom>
          <a:solidFill>
            <a:srgbClr val="FFFFFF">
              <a:alpha val="98000"/>
            </a:srgbClr>
          </a:solidFill>
          <a:ln w="17780">
            <a:solidFill>
              <a:srgbClr val="3038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2" name="Text 480"/>
          <p:cNvSpPr/>
          <p:nvPr/>
        </p:nvSpPr>
        <p:spPr>
          <a:xfrm>
            <a:off x="6646026" y="3088662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2100" b="1" dirty="0">
                <a:solidFill>
                  <a:srgbClr val="3038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2100" dirty="0"/>
          </a:p>
        </p:txBody>
      </p:sp>
      <p:sp>
        <p:nvSpPr>
          <p:cNvPr id="483" name="Text 481"/>
          <p:cNvSpPr/>
          <p:nvPr/>
        </p:nvSpPr>
        <p:spPr>
          <a:xfrm>
            <a:off x="6664314" y="3481854"/>
            <a:ext cx="1563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8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folds</a:t>
            </a:r>
            <a:endParaRPr lang="en-US" sz="780" dirty="0"/>
          </a:p>
        </p:txBody>
      </p:sp>
      <p:sp>
        <p:nvSpPr>
          <p:cNvPr id="484" name="Shape 482"/>
          <p:cNvSpPr/>
          <p:nvPr/>
        </p:nvSpPr>
        <p:spPr>
          <a:xfrm>
            <a:off x="8749146" y="2951502"/>
            <a:ext cx="1783080" cy="914400"/>
          </a:xfrm>
          <a:prstGeom prst="rect">
            <a:avLst/>
          </a:prstGeom>
          <a:solidFill>
            <a:srgbClr val="FFFFFF">
              <a:alpha val="98000"/>
            </a:srgbClr>
          </a:solidFill>
          <a:ln w="17780">
            <a:solidFill>
              <a:srgbClr val="3038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5" name="Text 483"/>
          <p:cNvSpPr/>
          <p:nvPr/>
        </p:nvSpPr>
        <p:spPr>
          <a:xfrm>
            <a:off x="8840586" y="3088662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2100" b="1" dirty="0">
                <a:solidFill>
                  <a:srgbClr val="3038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 sec</a:t>
            </a:r>
            <a:endParaRPr lang="en-US" sz="2100" dirty="0"/>
          </a:p>
        </p:txBody>
      </p:sp>
      <p:sp>
        <p:nvSpPr>
          <p:cNvPr id="486" name="Text 484"/>
          <p:cNvSpPr/>
          <p:nvPr/>
        </p:nvSpPr>
        <p:spPr>
          <a:xfrm>
            <a:off x="8858874" y="3481854"/>
            <a:ext cx="1563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8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 clip</a:t>
            </a:r>
            <a:endParaRPr lang="en-US" sz="780" dirty="0"/>
          </a:p>
        </p:txBody>
      </p:sp>
      <p:sp>
        <p:nvSpPr>
          <p:cNvPr id="487" name="Text 485"/>
          <p:cNvSpPr/>
          <p:nvPr/>
        </p:nvSpPr>
        <p:spPr>
          <a:xfrm>
            <a:off x="6524944" y="4436849"/>
            <a:ext cx="141624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488" name="Text 486"/>
          <p:cNvSpPr/>
          <p:nvPr/>
        </p:nvSpPr>
        <p:spPr>
          <a:xfrm>
            <a:off x="6543232" y="4775177"/>
            <a:ext cx="5428923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3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Environmental sound classification lagged speech and music processing.</a:t>
            </a:r>
            <a:endParaRPr lang="en-US" sz="1300" dirty="0"/>
          </a:p>
          <a:p>
            <a:endParaRPr lang="en-US" sz="1300" dirty="0"/>
          </a:p>
          <a:p>
            <a:r>
              <a:rPr lang="en-US" sz="13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ESC-50 gave researchers a clean, repeatable benchmark.</a:t>
            </a:r>
            <a:endParaRPr lang="en-US" sz="1300" dirty="0"/>
          </a:p>
          <a:p>
            <a:endParaRPr lang="en-US" sz="1300" dirty="0"/>
          </a:p>
          <a:p>
            <a:r>
              <a:rPr lang="en-US" sz="13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folds support direct comparison with published results.</a:t>
            </a:r>
            <a:endParaRPr lang="en-US" sz="1300" dirty="0"/>
          </a:p>
        </p:txBody>
      </p:sp>
      <p:sp>
        <p:nvSpPr>
          <p:cNvPr id="490" name="Text 488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50" dirty="0"/>
          </a:p>
        </p:txBody>
      </p:sp>
      <p:sp>
        <p:nvSpPr>
          <p:cNvPr id="491" name="Text 486">
            <a:extLst>
              <a:ext uri="{FF2B5EF4-FFF2-40B4-BE49-F238E27FC236}">
                <a16:creationId xmlns:a16="http://schemas.microsoft.com/office/drawing/2014/main" id="{4F12BFD9-B7A4-EF4A-9577-365E58A8A4DB}"/>
              </a:ext>
            </a:extLst>
          </p:cNvPr>
          <p:cNvSpPr/>
          <p:nvPr/>
        </p:nvSpPr>
        <p:spPr>
          <a:xfrm>
            <a:off x="807279" y="1874520"/>
            <a:ext cx="5414478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300" dirty="0" err="1">
                <a:solidFill>
                  <a:srgbClr val="1F2528"/>
                </a:solidFill>
                <a:latin typeface="Aptos" pitchFamily="34" charset="0"/>
              </a:rPr>
              <a:t>Piczak’s</a:t>
            </a:r>
            <a:r>
              <a:rPr lang="en-US" sz="1300" dirty="0">
                <a:solidFill>
                  <a:srgbClr val="1F2528"/>
                </a:solidFill>
                <a:latin typeface="Aptos" pitchFamily="34" charset="0"/>
              </a:rPr>
              <a:t> 2015 model converts each 5-second ESC-50 audio clip into log-</a:t>
            </a:r>
            <a:r>
              <a:rPr lang="en-US" sz="1300" dirty="0" err="1">
                <a:solidFill>
                  <a:srgbClr val="1F2528"/>
                </a:solidFill>
                <a:latin typeface="Aptos" pitchFamily="34" charset="0"/>
              </a:rPr>
              <a:t>mel</a:t>
            </a:r>
            <a:r>
              <a:rPr lang="en-US" sz="1300" dirty="0">
                <a:solidFill>
                  <a:srgbClr val="1F2528"/>
                </a:solidFill>
                <a:latin typeface="Aptos" pitchFamily="34" charset="0"/>
              </a:rPr>
              <a:t> spectrogram segments, classifies those segments with a two-layer CNN trained from scratch, then aggregates segment predictions into a clip-level prediction using voting. It established a strong neural baseline for environmental sound classification.</a:t>
            </a:r>
          </a:p>
        </p:txBody>
      </p:sp>
      <p:sp>
        <p:nvSpPr>
          <p:cNvPr id="492" name="Text 485">
            <a:extLst>
              <a:ext uri="{FF2B5EF4-FFF2-40B4-BE49-F238E27FC236}">
                <a16:creationId xmlns:a16="http://schemas.microsoft.com/office/drawing/2014/main" id="{56F06144-76D2-6E75-4D50-4DC15453B6B3}"/>
              </a:ext>
            </a:extLst>
          </p:cNvPr>
          <p:cNvSpPr/>
          <p:nvPr/>
        </p:nvSpPr>
        <p:spPr>
          <a:xfrm>
            <a:off x="807279" y="1557834"/>
            <a:ext cx="141624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 Summary</a:t>
            </a:r>
            <a:endParaRPr lang="en-US" sz="1100" dirty="0"/>
          </a:p>
        </p:txBody>
      </p:sp>
      <p:pic>
        <p:nvPicPr>
          <p:cNvPr id="493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81B4FE68-277B-E414-D703-024BB80D67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6" name="Picture 495" descr="A diagram of a data processing process&#10;&#10;AI-generated content may be incorrect.">
            <a:extLst>
              <a:ext uri="{FF2B5EF4-FFF2-40B4-BE49-F238E27FC236}">
                <a16:creationId xmlns:a16="http://schemas.microsoft.com/office/drawing/2014/main" id="{D210B0F5-88EB-1077-0E34-75066285AF9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4622" y="3213307"/>
            <a:ext cx="2293407" cy="2330638"/>
          </a:xfrm>
          <a:prstGeom prst="rect">
            <a:avLst/>
          </a:prstGeom>
        </p:spPr>
      </p:pic>
      <p:pic>
        <p:nvPicPr>
          <p:cNvPr id="498" name="Picture 497" descr="A graph of a graph with lines and numbers&#10;&#10;AI-generated content may be incorrect.">
            <a:extLst>
              <a:ext uri="{FF2B5EF4-FFF2-40B4-BE49-F238E27FC236}">
                <a16:creationId xmlns:a16="http://schemas.microsoft.com/office/drawing/2014/main" id="{CE6E4EBE-47F3-3F47-E85B-7F9A907CDD4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754973" y="3417846"/>
            <a:ext cx="1670630" cy="1624008"/>
          </a:xfrm>
          <a:prstGeom prst="rect">
            <a:avLst/>
          </a:prstGeom>
        </p:spPr>
      </p:pic>
      <p:pic>
        <p:nvPicPr>
          <p:cNvPr id="500" name="Picture 499">
            <a:extLst>
              <a:ext uri="{FF2B5EF4-FFF2-40B4-BE49-F238E27FC236}">
                <a16:creationId xmlns:a16="http://schemas.microsoft.com/office/drawing/2014/main" id="{4960458B-EE35-283B-E677-CADB332A50A8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E"/>
              </a:clrFrom>
              <a:clrTo>
                <a:srgbClr val="FFFF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150661" y="5045181"/>
            <a:ext cx="3021721" cy="347216"/>
          </a:xfrm>
          <a:prstGeom prst="rect">
            <a:avLst/>
          </a:prstGeom>
        </p:spPr>
      </p:pic>
      <p:sp>
        <p:nvSpPr>
          <p:cNvPr id="501" name="Rectangle 500">
            <a:extLst>
              <a:ext uri="{FF2B5EF4-FFF2-40B4-BE49-F238E27FC236}">
                <a16:creationId xmlns:a16="http://schemas.microsoft.com/office/drawing/2014/main" id="{00BB4C16-2AFE-0A05-09B8-3EC018B04C8C}"/>
              </a:ext>
            </a:extLst>
          </p:cNvPr>
          <p:cNvSpPr/>
          <p:nvPr/>
        </p:nvSpPr>
        <p:spPr>
          <a:xfrm>
            <a:off x="3101287" y="3253253"/>
            <a:ext cx="3120470" cy="22997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2" name="Rectangle 501">
            <a:extLst>
              <a:ext uri="{FF2B5EF4-FFF2-40B4-BE49-F238E27FC236}">
                <a16:creationId xmlns:a16="http://schemas.microsoft.com/office/drawing/2014/main" id="{9A3B1683-A76E-36B5-FAE8-A77EBE055D51}"/>
              </a:ext>
            </a:extLst>
          </p:cNvPr>
          <p:cNvSpPr/>
          <p:nvPr/>
        </p:nvSpPr>
        <p:spPr>
          <a:xfrm>
            <a:off x="594360" y="3244145"/>
            <a:ext cx="2383669" cy="22998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25">
            <a:extLst>
              <a:ext uri="{FF2B5EF4-FFF2-40B4-BE49-F238E27FC236}">
                <a16:creationId xmlns:a16="http://schemas.microsoft.com/office/drawing/2014/main" id="{3AE7F568-CD5E-5BD6-461E-3E0DB62405DA}"/>
              </a:ext>
            </a:extLst>
          </p:cNvPr>
          <p:cNvSpPr/>
          <p:nvPr/>
        </p:nvSpPr>
        <p:spPr>
          <a:xfrm>
            <a:off x="9550658" y="750101"/>
            <a:ext cx="1755200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2" name="Text 0"/>
          <p:cNvSpPr/>
          <p:nvPr/>
        </p:nvSpPr>
        <p:spPr>
          <a:xfrm>
            <a:off x="594360" y="310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 TECHNICAL ERA</a:t>
            </a:r>
            <a:endParaRPr lang="en-US" sz="880" dirty="0"/>
          </a:p>
        </p:txBody>
      </p:sp>
      <p:sp>
        <p:nvSpPr>
          <p:cNvPr id="3" name="Text 1"/>
          <p:cNvSpPr/>
          <p:nvPr/>
        </p:nvSpPr>
        <p:spPr>
          <a:xfrm>
            <a:off x="566928" y="51206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Era 1: training from scratch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1417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426E9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Constraint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68680" y="1700784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3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All useful audio knowledge must be learned from ESC-50.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932688" y="2788920"/>
            <a:ext cx="2286000" cy="1005840"/>
          </a:xfrm>
          <a:prstGeom prst="rect">
            <a:avLst/>
          </a:prstGeom>
          <a:solidFill>
            <a:srgbClr val="FFFFFF"/>
          </a:solidFill>
          <a:ln w="15240">
            <a:solidFill>
              <a:srgbClr val="426E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115568" y="299923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426E9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ESC-50</a:t>
            </a:r>
            <a:endParaRPr lang="en-US" sz="16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426E9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2,000 clips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429000" y="3291840"/>
            <a:ext cx="1143000" cy="0"/>
          </a:xfrm>
          <a:prstGeom prst="line">
            <a:avLst/>
          </a:prstGeom>
          <a:noFill/>
          <a:ln w="17780">
            <a:solidFill>
              <a:srgbClr val="BFC6C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36592" y="2907792"/>
            <a:ext cx="1965960" cy="777240"/>
          </a:xfrm>
          <a:prstGeom prst="rect">
            <a:avLst/>
          </a:prstGeom>
          <a:solidFill>
            <a:srgbClr val="FDFDFB"/>
          </a:solidFill>
          <a:ln w="10160">
            <a:solidFill>
              <a:srgbClr val="BFC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09744" y="3223260"/>
            <a:ext cx="1819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learning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12280" y="3291840"/>
            <a:ext cx="1005840" cy="0"/>
          </a:xfrm>
          <a:prstGeom prst="line">
            <a:avLst/>
          </a:prstGeom>
          <a:noFill/>
          <a:ln w="17780">
            <a:solidFill>
              <a:srgbClr val="BFC6C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973568" y="2907792"/>
            <a:ext cx="1965960" cy="777240"/>
          </a:xfrm>
          <a:prstGeom prst="rect">
            <a:avLst/>
          </a:prstGeom>
          <a:solidFill>
            <a:srgbClr val="FDFDFB"/>
          </a:solidFill>
          <a:ln w="10160">
            <a:solidFill>
              <a:srgbClr val="BFC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046720" y="3223260"/>
            <a:ext cx="1819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Classifier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68680" y="4434841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500" b="1" dirty="0">
                <a:solidFill>
                  <a:srgbClr val="3038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This era establishes what small labeled audio data can support before importing external knowledge.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 dirty="0"/>
          </a:p>
        </p:txBody>
      </p:sp>
      <p:pic>
        <p:nvPicPr>
          <p:cNvPr id="38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00119E58-1EB2-4D7F-C4A5-63A236FDB73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Shape 19">
            <a:extLst>
              <a:ext uri="{FF2B5EF4-FFF2-40B4-BE49-F238E27FC236}">
                <a16:creationId xmlns:a16="http://schemas.microsoft.com/office/drawing/2014/main" id="{542DCAE2-842E-6FFD-C0D9-9ADB8EE17C0E}"/>
              </a:ext>
            </a:extLst>
          </p:cNvPr>
          <p:cNvSpPr/>
          <p:nvPr/>
        </p:nvSpPr>
        <p:spPr>
          <a:xfrm>
            <a:off x="6237447" y="751408"/>
            <a:ext cx="1809206" cy="295381"/>
          </a:xfrm>
          <a:prstGeom prst="chevron">
            <a:avLst/>
          </a:prstGeom>
          <a:solidFill>
            <a:srgbClr val="426E9E"/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 dirty="0"/>
          </a:p>
        </p:txBody>
      </p:sp>
      <p:sp>
        <p:nvSpPr>
          <p:cNvPr id="40" name="Text 20">
            <a:extLst>
              <a:ext uri="{FF2B5EF4-FFF2-40B4-BE49-F238E27FC236}">
                <a16:creationId xmlns:a16="http://schemas.microsoft.com/office/drawing/2014/main" id="{994F063A-D545-131C-BE07-6246FFACAD72}"/>
              </a:ext>
            </a:extLst>
          </p:cNvPr>
          <p:cNvSpPr/>
          <p:nvPr/>
        </p:nvSpPr>
        <p:spPr>
          <a:xfrm>
            <a:off x="6287692" y="833886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from scratch</a:t>
            </a:r>
            <a:endParaRPr lang="en-US" sz="700" dirty="0"/>
          </a:p>
        </p:txBody>
      </p:sp>
      <p:sp>
        <p:nvSpPr>
          <p:cNvPr id="41" name="Text 21">
            <a:extLst>
              <a:ext uri="{FF2B5EF4-FFF2-40B4-BE49-F238E27FC236}">
                <a16:creationId xmlns:a16="http://schemas.microsoft.com/office/drawing/2014/main" id="{28254494-31E4-D07A-F95D-29721EB63A7E}"/>
              </a:ext>
            </a:extLst>
          </p:cNvPr>
          <p:cNvSpPr/>
          <p:nvPr/>
        </p:nvSpPr>
        <p:spPr>
          <a:xfrm>
            <a:off x="6295809" y="928966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Piczak CNN | LSTM</a:t>
            </a:r>
            <a:endParaRPr lang="en-US" sz="500" dirty="0"/>
          </a:p>
        </p:txBody>
      </p:sp>
      <p:sp>
        <p:nvSpPr>
          <p:cNvPr id="42" name="Shape 22">
            <a:extLst>
              <a:ext uri="{FF2B5EF4-FFF2-40B4-BE49-F238E27FC236}">
                <a16:creationId xmlns:a16="http://schemas.microsoft.com/office/drawing/2014/main" id="{0D1201FC-1605-57E2-36E2-4A154E67F7C0}"/>
              </a:ext>
            </a:extLst>
          </p:cNvPr>
          <p:cNvSpPr/>
          <p:nvPr/>
        </p:nvSpPr>
        <p:spPr>
          <a:xfrm>
            <a:off x="7891484" y="750102"/>
            <a:ext cx="1809206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43" name="Text 23">
            <a:extLst>
              <a:ext uri="{FF2B5EF4-FFF2-40B4-BE49-F238E27FC236}">
                <a16:creationId xmlns:a16="http://schemas.microsoft.com/office/drawing/2014/main" id="{A942D550-9AB4-6A9B-2F77-07F2080E8F54}"/>
              </a:ext>
            </a:extLst>
          </p:cNvPr>
          <p:cNvSpPr/>
          <p:nvPr/>
        </p:nvSpPr>
        <p:spPr>
          <a:xfrm>
            <a:off x="7963330" y="839252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learning: pretrained CNN</a:t>
            </a:r>
            <a:endParaRPr lang="en-US" sz="700" dirty="0"/>
          </a:p>
        </p:txBody>
      </p:sp>
      <p:sp>
        <p:nvSpPr>
          <p:cNvPr id="44" name="Text 24">
            <a:extLst>
              <a:ext uri="{FF2B5EF4-FFF2-40B4-BE49-F238E27FC236}">
                <a16:creationId xmlns:a16="http://schemas.microsoft.com/office/drawing/2014/main" id="{DC838243-2117-3706-BB93-9696F27C77D9}"/>
              </a:ext>
            </a:extLst>
          </p:cNvPr>
          <p:cNvSpPr/>
          <p:nvPr/>
        </p:nvSpPr>
        <p:spPr>
          <a:xfrm>
            <a:off x="7984136" y="941012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VGGish | YAMNet</a:t>
            </a:r>
            <a:endParaRPr lang="en-US" sz="500" dirty="0"/>
          </a:p>
        </p:txBody>
      </p:sp>
      <p:sp>
        <p:nvSpPr>
          <p:cNvPr id="46" name="Text 26">
            <a:extLst>
              <a:ext uri="{FF2B5EF4-FFF2-40B4-BE49-F238E27FC236}">
                <a16:creationId xmlns:a16="http://schemas.microsoft.com/office/drawing/2014/main" id="{3CFCCBE6-76B2-DCDC-671C-B9F9E353B5AC}"/>
              </a:ext>
            </a:extLst>
          </p:cNvPr>
          <p:cNvSpPr/>
          <p:nvPr/>
        </p:nvSpPr>
        <p:spPr>
          <a:xfrm>
            <a:off x="9657605" y="848441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learning: pretrained transformers</a:t>
            </a:r>
            <a:endParaRPr lang="en-US" sz="700" dirty="0"/>
          </a:p>
        </p:txBody>
      </p:sp>
      <p:sp>
        <p:nvSpPr>
          <p:cNvPr id="47" name="Text 27">
            <a:extLst>
              <a:ext uri="{FF2B5EF4-FFF2-40B4-BE49-F238E27FC236}">
                <a16:creationId xmlns:a16="http://schemas.microsoft.com/office/drawing/2014/main" id="{2ED423B7-FF86-9200-B884-1F50FCB3D06F}"/>
              </a:ext>
            </a:extLst>
          </p:cNvPr>
          <p:cNvSpPr/>
          <p:nvPr/>
        </p:nvSpPr>
        <p:spPr>
          <a:xfrm>
            <a:off x="9657605" y="944489"/>
            <a:ext cx="1662902" cy="107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AST | BEATs</a:t>
            </a:r>
            <a:endParaRPr lang="en-US" sz="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25">
            <a:extLst>
              <a:ext uri="{FF2B5EF4-FFF2-40B4-BE49-F238E27FC236}">
                <a16:creationId xmlns:a16="http://schemas.microsoft.com/office/drawing/2014/main" id="{97735F49-CC80-E67F-2BF4-B53533E76338}"/>
              </a:ext>
            </a:extLst>
          </p:cNvPr>
          <p:cNvSpPr/>
          <p:nvPr/>
        </p:nvSpPr>
        <p:spPr>
          <a:xfrm>
            <a:off x="9550658" y="750101"/>
            <a:ext cx="1755200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2" name="Text 0"/>
          <p:cNvSpPr/>
          <p:nvPr/>
        </p:nvSpPr>
        <p:spPr>
          <a:xfrm>
            <a:off x="594360" y="310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ERA 1: TRAINING FROM SCRATCH</a:t>
            </a:r>
            <a:endParaRPr lang="en-US" sz="880" dirty="0"/>
          </a:p>
        </p:txBody>
      </p:sp>
      <p:sp>
        <p:nvSpPr>
          <p:cNvPr id="3" name="Text 1"/>
          <p:cNvSpPr/>
          <p:nvPr/>
        </p:nvSpPr>
        <p:spPr>
          <a:xfrm>
            <a:off x="566928" y="512064"/>
            <a:ext cx="555541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Piczak CNN baseline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743871" y="2090533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950" b="1" dirty="0" err="1">
                <a:solidFill>
                  <a:srgbClr val="6B7176"/>
                </a:solidFill>
                <a:latin typeface="Aptos" pitchFamily="34" charset="0"/>
              </a:rPr>
              <a:t>Piczak</a:t>
            </a:r>
            <a:r>
              <a:rPr lang="en-US" sz="950" b="1" dirty="0">
                <a:solidFill>
                  <a:srgbClr val="6B7176"/>
                </a:solidFill>
                <a:latin typeface="Aptos" pitchFamily="34" charset="0"/>
              </a:rPr>
              <a:t> Model Architecture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957490" y="4123666"/>
            <a:ext cx="2011680" cy="914400"/>
          </a:xfrm>
          <a:prstGeom prst="rect">
            <a:avLst/>
          </a:prstGeom>
          <a:solidFill>
            <a:srgbClr val="FFFFFF">
              <a:alpha val="98000"/>
            </a:srgbClr>
          </a:solidFill>
          <a:ln w="17780">
            <a:solidFill>
              <a:srgbClr val="B65D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7048930" y="426082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2100" b="1" dirty="0">
                <a:solidFill>
                  <a:srgbClr val="B65D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64.5%</a:t>
            </a:r>
            <a:endParaRPr lang="en-US" sz="2100" dirty="0"/>
          </a:p>
        </p:txBody>
      </p:sp>
      <p:sp>
        <p:nvSpPr>
          <p:cNvPr id="52" name="Text 50"/>
          <p:cNvSpPr/>
          <p:nvPr/>
        </p:nvSpPr>
        <p:spPr>
          <a:xfrm>
            <a:off x="7067218" y="4654018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8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Piczak published LP clip-level reference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9216058" y="4123666"/>
            <a:ext cx="1828800" cy="914400"/>
          </a:xfrm>
          <a:prstGeom prst="rect">
            <a:avLst/>
          </a:prstGeom>
          <a:solidFill>
            <a:srgbClr val="FFFFFF">
              <a:alpha val="98000"/>
            </a:srgbClr>
          </a:solidFill>
          <a:ln w="17780">
            <a:solidFill>
              <a:srgbClr val="426E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9307498" y="426082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2100" b="1" dirty="0">
                <a:solidFill>
                  <a:srgbClr val="426E9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63.5%</a:t>
            </a:r>
            <a:endParaRPr lang="en-US" sz="2100" dirty="0"/>
          </a:p>
        </p:txBody>
      </p:sp>
      <p:sp>
        <p:nvSpPr>
          <p:cNvPr id="55" name="Text 53"/>
          <p:cNvSpPr/>
          <p:nvPr/>
        </p:nvSpPr>
        <p:spPr>
          <a:xfrm>
            <a:off x="9325786" y="4654018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8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corrected baseline rerun</a:t>
            </a:r>
            <a:endParaRPr lang="en-US" sz="780" dirty="0"/>
          </a:p>
        </p:txBody>
      </p:sp>
      <p:sp>
        <p:nvSpPr>
          <p:cNvPr id="56" name="Text 54"/>
          <p:cNvSpPr/>
          <p:nvPr/>
        </p:nvSpPr>
        <p:spPr>
          <a:xfrm>
            <a:off x="6957490" y="512950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2000"/>
              </a:lnSpc>
              <a:buNone/>
            </a:pPr>
            <a:r>
              <a:rPr lang="en-US" sz="850" i="1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result closely match those found by </a:t>
            </a:r>
            <a:r>
              <a:rPr lang="en-US" sz="850" i="1" dirty="0" err="1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Piczak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50" dirty="0"/>
          </a:p>
        </p:txBody>
      </p:sp>
      <p:pic>
        <p:nvPicPr>
          <p:cNvPr id="65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C25CD2BE-7817-206E-1F06-E1ADB2C1176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6" name="Shape 19">
            <a:extLst>
              <a:ext uri="{FF2B5EF4-FFF2-40B4-BE49-F238E27FC236}">
                <a16:creationId xmlns:a16="http://schemas.microsoft.com/office/drawing/2014/main" id="{E83816CA-4F3B-F6FD-061B-01F6FE1D8F6C}"/>
              </a:ext>
            </a:extLst>
          </p:cNvPr>
          <p:cNvSpPr/>
          <p:nvPr/>
        </p:nvSpPr>
        <p:spPr>
          <a:xfrm>
            <a:off x="6237447" y="751408"/>
            <a:ext cx="1809206" cy="295381"/>
          </a:xfrm>
          <a:prstGeom prst="chevron">
            <a:avLst/>
          </a:prstGeom>
          <a:solidFill>
            <a:srgbClr val="426E9E"/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 dirty="0"/>
          </a:p>
        </p:txBody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413D12D4-8132-E24E-FD31-A7E441C1FBE3}"/>
              </a:ext>
            </a:extLst>
          </p:cNvPr>
          <p:cNvSpPr/>
          <p:nvPr/>
        </p:nvSpPr>
        <p:spPr>
          <a:xfrm>
            <a:off x="6287692" y="833886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from scratch</a:t>
            </a:r>
            <a:endParaRPr lang="en-US" sz="700" dirty="0"/>
          </a:p>
        </p:txBody>
      </p:sp>
      <p:sp>
        <p:nvSpPr>
          <p:cNvPr id="68" name="Text 21">
            <a:extLst>
              <a:ext uri="{FF2B5EF4-FFF2-40B4-BE49-F238E27FC236}">
                <a16:creationId xmlns:a16="http://schemas.microsoft.com/office/drawing/2014/main" id="{18EFBBBB-3CF4-717D-5C25-509362FF8D1E}"/>
              </a:ext>
            </a:extLst>
          </p:cNvPr>
          <p:cNvSpPr/>
          <p:nvPr/>
        </p:nvSpPr>
        <p:spPr>
          <a:xfrm>
            <a:off x="6295809" y="928966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b="1" dirty="0" err="1">
                <a:solidFill>
                  <a:srgbClr val="FFFFFF"/>
                </a:solidFill>
                <a:latin typeface="Aptos" pitchFamily="34" charset="0"/>
              </a:rPr>
              <a:t>Piczak</a:t>
            </a:r>
            <a:r>
              <a:rPr lang="en-US" sz="500" b="1" dirty="0">
                <a:solidFill>
                  <a:srgbClr val="FFFFFF"/>
                </a:solidFill>
                <a:latin typeface="Aptos" pitchFamily="34" charset="0"/>
              </a:rPr>
              <a:t> CNN</a:t>
            </a:r>
            <a:r>
              <a:rPr lang="en-US" sz="500" dirty="0">
                <a:solidFill>
                  <a:srgbClr val="D9D9D9"/>
                </a:solidFill>
                <a:latin typeface="Aptos" pitchFamily="34" charset="0"/>
              </a:rPr>
              <a:t> | Variations </a:t>
            </a:r>
            <a:r>
              <a:rPr lang="en-US" sz="500" dirty="0">
                <a:solidFill>
                  <a:srgbClr val="D9D9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| LSTM</a:t>
            </a:r>
            <a:endParaRPr lang="en-US" sz="500" dirty="0">
              <a:solidFill>
                <a:srgbClr val="D9D9D9"/>
              </a:solidFill>
            </a:endParaRPr>
          </a:p>
        </p:txBody>
      </p:sp>
      <p:sp>
        <p:nvSpPr>
          <p:cNvPr id="69" name="Shape 22">
            <a:extLst>
              <a:ext uri="{FF2B5EF4-FFF2-40B4-BE49-F238E27FC236}">
                <a16:creationId xmlns:a16="http://schemas.microsoft.com/office/drawing/2014/main" id="{DC9119E4-629A-01A9-41A2-861B486C37B5}"/>
              </a:ext>
            </a:extLst>
          </p:cNvPr>
          <p:cNvSpPr/>
          <p:nvPr/>
        </p:nvSpPr>
        <p:spPr>
          <a:xfrm>
            <a:off x="7891484" y="750102"/>
            <a:ext cx="1809206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70" name="Text 23">
            <a:extLst>
              <a:ext uri="{FF2B5EF4-FFF2-40B4-BE49-F238E27FC236}">
                <a16:creationId xmlns:a16="http://schemas.microsoft.com/office/drawing/2014/main" id="{AE97F5CD-CAF6-93AE-5F32-3A0B22DA47F3}"/>
              </a:ext>
            </a:extLst>
          </p:cNvPr>
          <p:cNvSpPr/>
          <p:nvPr/>
        </p:nvSpPr>
        <p:spPr>
          <a:xfrm>
            <a:off x="7963330" y="839252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learning: pretrained CNN</a:t>
            </a:r>
            <a:endParaRPr lang="en-US" sz="700" dirty="0"/>
          </a:p>
        </p:txBody>
      </p:sp>
      <p:sp>
        <p:nvSpPr>
          <p:cNvPr id="71" name="Text 24">
            <a:extLst>
              <a:ext uri="{FF2B5EF4-FFF2-40B4-BE49-F238E27FC236}">
                <a16:creationId xmlns:a16="http://schemas.microsoft.com/office/drawing/2014/main" id="{5E5C9F3B-92EF-5D32-9640-0484AF364E08}"/>
              </a:ext>
            </a:extLst>
          </p:cNvPr>
          <p:cNvSpPr/>
          <p:nvPr/>
        </p:nvSpPr>
        <p:spPr>
          <a:xfrm>
            <a:off x="7984136" y="941012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VGGish | YAMNet</a:t>
            </a:r>
            <a:endParaRPr lang="en-US" sz="500" dirty="0"/>
          </a:p>
        </p:txBody>
      </p:sp>
      <p:sp>
        <p:nvSpPr>
          <p:cNvPr id="73" name="Text 26">
            <a:extLst>
              <a:ext uri="{FF2B5EF4-FFF2-40B4-BE49-F238E27FC236}">
                <a16:creationId xmlns:a16="http://schemas.microsoft.com/office/drawing/2014/main" id="{E983F73B-68E9-E20A-7974-403124188484}"/>
              </a:ext>
            </a:extLst>
          </p:cNvPr>
          <p:cNvSpPr/>
          <p:nvPr/>
        </p:nvSpPr>
        <p:spPr>
          <a:xfrm>
            <a:off x="9657605" y="848441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learning: pretrained transformers</a:t>
            </a:r>
            <a:endParaRPr lang="en-US" sz="700" dirty="0"/>
          </a:p>
        </p:txBody>
      </p:sp>
      <p:sp>
        <p:nvSpPr>
          <p:cNvPr id="74" name="Text 27">
            <a:extLst>
              <a:ext uri="{FF2B5EF4-FFF2-40B4-BE49-F238E27FC236}">
                <a16:creationId xmlns:a16="http://schemas.microsoft.com/office/drawing/2014/main" id="{719FC62E-FD44-6137-35E1-A1B5D52252EC}"/>
              </a:ext>
            </a:extLst>
          </p:cNvPr>
          <p:cNvSpPr/>
          <p:nvPr/>
        </p:nvSpPr>
        <p:spPr>
          <a:xfrm>
            <a:off x="9657605" y="944489"/>
            <a:ext cx="1662902" cy="107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AST | BEATs</a:t>
            </a:r>
            <a:endParaRPr lang="en-US" sz="500" dirty="0"/>
          </a:p>
        </p:txBody>
      </p:sp>
      <p:graphicFrame>
        <p:nvGraphicFramePr>
          <p:cNvPr id="77" name="Table 0">
            <a:extLst>
              <a:ext uri="{FF2B5EF4-FFF2-40B4-BE49-F238E27FC236}">
                <a16:creationId xmlns:a16="http://schemas.microsoft.com/office/drawing/2014/main" id="{D872496B-5045-EA29-731E-947CEFE0D4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3265255"/>
              </p:ext>
            </p:extLst>
          </p:nvPr>
        </p:nvGraphicFramePr>
        <p:xfrm>
          <a:off x="694942" y="2368295"/>
          <a:ext cx="4434151" cy="1713738"/>
        </p:xfrm>
        <a:graphic>
          <a:graphicData uri="http://schemas.openxmlformats.org/drawingml/2006/table">
            <a:tbl>
              <a:tblPr/>
              <a:tblGrid>
                <a:gridCol w="1058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59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470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Parameters / implementation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6E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Input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ESC-50 waveform -&gt; log-mel spectrogram + delta, shape (2, 60, T)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Segments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Short: 41 frames, hop 20; Long: 101 frames, hop 10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Conv block 1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Conv2d 2-&gt;80, kernel 57x6; ReLU; Dropout 0.5; MaxPool 4x3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Conv block 2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Conv2d 80-&gt;80, kernel 1x3; ReLU; MaxPool 1x3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Dense head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Flatten -&gt; FC 5000 ReLU Dropout -&gt; FC 5000 ReLU Dropout -&gt; FC 50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083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Optimization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CrossEntropyLoss; SGD lr 0.002/0.01; momentum 0.9; Nesterov; weight decay 0.001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Evaluation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Softmax per segment; average probabilities by filename for clip-level vote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6146" name="Picture 2">
            <a:extLst>
              <a:ext uri="{FF2B5EF4-FFF2-40B4-BE49-F238E27FC236}">
                <a16:creationId xmlns:a16="http://schemas.microsoft.com/office/drawing/2014/main" id="{6D8B3606-3B4D-72B8-AB36-768ADD1569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7692" y="1556753"/>
            <a:ext cx="5464127" cy="2411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2" name="Text 36">
            <a:extLst>
              <a:ext uri="{FF2B5EF4-FFF2-40B4-BE49-F238E27FC236}">
                <a16:creationId xmlns:a16="http://schemas.microsoft.com/office/drawing/2014/main" id="{75040A3D-A3DD-DE79-FE2D-DE328C7F20F2}"/>
              </a:ext>
            </a:extLst>
          </p:cNvPr>
          <p:cNvSpPr/>
          <p:nvPr/>
        </p:nvSpPr>
        <p:spPr>
          <a:xfrm>
            <a:off x="731520" y="442569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426E9E"/>
                </a:solidFill>
                <a:latin typeface="Aptos" pitchFamily="34" charset="0"/>
              </a:rPr>
              <a:t>Results</a:t>
            </a:r>
          </a:p>
        </p:txBody>
      </p:sp>
      <p:sp>
        <p:nvSpPr>
          <p:cNvPr id="83" name="Text 37">
            <a:extLst>
              <a:ext uri="{FF2B5EF4-FFF2-40B4-BE49-F238E27FC236}">
                <a16:creationId xmlns:a16="http://schemas.microsoft.com/office/drawing/2014/main" id="{74AEBF92-4E48-053F-BD7A-6F0563C7AB0E}"/>
              </a:ext>
            </a:extLst>
          </p:cNvPr>
          <p:cNvSpPr/>
          <p:nvPr/>
        </p:nvSpPr>
        <p:spPr>
          <a:xfrm>
            <a:off x="731520" y="4727447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13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 from-scratch architecture: tests temporal modeling before importing external pretrained knowledge.</a:t>
            </a:r>
            <a:endParaRPr lang="en-US" sz="1130" dirty="0"/>
          </a:p>
        </p:txBody>
      </p:sp>
      <p:sp>
        <p:nvSpPr>
          <p:cNvPr id="84" name="Text 11">
            <a:extLst>
              <a:ext uri="{FF2B5EF4-FFF2-40B4-BE49-F238E27FC236}">
                <a16:creationId xmlns:a16="http://schemas.microsoft.com/office/drawing/2014/main" id="{90570715-2678-B8CB-A761-32B6960626D5}"/>
              </a:ext>
            </a:extLst>
          </p:cNvPr>
          <p:cNvSpPr/>
          <p:nvPr/>
        </p:nvSpPr>
        <p:spPr>
          <a:xfrm>
            <a:off x="777240" y="13258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426E9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</a:t>
            </a:r>
            <a:endParaRPr lang="en-US" sz="1000" dirty="0"/>
          </a:p>
        </p:txBody>
      </p:sp>
      <p:sp>
        <p:nvSpPr>
          <p:cNvPr id="85" name="Text 12">
            <a:extLst>
              <a:ext uri="{FF2B5EF4-FFF2-40B4-BE49-F238E27FC236}">
                <a16:creationId xmlns:a16="http://schemas.microsoft.com/office/drawing/2014/main" id="{94FC8E45-A82A-CF53-FF50-FEACCB11CE0C}"/>
              </a:ext>
            </a:extLst>
          </p:cNvPr>
          <p:cNvSpPr/>
          <p:nvPr/>
        </p:nvSpPr>
        <p:spPr>
          <a:xfrm>
            <a:off x="777240" y="1600200"/>
            <a:ext cx="5950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9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TEXT GOES HERE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4088F2-DA3C-2608-956D-E58B3F44A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25">
            <a:extLst>
              <a:ext uri="{FF2B5EF4-FFF2-40B4-BE49-F238E27FC236}">
                <a16:creationId xmlns:a16="http://schemas.microsoft.com/office/drawing/2014/main" id="{1F18A111-8714-5E04-B352-2377475B8F1C}"/>
              </a:ext>
            </a:extLst>
          </p:cNvPr>
          <p:cNvSpPr/>
          <p:nvPr/>
        </p:nvSpPr>
        <p:spPr>
          <a:xfrm>
            <a:off x="9550658" y="750101"/>
            <a:ext cx="1755200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E60420E2-7817-31A2-688C-C20A85394ED2}"/>
              </a:ext>
            </a:extLst>
          </p:cNvPr>
          <p:cNvSpPr/>
          <p:nvPr/>
        </p:nvSpPr>
        <p:spPr>
          <a:xfrm>
            <a:off x="594360" y="310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ERA 1: TRAINING FROM SCRATCH</a:t>
            </a:r>
            <a:endParaRPr lang="en-US" sz="88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CD29A6D-0FE5-648B-B869-5FB811676821}"/>
              </a:ext>
            </a:extLst>
          </p:cNvPr>
          <p:cNvSpPr/>
          <p:nvPr/>
        </p:nvSpPr>
        <p:spPr>
          <a:xfrm>
            <a:off x="566928" y="512064"/>
            <a:ext cx="555541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 err="1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Piczak</a:t>
            </a: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CNN Variations</a:t>
            </a:r>
            <a:endParaRPr lang="en-US" sz="2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759DC15-BE98-6DCA-7DFC-E643811B6EB0}"/>
              </a:ext>
            </a:extLst>
          </p:cNvPr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61C9E63-63F3-1B22-58C5-AC2BD3DF53B7}"/>
              </a:ext>
            </a:extLst>
          </p:cNvPr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5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BE12356-48EC-58D5-1826-5630A3D799DB}"/>
              </a:ext>
            </a:extLst>
          </p:cNvPr>
          <p:cNvSpPr/>
          <p:nvPr/>
        </p:nvSpPr>
        <p:spPr>
          <a:xfrm>
            <a:off x="743871" y="2090533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950" b="1" dirty="0" err="1">
                <a:solidFill>
                  <a:srgbClr val="6B7176"/>
                </a:solidFill>
                <a:latin typeface="Aptos" pitchFamily="34" charset="0"/>
              </a:rPr>
              <a:t>Piczak</a:t>
            </a:r>
            <a:r>
              <a:rPr lang="en-US" sz="950" b="1" dirty="0">
                <a:solidFill>
                  <a:srgbClr val="6B7176"/>
                </a:solidFill>
                <a:latin typeface="Aptos" pitchFamily="34" charset="0"/>
              </a:rPr>
              <a:t> Model Architecture</a:t>
            </a:r>
            <a:endParaRPr lang="en-US" sz="950" dirty="0"/>
          </a:p>
        </p:txBody>
      </p:sp>
      <p:sp>
        <p:nvSpPr>
          <p:cNvPr id="50" name="Shape 48">
            <a:extLst>
              <a:ext uri="{FF2B5EF4-FFF2-40B4-BE49-F238E27FC236}">
                <a16:creationId xmlns:a16="http://schemas.microsoft.com/office/drawing/2014/main" id="{8D70525D-6212-E049-6EDE-7A21FDB9EDC9}"/>
              </a:ext>
            </a:extLst>
          </p:cNvPr>
          <p:cNvSpPr/>
          <p:nvPr/>
        </p:nvSpPr>
        <p:spPr>
          <a:xfrm>
            <a:off x="6957490" y="4123666"/>
            <a:ext cx="2011680" cy="914400"/>
          </a:xfrm>
          <a:prstGeom prst="rect">
            <a:avLst/>
          </a:prstGeom>
          <a:solidFill>
            <a:srgbClr val="FFFFFF">
              <a:alpha val="98000"/>
            </a:srgbClr>
          </a:solidFill>
          <a:ln w="17780">
            <a:solidFill>
              <a:srgbClr val="B65D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769227F5-7BC0-0E36-61C0-EE9668B9A50A}"/>
              </a:ext>
            </a:extLst>
          </p:cNvPr>
          <p:cNvSpPr/>
          <p:nvPr/>
        </p:nvSpPr>
        <p:spPr>
          <a:xfrm>
            <a:off x="7048930" y="426082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2100" b="1" dirty="0">
                <a:solidFill>
                  <a:srgbClr val="B65D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64.5%</a:t>
            </a:r>
            <a:endParaRPr lang="en-US" sz="2100" dirty="0"/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E2A191DF-4607-D5A0-4C88-231D58306B1B}"/>
              </a:ext>
            </a:extLst>
          </p:cNvPr>
          <p:cNvSpPr/>
          <p:nvPr/>
        </p:nvSpPr>
        <p:spPr>
          <a:xfrm>
            <a:off x="7067218" y="4654018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8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Piczak published LP clip-level reference</a:t>
            </a:r>
            <a:endParaRPr lang="en-US" sz="780" dirty="0"/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3BF93BF9-E4C7-1373-2D57-D5CE86B5ADE7}"/>
              </a:ext>
            </a:extLst>
          </p:cNvPr>
          <p:cNvSpPr/>
          <p:nvPr/>
        </p:nvSpPr>
        <p:spPr>
          <a:xfrm>
            <a:off x="9216058" y="4123666"/>
            <a:ext cx="1828800" cy="914400"/>
          </a:xfrm>
          <a:prstGeom prst="rect">
            <a:avLst/>
          </a:prstGeom>
          <a:solidFill>
            <a:srgbClr val="FFFFFF">
              <a:alpha val="98000"/>
            </a:srgbClr>
          </a:solidFill>
          <a:ln w="17780">
            <a:solidFill>
              <a:srgbClr val="426E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DA57CDD9-6788-D438-837E-46B5F8376456}"/>
              </a:ext>
            </a:extLst>
          </p:cNvPr>
          <p:cNvSpPr/>
          <p:nvPr/>
        </p:nvSpPr>
        <p:spPr>
          <a:xfrm>
            <a:off x="9307498" y="426082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2100" b="1" dirty="0">
                <a:solidFill>
                  <a:srgbClr val="426E9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63.5%</a:t>
            </a:r>
            <a:endParaRPr lang="en-US" sz="2100" dirty="0"/>
          </a:p>
        </p:txBody>
      </p:sp>
      <p:sp>
        <p:nvSpPr>
          <p:cNvPr id="55" name="Text 53">
            <a:extLst>
              <a:ext uri="{FF2B5EF4-FFF2-40B4-BE49-F238E27FC236}">
                <a16:creationId xmlns:a16="http://schemas.microsoft.com/office/drawing/2014/main" id="{20DA95E7-C68D-FA67-DEA6-53AF1E5D738F}"/>
              </a:ext>
            </a:extLst>
          </p:cNvPr>
          <p:cNvSpPr/>
          <p:nvPr/>
        </p:nvSpPr>
        <p:spPr>
          <a:xfrm>
            <a:off x="9325786" y="4654018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8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corrected baseline rerun</a:t>
            </a:r>
            <a:endParaRPr lang="en-US" sz="780" dirty="0"/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E319F404-6620-2A94-CFC9-8B5ADAF92750}"/>
              </a:ext>
            </a:extLst>
          </p:cNvPr>
          <p:cNvSpPr/>
          <p:nvPr/>
        </p:nvSpPr>
        <p:spPr>
          <a:xfrm>
            <a:off x="6957490" y="512950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2000"/>
              </a:lnSpc>
              <a:buNone/>
            </a:pPr>
            <a:r>
              <a:rPr lang="en-US" sz="850" i="1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result closely match those found by </a:t>
            </a:r>
            <a:r>
              <a:rPr lang="en-US" sz="850" i="1" dirty="0" err="1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Piczak</a:t>
            </a:r>
            <a:endParaRPr lang="en-US" sz="850" dirty="0"/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A673375A-8875-57A8-F0A6-58606C9A2E38}"/>
              </a:ext>
            </a:extLst>
          </p:cNvPr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50" dirty="0"/>
          </a:p>
        </p:txBody>
      </p:sp>
      <p:pic>
        <p:nvPicPr>
          <p:cNvPr id="65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58C2C611-69D6-CF84-9F3C-57B825D2DA8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6" name="Shape 19">
            <a:extLst>
              <a:ext uri="{FF2B5EF4-FFF2-40B4-BE49-F238E27FC236}">
                <a16:creationId xmlns:a16="http://schemas.microsoft.com/office/drawing/2014/main" id="{060EE3F5-7CC0-B1C2-8951-2C79B6D16C7C}"/>
              </a:ext>
            </a:extLst>
          </p:cNvPr>
          <p:cNvSpPr/>
          <p:nvPr/>
        </p:nvSpPr>
        <p:spPr>
          <a:xfrm>
            <a:off x="6237447" y="751408"/>
            <a:ext cx="1809206" cy="295381"/>
          </a:xfrm>
          <a:prstGeom prst="chevron">
            <a:avLst/>
          </a:prstGeom>
          <a:solidFill>
            <a:srgbClr val="426E9E"/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 dirty="0"/>
          </a:p>
        </p:txBody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C1BC8EE8-4D56-2CA8-D8DF-72F051430316}"/>
              </a:ext>
            </a:extLst>
          </p:cNvPr>
          <p:cNvSpPr/>
          <p:nvPr/>
        </p:nvSpPr>
        <p:spPr>
          <a:xfrm>
            <a:off x="6287692" y="833886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from scratch</a:t>
            </a:r>
            <a:endParaRPr lang="en-US" sz="700" dirty="0"/>
          </a:p>
        </p:txBody>
      </p:sp>
      <p:sp>
        <p:nvSpPr>
          <p:cNvPr id="68" name="Text 21">
            <a:extLst>
              <a:ext uri="{FF2B5EF4-FFF2-40B4-BE49-F238E27FC236}">
                <a16:creationId xmlns:a16="http://schemas.microsoft.com/office/drawing/2014/main" id="{E5BDE706-25CB-97DE-3CA3-2D405E88A833}"/>
              </a:ext>
            </a:extLst>
          </p:cNvPr>
          <p:cNvSpPr/>
          <p:nvPr/>
        </p:nvSpPr>
        <p:spPr>
          <a:xfrm>
            <a:off x="6295809" y="928966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 err="1">
                <a:solidFill>
                  <a:srgbClr val="D9D9D9"/>
                </a:solidFill>
                <a:latin typeface="Aptos" pitchFamily="34" charset="0"/>
              </a:rPr>
              <a:t>Piczak</a:t>
            </a:r>
            <a:r>
              <a:rPr lang="en-US" sz="500" dirty="0">
                <a:solidFill>
                  <a:srgbClr val="D9D9D9"/>
                </a:solidFill>
                <a:latin typeface="Aptos" pitchFamily="34" charset="0"/>
              </a:rPr>
              <a:t> CNN | </a:t>
            </a:r>
            <a:r>
              <a:rPr lang="en-US" sz="500" b="1" dirty="0">
                <a:solidFill>
                  <a:srgbClr val="FFFFFF"/>
                </a:solidFill>
                <a:latin typeface="Aptos" pitchFamily="34" charset="0"/>
              </a:rPr>
              <a:t>Variations</a:t>
            </a:r>
            <a:r>
              <a:rPr lang="en-US" sz="500" dirty="0">
                <a:solidFill>
                  <a:srgbClr val="D9D9D9"/>
                </a:solidFill>
                <a:latin typeface="Aptos" pitchFamily="34" charset="0"/>
              </a:rPr>
              <a:t> </a:t>
            </a:r>
            <a:r>
              <a:rPr lang="en-US" sz="500" dirty="0">
                <a:solidFill>
                  <a:srgbClr val="D9D9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| LSTM</a:t>
            </a:r>
            <a:endParaRPr lang="en-US" sz="500" dirty="0">
              <a:solidFill>
                <a:srgbClr val="D9D9D9"/>
              </a:solidFill>
            </a:endParaRPr>
          </a:p>
        </p:txBody>
      </p:sp>
      <p:sp>
        <p:nvSpPr>
          <p:cNvPr id="69" name="Shape 22">
            <a:extLst>
              <a:ext uri="{FF2B5EF4-FFF2-40B4-BE49-F238E27FC236}">
                <a16:creationId xmlns:a16="http://schemas.microsoft.com/office/drawing/2014/main" id="{78F714B2-41FC-2DD0-C9FB-20FF702F806C}"/>
              </a:ext>
            </a:extLst>
          </p:cNvPr>
          <p:cNvSpPr/>
          <p:nvPr/>
        </p:nvSpPr>
        <p:spPr>
          <a:xfrm>
            <a:off x="7891484" y="750102"/>
            <a:ext cx="1809206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70" name="Text 23">
            <a:extLst>
              <a:ext uri="{FF2B5EF4-FFF2-40B4-BE49-F238E27FC236}">
                <a16:creationId xmlns:a16="http://schemas.microsoft.com/office/drawing/2014/main" id="{D4781922-827F-87D9-893D-C6A2851C66B8}"/>
              </a:ext>
            </a:extLst>
          </p:cNvPr>
          <p:cNvSpPr/>
          <p:nvPr/>
        </p:nvSpPr>
        <p:spPr>
          <a:xfrm>
            <a:off x="7963330" y="839252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learning: pretrained CNN</a:t>
            </a:r>
            <a:endParaRPr lang="en-US" sz="700" dirty="0"/>
          </a:p>
        </p:txBody>
      </p:sp>
      <p:sp>
        <p:nvSpPr>
          <p:cNvPr id="71" name="Text 24">
            <a:extLst>
              <a:ext uri="{FF2B5EF4-FFF2-40B4-BE49-F238E27FC236}">
                <a16:creationId xmlns:a16="http://schemas.microsoft.com/office/drawing/2014/main" id="{5F3CA679-E6E9-A601-6D53-AE17EB85F566}"/>
              </a:ext>
            </a:extLst>
          </p:cNvPr>
          <p:cNvSpPr/>
          <p:nvPr/>
        </p:nvSpPr>
        <p:spPr>
          <a:xfrm>
            <a:off x="7984136" y="941012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VGGish | YAMNet</a:t>
            </a:r>
            <a:endParaRPr lang="en-US" sz="500" dirty="0"/>
          </a:p>
        </p:txBody>
      </p:sp>
      <p:sp>
        <p:nvSpPr>
          <p:cNvPr id="73" name="Text 26">
            <a:extLst>
              <a:ext uri="{FF2B5EF4-FFF2-40B4-BE49-F238E27FC236}">
                <a16:creationId xmlns:a16="http://schemas.microsoft.com/office/drawing/2014/main" id="{62D1D5A1-1040-280B-75DE-73B4E82A16F0}"/>
              </a:ext>
            </a:extLst>
          </p:cNvPr>
          <p:cNvSpPr/>
          <p:nvPr/>
        </p:nvSpPr>
        <p:spPr>
          <a:xfrm>
            <a:off x="9657605" y="848441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learning: pretrained transformers</a:t>
            </a:r>
            <a:endParaRPr lang="en-US" sz="700" dirty="0"/>
          </a:p>
        </p:txBody>
      </p:sp>
      <p:sp>
        <p:nvSpPr>
          <p:cNvPr id="74" name="Text 27">
            <a:extLst>
              <a:ext uri="{FF2B5EF4-FFF2-40B4-BE49-F238E27FC236}">
                <a16:creationId xmlns:a16="http://schemas.microsoft.com/office/drawing/2014/main" id="{0E12CE33-B404-7A3D-0B3F-8BB11A36DC03}"/>
              </a:ext>
            </a:extLst>
          </p:cNvPr>
          <p:cNvSpPr/>
          <p:nvPr/>
        </p:nvSpPr>
        <p:spPr>
          <a:xfrm>
            <a:off x="9657605" y="944489"/>
            <a:ext cx="1662902" cy="107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AST | BEATs</a:t>
            </a:r>
            <a:endParaRPr lang="en-US" sz="500" dirty="0"/>
          </a:p>
        </p:txBody>
      </p:sp>
      <p:graphicFrame>
        <p:nvGraphicFramePr>
          <p:cNvPr id="77" name="Table 0">
            <a:extLst>
              <a:ext uri="{FF2B5EF4-FFF2-40B4-BE49-F238E27FC236}">
                <a16:creationId xmlns:a16="http://schemas.microsoft.com/office/drawing/2014/main" id="{75A08E96-1E5C-C263-FEA3-B7269A9F5236}"/>
              </a:ext>
            </a:extLst>
          </p:cNvPr>
          <p:cNvGraphicFramePr>
            <a:graphicFrameLocks noGrp="1"/>
          </p:cNvGraphicFramePr>
          <p:nvPr/>
        </p:nvGraphicFramePr>
        <p:xfrm>
          <a:off x="694942" y="2368295"/>
          <a:ext cx="4434151" cy="1713738"/>
        </p:xfrm>
        <a:graphic>
          <a:graphicData uri="http://schemas.openxmlformats.org/drawingml/2006/table">
            <a:tbl>
              <a:tblPr/>
              <a:tblGrid>
                <a:gridCol w="1058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59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470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Parameters / implementation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6E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Input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ESC-50 waveform -&gt; log-mel spectrogram + delta, shape (2, 60, T)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Segments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Short: 41 frames, hop 20; Long: 101 frames, hop 10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Conv block 1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Conv2d 2-&gt;80, kernel 57x6; ReLU; Dropout 0.5; MaxPool 4x3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Conv block 2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Conv2d 80-&gt;80, kernel 1x3; ReLU; MaxPool 1x3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Dense head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Flatten -&gt; FC 5000 ReLU Dropout -&gt; FC 5000 ReLU Dropout -&gt; FC 50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083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Optimization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CrossEntropyLoss; SGD lr 0.002/0.01; momentum 0.9; Nesterov; weight decay 0.001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Evaluation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Softmax per segment; average probabilities by filename for clip-level vote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6146" name="Picture 2">
            <a:extLst>
              <a:ext uri="{FF2B5EF4-FFF2-40B4-BE49-F238E27FC236}">
                <a16:creationId xmlns:a16="http://schemas.microsoft.com/office/drawing/2014/main" id="{0C21B85F-A11B-FA9F-F63A-8930A9ECAB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7692" y="1556753"/>
            <a:ext cx="5464127" cy="2411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2" name="Text 36">
            <a:extLst>
              <a:ext uri="{FF2B5EF4-FFF2-40B4-BE49-F238E27FC236}">
                <a16:creationId xmlns:a16="http://schemas.microsoft.com/office/drawing/2014/main" id="{F104206D-EFB0-5514-3811-044DFB6AAB9B}"/>
              </a:ext>
            </a:extLst>
          </p:cNvPr>
          <p:cNvSpPr/>
          <p:nvPr/>
        </p:nvSpPr>
        <p:spPr>
          <a:xfrm>
            <a:off x="731520" y="442569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426E9E"/>
                </a:solidFill>
                <a:latin typeface="Aptos" pitchFamily="34" charset="0"/>
              </a:rPr>
              <a:t>Results</a:t>
            </a:r>
          </a:p>
        </p:txBody>
      </p:sp>
      <p:sp>
        <p:nvSpPr>
          <p:cNvPr id="83" name="Text 37">
            <a:extLst>
              <a:ext uri="{FF2B5EF4-FFF2-40B4-BE49-F238E27FC236}">
                <a16:creationId xmlns:a16="http://schemas.microsoft.com/office/drawing/2014/main" id="{1337ACAA-EB2E-74B2-35C8-58CA6BF0D85A}"/>
              </a:ext>
            </a:extLst>
          </p:cNvPr>
          <p:cNvSpPr/>
          <p:nvPr/>
        </p:nvSpPr>
        <p:spPr>
          <a:xfrm>
            <a:off x="731520" y="4727447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13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 from-scratch architecture: tests temporal modeling before importing external pretrained knowledge.</a:t>
            </a:r>
            <a:endParaRPr lang="en-US" sz="1130" dirty="0"/>
          </a:p>
        </p:txBody>
      </p:sp>
      <p:sp>
        <p:nvSpPr>
          <p:cNvPr id="84" name="Text 11">
            <a:extLst>
              <a:ext uri="{FF2B5EF4-FFF2-40B4-BE49-F238E27FC236}">
                <a16:creationId xmlns:a16="http://schemas.microsoft.com/office/drawing/2014/main" id="{5B557A98-14B0-CECC-8DC9-CE3D867DCE43}"/>
              </a:ext>
            </a:extLst>
          </p:cNvPr>
          <p:cNvSpPr/>
          <p:nvPr/>
        </p:nvSpPr>
        <p:spPr>
          <a:xfrm>
            <a:off x="777240" y="13258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426E9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Changed?</a:t>
            </a:r>
            <a:endParaRPr lang="en-US" sz="1000" dirty="0"/>
          </a:p>
        </p:txBody>
      </p:sp>
      <p:sp>
        <p:nvSpPr>
          <p:cNvPr id="85" name="Text 12">
            <a:extLst>
              <a:ext uri="{FF2B5EF4-FFF2-40B4-BE49-F238E27FC236}">
                <a16:creationId xmlns:a16="http://schemas.microsoft.com/office/drawing/2014/main" id="{E587FDA3-B3DA-CEE8-05B7-9AE2E8FEC7A0}"/>
              </a:ext>
            </a:extLst>
          </p:cNvPr>
          <p:cNvSpPr/>
          <p:nvPr/>
        </p:nvSpPr>
        <p:spPr>
          <a:xfrm>
            <a:off x="777240" y="1600200"/>
            <a:ext cx="59505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9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TEXT GOES HERE</a:t>
            </a:r>
            <a:endParaRPr lang="en-US" sz="1900" dirty="0"/>
          </a:p>
        </p:txBody>
      </p:sp>
    </p:spTree>
    <p:extLst>
      <p:ext uri="{BB962C8B-B14F-4D97-AF65-F5344CB8AC3E}">
        <p14:creationId xmlns:p14="http://schemas.microsoft.com/office/powerpoint/2010/main" val="1364430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25">
            <a:extLst>
              <a:ext uri="{FF2B5EF4-FFF2-40B4-BE49-F238E27FC236}">
                <a16:creationId xmlns:a16="http://schemas.microsoft.com/office/drawing/2014/main" id="{26AD7A7F-B718-877D-5D6D-64139BB2D9C3}"/>
              </a:ext>
            </a:extLst>
          </p:cNvPr>
          <p:cNvSpPr/>
          <p:nvPr/>
        </p:nvSpPr>
        <p:spPr>
          <a:xfrm>
            <a:off x="9550658" y="750101"/>
            <a:ext cx="1755200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2" name="Text 0"/>
          <p:cNvSpPr/>
          <p:nvPr/>
        </p:nvSpPr>
        <p:spPr>
          <a:xfrm>
            <a:off x="594360" y="310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ERA 1: TRAINING FROM SCRATCH</a:t>
            </a:r>
            <a:endParaRPr lang="en-US" sz="880" dirty="0"/>
          </a:p>
        </p:txBody>
      </p:sp>
      <p:sp>
        <p:nvSpPr>
          <p:cNvPr id="3" name="Text 1"/>
          <p:cNvSpPr/>
          <p:nvPr/>
        </p:nvSpPr>
        <p:spPr>
          <a:xfrm>
            <a:off x="566928" y="51206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LSTM extension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50" dirty="0"/>
          </a:p>
        </p:txBody>
      </p:sp>
      <p:pic>
        <p:nvPicPr>
          <p:cNvPr id="49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21052E2F-76ED-2FFC-D206-D31C31D0D4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Shape 19">
            <a:extLst>
              <a:ext uri="{FF2B5EF4-FFF2-40B4-BE49-F238E27FC236}">
                <a16:creationId xmlns:a16="http://schemas.microsoft.com/office/drawing/2014/main" id="{07FAD0BE-4F31-699C-D5A9-12E056BF2C06}"/>
              </a:ext>
            </a:extLst>
          </p:cNvPr>
          <p:cNvSpPr/>
          <p:nvPr/>
        </p:nvSpPr>
        <p:spPr>
          <a:xfrm>
            <a:off x="6237447" y="751408"/>
            <a:ext cx="1809206" cy="295381"/>
          </a:xfrm>
          <a:prstGeom prst="chevron">
            <a:avLst/>
          </a:prstGeom>
          <a:solidFill>
            <a:srgbClr val="426E9E"/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 dirty="0"/>
          </a:p>
        </p:txBody>
      </p:sp>
      <p:sp>
        <p:nvSpPr>
          <p:cNvPr id="51" name="Text 20">
            <a:extLst>
              <a:ext uri="{FF2B5EF4-FFF2-40B4-BE49-F238E27FC236}">
                <a16:creationId xmlns:a16="http://schemas.microsoft.com/office/drawing/2014/main" id="{EE3E5F18-639F-9B03-B8B3-F152A7C1E928}"/>
              </a:ext>
            </a:extLst>
          </p:cNvPr>
          <p:cNvSpPr/>
          <p:nvPr/>
        </p:nvSpPr>
        <p:spPr>
          <a:xfrm>
            <a:off x="6287692" y="833886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from scratch</a:t>
            </a:r>
            <a:endParaRPr lang="en-US" sz="700" dirty="0"/>
          </a:p>
        </p:txBody>
      </p:sp>
      <p:sp>
        <p:nvSpPr>
          <p:cNvPr id="52" name="Text 21">
            <a:extLst>
              <a:ext uri="{FF2B5EF4-FFF2-40B4-BE49-F238E27FC236}">
                <a16:creationId xmlns:a16="http://schemas.microsoft.com/office/drawing/2014/main" id="{27A93C74-65E1-2F1C-7E4E-BFF7DF063491}"/>
              </a:ext>
            </a:extLst>
          </p:cNvPr>
          <p:cNvSpPr/>
          <p:nvPr/>
        </p:nvSpPr>
        <p:spPr>
          <a:xfrm>
            <a:off x="6295809" y="928966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 err="1">
                <a:solidFill>
                  <a:srgbClr val="D9D9D9"/>
                </a:solidFill>
                <a:latin typeface="Aptos" pitchFamily="34" charset="0"/>
              </a:rPr>
              <a:t>Piczak</a:t>
            </a:r>
            <a:r>
              <a:rPr lang="en-US" sz="500" dirty="0">
                <a:solidFill>
                  <a:srgbClr val="D9D9D9"/>
                </a:solidFill>
                <a:latin typeface="Aptos" pitchFamily="34" charset="0"/>
              </a:rPr>
              <a:t> CNN | Variations </a:t>
            </a:r>
            <a:r>
              <a:rPr lang="en-US" sz="500" dirty="0">
                <a:solidFill>
                  <a:srgbClr val="D9D9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| </a:t>
            </a:r>
            <a:r>
              <a:rPr lang="en-US" sz="500" b="1" dirty="0">
                <a:solidFill>
                  <a:srgbClr val="FFFFFF"/>
                </a:solidFill>
                <a:latin typeface="Aptos" pitchFamily="34" charset="0"/>
              </a:rPr>
              <a:t>LSTM</a:t>
            </a:r>
          </a:p>
        </p:txBody>
      </p:sp>
      <p:sp>
        <p:nvSpPr>
          <p:cNvPr id="53" name="Shape 22">
            <a:extLst>
              <a:ext uri="{FF2B5EF4-FFF2-40B4-BE49-F238E27FC236}">
                <a16:creationId xmlns:a16="http://schemas.microsoft.com/office/drawing/2014/main" id="{5E856389-785C-EDDD-2E93-69A6E4437709}"/>
              </a:ext>
            </a:extLst>
          </p:cNvPr>
          <p:cNvSpPr/>
          <p:nvPr/>
        </p:nvSpPr>
        <p:spPr>
          <a:xfrm>
            <a:off x="7891484" y="750102"/>
            <a:ext cx="1809206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54" name="Text 23">
            <a:extLst>
              <a:ext uri="{FF2B5EF4-FFF2-40B4-BE49-F238E27FC236}">
                <a16:creationId xmlns:a16="http://schemas.microsoft.com/office/drawing/2014/main" id="{E70FD8BD-8D92-81E6-9C3C-AC93C8A0C1EE}"/>
              </a:ext>
            </a:extLst>
          </p:cNvPr>
          <p:cNvSpPr/>
          <p:nvPr/>
        </p:nvSpPr>
        <p:spPr>
          <a:xfrm>
            <a:off x="7963330" y="839252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learning: pretrained CNN</a:t>
            </a:r>
            <a:endParaRPr lang="en-US" sz="700" dirty="0"/>
          </a:p>
        </p:txBody>
      </p:sp>
      <p:sp>
        <p:nvSpPr>
          <p:cNvPr id="55" name="Text 24">
            <a:extLst>
              <a:ext uri="{FF2B5EF4-FFF2-40B4-BE49-F238E27FC236}">
                <a16:creationId xmlns:a16="http://schemas.microsoft.com/office/drawing/2014/main" id="{C5EBDED2-597B-9227-B546-C4D2824C88F6}"/>
              </a:ext>
            </a:extLst>
          </p:cNvPr>
          <p:cNvSpPr/>
          <p:nvPr/>
        </p:nvSpPr>
        <p:spPr>
          <a:xfrm>
            <a:off x="7984136" y="941012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VGGish | YAMNet</a:t>
            </a:r>
            <a:endParaRPr lang="en-US" sz="500" dirty="0"/>
          </a:p>
        </p:txBody>
      </p:sp>
      <p:sp>
        <p:nvSpPr>
          <p:cNvPr id="57" name="Text 26">
            <a:extLst>
              <a:ext uri="{FF2B5EF4-FFF2-40B4-BE49-F238E27FC236}">
                <a16:creationId xmlns:a16="http://schemas.microsoft.com/office/drawing/2014/main" id="{FDD7A5D5-2EF0-FA2E-CAED-E6DF2A85E002}"/>
              </a:ext>
            </a:extLst>
          </p:cNvPr>
          <p:cNvSpPr/>
          <p:nvPr/>
        </p:nvSpPr>
        <p:spPr>
          <a:xfrm>
            <a:off x="9657605" y="848441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learning: pretrained transformers</a:t>
            </a:r>
            <a:endParaRPr lang="en-US" sz="700" dirty="0"/>
          </a:p>
        </p:txBody>
      </p:sp>
      <p:sp>
        <p:nvSpPr>
          <p:cNvPr id="58" name="Text 27">
            <a:extLst>
              <a:ext uri="{FF2B5EF4-FFF2-40B4-BE49-F238E27FC236}">
                <a16:creationId xmlns:a16="http://schemas.microsoft.com/office/drawing/2014/main" id="{1F3398B0-70FF-C5E6-5B81-8C74E3BDC7DE}"/>
              </a:ext>
            </a:extLst>
          </p:cNvPr>
          <p:cNvSpPr/>
          <p:nvPr/>
        </p:nvSpPr>
        <p:spPr>
          <a:xfrm>
            <a:off x="9657605" y="944489"/>
            <a:ext cx="1662902" cy="107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AST | BEATs</a:t>
            </a:r>
            <a:endParaRPr lang="en-US" sz="500" dirty="0"/>
          </a:p>
        </p:txBody>
      </p:sp>
      <p:sp>
        <p:nvSpPr>
          <p:cNvPr id="5" name="Text 11">
            <a:extLst>
              <a:ext uri="{FF2B5EF4-FFF2-40B4-BE49-F238E27FC236}">
                <a16:creationId xmlns:a16="http://schemas.microsoft.com/office/drawing/2014/main" id="{95D35998-729C-C512-7B25-183F08D4C5A5}"/>
              </a:ext>
            </a:extLst>
          </p:cNvPr>
          <p:cNvSpPr/>
          <p:nvPr/>
        </p:nvSpPr>
        <p:spPr>
          <a:xfrm>
            <a:off x="777240" y="13258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426E9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changed?</a:t>
            </a:r>
            <a:endParaRPr lang="en-US" sz="1000" dirty="0"/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B5C49A20-5BE9-158D-D657-66FBE59336B5}"/>
              </a:ext>
            </a:extLst>
          </p:cNvPr>
          <p:cNvSpPr/>
          <p:nvPr/>
        </p:nvSpPr>
        <p:spPr>
          <a:xfrm>
            <a:off x="777240" y="1600200"/>
            <a:ext cx="469123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6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9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local spectrogram patterns to temporal sequence modeling – LSTM baseline defined, Design of Experiments created to vary 4 factors</a:t>
            </a:r>
            <a:endParaRPr lang="en-US" sz="190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504F900-04E2-A0C8-2727-E8C606D82368}"/>
              </a:ext>
            </a:extLst>
          </p:cNvPr>
          <p:cNvGrpSpPr/>
          <p:nvPr/>
        </p:nvGrpSpPr>
        <p:grpSpPr>
          <a:xfrm>
            <a:off x="8697485" y="4733086"/>
            <a:ext cx="1920240" cy="914400"/>
            <a:chOff x="9328755" y="4727446"/>
            <a:chExt cx="1920240" cy="914400"/>
          </a:xfrm>
        </p:grpSpPr>
        <p:sp>
          <p:nvSpPr>
            <p:cNvPr id="8" name="Shape 32">
              <a:extLst>
                <a:ext uri="{FF2B5EF4-FFF2-40B4-BE49-F238E27FC236}">
                  <a16:creationId xmlns:a16="http://schemas.microsoft.com/office/drawing/2014/main" id="{FF8E2337-52F1-8783-827C-7F1008D8C855}"/>
                </a:ext>
              </a:extLst>
            </p:cNvPr>
            <p:cNvSpPr/>
            <p:nvPr/>
          </p:nvSpPr>
          <p:spPr>
            <a:xfrm>
              <a:off x="9328755" y="4727446"/>
              <a:ext cx="1920240" cy="914400"/>
            </a:xfrm>
            <a:prstGeom prst="rect">
              <a:avLst/>
            </a:prstGeom>
            <a:solidFill>
              <a:srgbClr val="FFFFFF">
                <a:alpha val="98000"/>
              </a:srgbClr>
            </a:solidFill>
            <a:ln w="17780">
              <a:solidFill>
                <a:srgbClr val="426E9E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 33">
              <a:extLst>
                <a:ext uri="{FF2B5EF4-FFF2-40B4-BE49-F238E27FC236}">
                  <a16:creationId xmlns:a16="http://schemas.microsoft.com/office/drawing/2014/main" id="{C5DFBC2B-9662-68E1-8AB0-4FD4ED093D93}"/>
                </a:ext>
              </a:extLst>
            </p:cNvPr>
            <p:cNvSpPr/>
            <p:nvPr/>
          </p:nvSpPr>
          <p:spPr>
            <a:xfrm>
              <a:off x="9420195" y="4864606"/>
              <a:ext cx="173736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ctr">
                <a:lnSpc>
                  <a:spcPct val="90000"/>
                </a:lnSpc>
                <a:buNone/>
              </a:pPr>
              <a:r>
                <a:rPr lang="en-US" sz="2100" b="1" dirty="0">
                  <a:solidFill>
                    <a:srgbClr val="426E9E"/>
                  </a:solidFill>
                  <a:latin typeface="Aptos Display" pitchFamily="34" charset="0"/>
                  <a:ea typeface="Aptos Display" pitchFamily="34" charset="-122"/>
                  <a:cs typeface="Aptos Display" pitchFamily="34" charset="-120"/>
                </a:rPr>
                <a:t>56.8%</a:t>
              </a:r>
              <a:endParaRPr lang="en-US" sz="2100" dirty="0"/>
            </a:p>
          </p:txBody>
        </p:sp>
        <p:sp>
          <p:nvSpPr>
            <p:cNvPr id="10" name="Text 34">
              <a:extLst>
                <a:ext uri="{FF2B5EF4-FFF2-40B4-BE49-F238E27FC236}">
                  <a16:creationId xmlns:a16="http://schemas.microsoft.com/office/drawing/2014/main" id="{18C1C5EA-9BD1-DCE8-3929-401367F5AC9C}"/>
                </a:ext>
              </a:extLst>
            </p:cNvPr>
            <p:cNvSpPr/>
            <p:nvPr/>
          </p:nvSpPr>
          <p:spPr>
            <a:xfrm>
              <a:off x="9438483" y="5257798"/>
              <a:ext cx="1700784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ctr">
                <a:lnSpc>
                  <a:spcPct val="90000"/>
                </a:lnSpc>
                <a:buNone/>
              </a:pPr>
              <a:r>
                <a:rPr lang="en-US" sz="780" dirty="0">
                  <a:solidFill>
                    <a:srgbClr val="6B7176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final 5-fold clip-level accuracy</a:t>
              </a:r>
              <a:endParaRPr lang="en-US" sz="780" dirty="0"/>
            </a:p>
          </p:txBody>
        </p:sp>
      </p:grpSp>
      <p:pic>
        <p:nvPicPr>
          <p:cNvPr id="12" name="Image 0" descr="/Users/andrew/Library/CloudStorage/OneDrive-CornellUniversity/Courses/SYSEN5888/ Project/DeepLearning5888Project/Plots and Data/LSTM/LSTM_Run8_CapacityMeanPool_long/curves.png">
            <a:extLst>
              <a:ext uri="{FF2B5EF4-FFF2-40B4-BE49-F238E27FC236}">
                <a16:creationId xmlns:a16="http://schemas.microsoft.com/office/drawing/2014/main" id="{12442A1A-0ADC-E00E-8F65-04BE871CCA8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63893" y="1600200"/>
            <a:ext cx="5530488" cy="3063240"/>
          </a:xfrm>
          <a:prstGeom prst="rect">
            <a:avLst/>
          </a:prstGeom>
        </p:spPr>
      </p:pic>
      <p:sp>
        <p:nvSpPr>
          <p:cNvPr id="15" name="Text 36">
            <a:extLst>
              <a:ext uri="{FF2B5EF4-FFF2-40B4-BE49-F238E27FC236}">
                <a16:creationId xmlns:a16="http://schemas.microsoft.com/office/drawing/2014/main" id="{69F3321B-6ECD-9FCA-AC23-97AFA70A1559}"/>
              </a:ext>
            </a:extLst>
          </p:cNvPr>
          <p:cNvSpPr/>
          <p:nvPr/>
        </p:nvSpPr>
        <p:spPr>
          <a:xfrm>
            <a:off x="737816" y="54451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426E9E"/>
                </a:solidFill>
                <a:latin typeface="Aptos" pitchFamily="34" charset="0"/>
              </a:rPr>
              <a:t>Results</a:t>
            </a:r>
          </a:p>
        </p:txBody>
      </p:sp>
      <p:sp>
        <p:nvSpPr>
          <p:cNvPr id="16" name="Text 37">
            <a:extLst>
              <a:ext uri="{FF2B5EF4-FFF2-40B4-BE49-F238E27FC236}">
                <a16:creationId xmlns:a16="http://schemas.microsoft.com/office/drawing/2014/main" id="{0A2D3FFE-A0F9-5698-47B0-895FD95E89EB}"/>
              </a:ext>
            </a:extLst>
          </p:cNvPr>
          <p:cNvSpPr/>
          <p:nvPr/>
        </p:nvSpPr>
        <p:spPr>
          <a:xfrm>
            <a:off x="737816" y="5628000"/>
            <a:ext cx="4727617" cy="9967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13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 architectures performed </a:t>
            </a:r>
            <a:r>
              <a:rPr lang="en-US" sz="1130" b="1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worse</a:t>
            </a:r>
            <a:r>
              <a:rPr lang="en-US" sz="113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than CNN baseline. </a:t>
            </a:r>
          </a:p>
          <a:p>
            <a:pPr marL="0" indent="0" algn="l">
              <a:lnSpc>
                <a:spcPct val="90000"/>
              </a:lnSpc>
              <a:buNone/>
            </a:pPr>
            <a:r>
              <a:rPr lang="en-US" sz="1130" dirty="0"/>
              <a:t>Some reasons may include:</a:t>
            </a:r>
          </a:p>
          <a:p>
            <a:pPr marL="171450" indent="-171450" algn="l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130" dirty="0"/>
              <a:t>CNNs are inherently designed for 2D time-frequency patterns like audio clips</a:t>
            </a:r>
          </a:p>
          <a:p>
            <a:pPr marL="171450" indent="-171450" algn="l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130" dirty="0"/>
              <a:t>Dataset not large enough for LSTM</a:t>
            </a:r>
          </a:p>
          <a:p>
            <a:pPr marL="171450" indent="-171450" algn="l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130" dirty="0"/>
              <a:t>5 second audio clips not long enough to take advantage of LSTM’s strengths in modeling long temporal dependencies</a:t>
            </a: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029A96BE-9D4F-9DAB-9A10-46F742A52D8E}"/>
              </a:ext>
            </a:extLst>
          </p:cNvPr>
          <p:cNvSpPr/>
          <p:nvPr/>
        </p:nvSpPr>
        <p:spPr>
          <a:xfrm>
            <a:off x="780690" y="1935772"/>
            <a:ext cx="5440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20" b="1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 architecture</a:t>
            </a:r>
            <a:endParaRPr lang="en-US" sz="1020" dirty="0"/>
          </a:p>
        </p:txBody>
      </p:sp>
      <p:graphicFrame>
        <p:nvGraphicFramePr>
          <p:cNvPr id="18" name="Table 0">
            <a:extLst>
              <a:ext uri="{FF2B5EF4-FFF2-40B4-BE49-F238E27FC236}">
                <a16:creationId xmlns:a16="http://schemas.microsoft.com/office/drawing/2014/main" id="{9A2E0087-A62C-C1EB-8E35-CF64515AB1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8257338"/>
              </p:ext>
            </p:extLst>
          </p:nvPr>
        </p:nvGraphicFramePr>
        <p:xfrm>
          <a:off x="737817" y="2105373"/>
          <a:ext cx="4434165" cy="1821180"/>
        </p:xfrm>
        <a:graphic>
          <a:graphicData uri="http://schemas.openxmlformats.org/drawingml/2006/table">
            <a:tbl>
              <a:tblPr/>
              <a:tblGrid>
                <a:gridCol w="10284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05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554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Model Step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LSTM Baseline Parameters / implementation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6E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Input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Piczak log-mel + delta segment tensor, shape (B, 2, 60, T)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Reshape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(B, 2, 60, T) -&gt; (B, T, 120); one sequence step per time frame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Recurrent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2-layer bidirectional LSTM; hidden size 128; Xavier/orthogonal init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Pooling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Final pooling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Head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Dropout 0.3 -&gt; Linear 512-&gt;50 logits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Optimization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CrossEntropyLoss; Adam lr 1e-3; weight decay 1e-4; cosine LR; grad clip 1.0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35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Evaluation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Clip-level probability voting; 60 epochs ran but accuracy reported at best value attained over all epochs; batch size 64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19" name="Group 18">
            <a:extLst>
              <a:ext uri="{FF2B5EF4-FFF2-40B4-BE49-F238E27FC236}">
                <a16:creationId xmlns:a16="http://schemas.microsoft.com/office/drawing/2014/main" id="{6F6E8C61-62CB-4F3D-F282-A8DD9B542CC9}"/>
              </a:ext>
            </a:extLst>
          </p:cNvPr>
          <p:cNvGrpSpPr/>
          <p:nvPr/>
        </p:nvGrpSpPr>
        <p:grpSpPr>
          <a:xfrm>
            <a:off x="6594365" y="4733086"/>
            <a:ext cx="2011680" cy="914400"/>
            <a:chOff x="7207347" y="4727446"/>
            <a:chExt cx="2011680" cy="914400"/>
          </a:xfrm>
        </p:grpSpPr>
        <p:sp>
          <p:nvSpPr>
            <p:cNvPr id="20" name="Shape 48">
              <a:extLst>
                <a:ext uri="{FF2B5EF4-FFF2-40B4-BE49-F238E27FC236}">
                  <a16:creationId xmlns:a16="http://schemas.microsoft.com/office/drawing/2014/main" id="{0D47066D-C2CD-1FF5-2BEE-B2757CCBA052}"/>
                </a:ext>
              </a:extLst>
            </p:cNvPr>
            <p:cNvSpPr/>
            <p:nvPr/>
          </p:nvSpPr>
          <p:spPr>
            <a:xfrm>
              <a:off x="7207347" y="4727446"/>
              <a:ext cx="2011680" cy="914400"/>
            </a:xfrm>
            <a:prstGeom prst="rect">
              <a:avLst/>
            </a:prstGeom>
            <a:solidFill>
              <a:srgbClr val="FFFFFF">
                <a:alpha val="98000"/>
              </a:srgbClr>
            </a:solidFill>
            <a:ln w="17780">
              <a:solidFill>
                <a:srgbClr val="B65D3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 49">
              <a:extLst>
                <a:ext uri="{FF2B5EF4-FFF2-40B4-BE49-F238E27FC236}">
                  <a16:creationId xmlns:a16="http://schemas.microsoft.com/office/drawing/2014/main" id="{B979E889-CA6B-E67A-1D4B-09BE3A252931}"/>
                </a:ext>
              </a:extLst>
            </p:cNvPr>
            <p:cNvSpPr/>
            <p:nvPr/>
          </p:nvSpPr>
          <p:spPr>
            <a:xfrm>
              <a:off x="7298787" y="4864606"/>
              <a:ext cx="18288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ctr">
                <a:lnSpc>
                  <a:spcPct val="90000"/>
                </a:lnSpc>
                <a:buNone/>
              </a:pPr>
              <a:r>
                <a:rPr lang="en-US" sz="2100" b="1" dirty="0">
                  <a:solidFill>
                    <a:srgbClr val="B65D3A"/>
                  </a:solidFill>
                  <a:latin typeface="Aptos Display" pitchFamily="34" charset="0"/>
                  <a:ea typeface="Aptos Display" pitchFamily="34" charset="-122"/>
                  <a:cs typeface="Aptos Display" pitchFamily="34" charset="-120"/>
                </a:rPr>
                <a:t>64.5%</a:t>
              </a:r>
              <a:endParaRPr lang="en-US" sz="2100" dirty="0"/>
            </a:p>
          </p:txBody>
        </p:sp>
        <p:sp>
          <p:nvSpPr>
            <p:cNvPr id="22" name="Text 50">
              <a:extLst>
                <a:ext uri="{FF2B5EF4-FFF2-40B4-BE49-F238E27FC236}">
                  <a16:creationId xmlns:a16="http://schemas.microsoft.com/office/drawing/2014/main" id="{B35D6650-D648-C8B9-CA03-40ABF04D048B}"/>
                </a:ext>
              </a:extLst>
            </p:cNvPr>
            <p:cNvSpPr/>
            <p:nvPr/>
          </p:nvSpPr>
          <p:spPr>
            <a:xfrm>
              <a:off x="7317075" y="5257798"/>
              <a:ext cx="1792224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ctr">
                <a:lnSpc>
                  <a:spcPct val="90000"/>
                </a:lnSpc>
                <a:buNone/>
              </a:pPr>
              <a:r>
                <a:rPr lang="en-US" sz="780" dirty="0">
                  <a:solidFill>
                    <a:srgbClr val="6B7176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Piczak published LP clip-level reference</a:t>
              </a:r>
              <a:endParaRPr lang="en-US" sz="780" dirty="0"/>
            </a:p>
          </p:txBody>
        </p:sp>
      </p:grp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5834280A-C1C7-08BD-15D1-C5A9597C1C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3395052"/>
              </p:ext>
            </p:extLst>
          </p:nvPr>
        </p:nvGraphicFramePr>
        <p:xfrm>
          <a:off x="6104727" y="5745480"/>
          <a:ext cx="5017842" cy="600456"/>
        </p:xfrm>
        <a:graphic>
          <a:graphicData uri="http://schemas.openxmlformats.org/drawingml/2006/table">
            <a:tbl>
              <a:tblPr firstRow="1" bandRow="1"/>
              <a:tblGrid>
                <a:gridCol w="521941">
                  <a:extLst>
                    <a:ext uri="{9D8B030D-6E8A-4147-A177-3AD203B41FA5}">
                      <a16:colId xmlns:a16="http://schemas.microsoft.com/office/drawing/2014/main" val="1390217886"/>
                    </a:ext>
                  </a:extLst>
                </a:gridCol>
                <a:gridCol w="782171">
                  <a:extLst>
                    <a:ext uri="{9D8B030D-6E8A-4147-A177-3AD203B41FA5}">
                      <a16:colId xmlns:a16="http://schemas.microsoft.com/office/drawing/2014/main" val="1688786671"/>
                    </a:ext>
                  </a:extLst>
                </a:gridCol>
                <a:gridCol w="782171">
                  <a:extLst>
                    <a:ext uri="{9D8B030D-6E8A-4147-A177-3AD203B41FA5}">
                      <a16:colId xmlns:a16="http://schemas.microsoft.com/office/drawing/2014/main" val="3390239440"/>
                    </a:ext>
                  </a:extLst>
                </a:gridCol>
                <a:gridCol w="782171">
                  <a:extLst>
                    <a:ext uri="{9D8B030D-6E8A-4147-A177-3AD203B41FA5}">
                      <a16:colId xmlns:a16="http://schemas.microsoft.com/office/drawing/2014/main" val="839013668"/>
                    </a:ext>
                  </a:extLst>
                </a:gridCol>
                <a:gridCol w="782171">
                  <a:extLst>
                    <a:ext uri="{9D8B030D-6E8A-4147-A177-3AD203B41FA5}">
                      <a16:colId xmlns:a16="http://schemas.microsoft.com/office/drawing/2014/main" val="1387880440"/>
                    </a:ext>
                  </a:extLst>
                </a:gridCol>
                <a:gridCol w="1367217">
                  <a:extLst>
                    <a:ext uri="{9D8B030D-6E8A-4147-A177-3AD203B41FA5}">
                      <a16:colId xmlns:a16="http://schemas.microsoft.com/office/drawing/2014/main" val="1167938057"/>
                    </a:ext>
                  </a:extLst>
                </a:gridCol>
              </a:tblGrid>
              <a:tr h="257536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103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Run 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2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103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hidden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2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103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layers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2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1030" b="1" kern="1200" dirty="0" err="1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bidir</a:t>
                      </a:r>
                      <a:endParaRPr lang="en-US" sz="103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2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103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pooling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2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103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Question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26E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5896676"/>
                  </a:ext>
                </a:extLst>
              </a:tr>
              <a:tr h="2497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FF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256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FF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FF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FF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mean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FF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Does mean pooling substitute for depth?</a:t>
                      </a:r>
                    </a:p>
                  </a:txBody>
                  <a:tcPr marL="123825" marR="123825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F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3090203"/>
                  </a:ext>
                </a:extLst>
              </a:tr>
            </a:tbl>
          </a:graphicData>
        </a:graphic>
      </p:graphicFrame>
      <p:graphicFrame>
        <p:nvGraphicFramePr>
          <p:cNvPr id="25" name="Table 0">
            <a:extLst>
              <a:ext uri="{FF2B5EF4-FFF2-40B4-BE49-F238E27FC236}">
                <a16:creationId xmlns:a16="http://schemas.microsoft.com/office/drawing/2014/main" id="{AC735606-46D0-9739-7BD3-E09C4E2943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6138549"/>
              </p:ext>
            </p:extLst>
          </p:nvPr>
        </p:nvGraphicFramePr>
        <p:xfrm>
          <a:off x="737816" y="4039700"/>
          <a:ext cx="4809196" cy="1158240"/>
        </p:xfrm>
        <a:graphic>
          <a:graphicData uri="http://schemas.openxmlformats.org/drawingml/2006/table">
            <a:tbl>
              <a:tblPr/>
              <a:tblGrid>
                <a:gridCol w="15111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89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9166">
                  <a:extLst>
                    <a:ext uri="{9D8B030D-6E8A-4147-A177-3AD203B41FA5}">
                      <a16:colId xmlns:a16="http://schemas.microsoft.com/office/drawing/2014/main" val="367886395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103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Experimental Factor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103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Baseline Value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103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Levels Tested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6E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05" b="1" kern="1200" dirty="0" err="1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hidden_size</a:t>
                      </a:r>
                      <a:endParaRPr lang="en-US" sz="705" b="1" kern="1200" dirty="0">
                        <a:solidFill>
                          <a:srgbClr val="1F2528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128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64, 128, 256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05" b="1" kern="1200" dirty="0" err="1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num_layers</a:t>
                      </a:r>
                      <a:endParaRPr lang="en-US" sz="705" b="1" kern="1200" dirty="0">
                        <a:solidFill>
                          <a:srgbClr val="1F2528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1, 2, 3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05" b="1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bidirectional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True, False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05" b="1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pooling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Final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Final, Mean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1C97DB-BC19-6435-8846-FCEC91B13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1CAFF36-C817-0F66-4C76-7FC92CA2E24C}"/>
              </a:ext>
            </a:extLst>
          </p:cNvPr>
          <p:cNvSpPr/>
          <p:nvPr/>
        </p:nvSpPr>
        <p:spPr>
          <a:xfrm>
            <a:off x="594360" y="310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ERA 1: TRAINING FROM SCRATCH</a:t>
            </a:r>
            <a:endParaRPr lang="en-US" sz="88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0D3A4D1-19B6-AD0E-C270-083F318FBAA9}"/>
              </a:ext>
            </a:extLst>
          </p:cNvPr>
          <p:cNvSpPr/>
          <p:nvPr/>
        </p:nvSpPr>
        <p:spPr>
          <a:xfrm>
            <a:off x="566928" y="51206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LSTM extension</a:t>
            </a:r>
            <a:endParaRPr lang="en-US" sz="2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B641436-F006-086B-BC5F-2C4834B5F4B6}"/>
              </a:ext>
            </a:extLst>
          </p:cNvPr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C7055E1-8925-AF1D-7F3C-D4699CD8ED64}"/>
              </a:ext>
            </a:extLst>
          </p:cNvPr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50" dirty="0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AE669EFF-8921-06E7-D2C8-DF3EDC06D18B}"/>
              </a:ext>
            </a:extLst>
          </p:cNvPr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50" dirty="0"/>
          </a:p>
        </p:txBody>
      </p:sp>
      <p:pic>
        <p:nvPicPr>
          <p:cNvPr id="49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448B9743-FBA7-4BDF-55D9-9169C49E7CB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Shape 19">
            <a:extLst>
              <a:ext uri="{FF2B5EF4-FFF2-40B4-BE49-F238E27FC236}">
                <a16:creationId xmlns:a16="http://schemas.microsoft.com/office/drawing/2014/main" id="{B6AA43A2-909E-AD3E-2A93-0D300CE2BC80}"/>
              </a:ext>
            </a:extLst>
          </p:cNvPr>
          <p:cNvSpPr/>
          <p:nvPr/>
        </p:nvSpPr>
        <p:spPr>
          <a:xfrm>
            <a:off x="6237447" y="751408"/>
            <a:ext cx="1809206" cy="295381"/>
          </a:xfrm>
          <a:prstGeom prst="chevron">
            <a:avLst/>
          </a:prstGeom>
          <a:solidFill>
            <a:srgbClr val="426E9E"/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 dirty="0"/>
          </a:p>
        </p:txBody>
      </p:sp>
      <p:sp>
        <p:nvSpPr>
          <p:cNvPr id="51" name="Text 20">
            <a:extLst>
              <a:ext uri="{FF2B5EF4-FFF2-40B4-BE49-F238E27FC236}">
                <a16:creationId xmlns:a16="http://schemas.microsoft.com/office/drawing/2014/main" id="{CAE12ADD-DED0-8CB2-B319-56E05563680F}"/>
              </a:ext>
            </a:extLst>
          </p:cNvPr>
          <p:cNvSpPr/>
          <p:nvPr/>
        </p:nvSpPr>
        <p:spPr>
          <a:xfrm>
            <a:off x="6287692" y="833886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from scratch</a:t>
            </a:r>
            <a:endParaRPr lang="en-US" sz="700" dirty="0"/>
          </a:p>
        </p:txBody>
      </p:sp>
      <p:sp>
        <p:nvSpPr>
          <p:cNvPr id="52" name="Text 21">
            <a:extLst>
              <a:ext uri="{FF2B5EF4-FFF2-40B4-BE49-F238E27FC236}">
                <a16:creationId xmlns:a16="http://schemas.microsoft.com/office/drawing/2014/main" id="{FA420A26-FFBE-4FE2-0AED-311301EE3258}"/>
              </a:ext>
            </a:extLst>
          </p:cNvPr>
          <p:cNvSpPr/>
          <p:nvPr/>
        </p:nvSpPr>
        <p:spPr>
          <a:xfrm>
            <a:off x="6295809" y="928966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 err="1">
                <a:solidFill>
                  <a:srgbClr val="D9D9D9"/>
                </a:solidFill>
                <a:latin typeface="Aptos" pitchFamily="34" charset="0"/>
              </a:rPr>
              <a:t>Piczak</a:t>
            </a:r>
            <a:r>
              <a:rPr lang="en-US" sz="500" dirty="0">
                <a:solidFill>
                  <a:srgbClr val="D9D9D9"/>
                </a:solidFill>
                <a:latin typeface="Aptos" pitchFamily="34" charset="0"/>
              </a:rPr>
              <a:t> CNN | Variations </a:t>
            </a:r>
            <a:r>
              <a:rPr lang="en-US" sz="500" dirty="0">
                <a:solidFill>
                  <a:srgbClr val="D9D9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| </a:t>
            </a:r>
            <a:r>
              <a:rPr lang="en-US" sz="500" b="1" dirty="0">
                <a:solidFill>
                  <a:srgbClr val="FFFFFF"/>
                </a:solidFill>
                <a:latin typeface="Aptos" pitchFamily="34" charset="0"/>
              </a:rPr>
              <a:t>LSTM</a:t>
            </a:r>
          </a:p>
        </p:txBody>
      </p:sp>
      <p:sp>
        <p:nvSpPr>
          <p:cNvPr id="53" name="Shape 22">
            <a:extLst>
              <a:ext uri="{FF2B5EF4-FFF2-40B4-BE49-F238E27FC236}">
                <a16:creationId xmlns:a16="http://schemas.microsoft.com/office/drawing/2014/main" id="{EA90C4A5-C844-6BA1-484F-5C5B040C33C9}"/>
              </a:ext>
            </a:extLst>
          </p:cNvPr>
          <p:cNvSpPr/>
          <p:nvPr/>
        </p:nvSpPr>
        <p:spPr>
          <a:xfrm>
            <a:off x="7891484" y="750102"/>
            <a:ext cx="1809206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54" name="Text 23">
            <a:extLst>
              <a:ext uri="{FF2B5EF4-FFF2-40B4-BE49-F238E27FC236}">
                <a16:creationId xmlns:a16="http://schemas.microsoft.com/office/drawing/2014/main" id="{47273933-F65F-BFD7-4E08-8C62D8AEC10F}"/>
              </a:ext>
            </a:extLst>
          </p:cNvPr>
          <p:cNvSpPr/>
          <p:nvPr/>
        </p:nvSpPr>
        <p:spPr>
          <a:xfrm>
            <a:off x="7963330" y="839252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learning: pretrained CNN</a:t>
            </a:r>
            <a:endParaRPr lang="en-US" sz="700" dirty="0"/>
          </a:p>
        </p:txBody>
      </p:sp>
      <p:sp>
        <p:nvSpPr>
          <p:cNvPr id="55" name="Text 24">
            <a:extLst>
              <a:ext uri="{FF2B5EF4-FFF2-40B4-BE49-F238E27FC236}">
                <a16:creationId xmlns:a16="http://schemas.microsoft.com/office/drawing/2014/main" id="{90CD8AEC-FE0C-6EA0-4943-FAA722DDA812}"/>
              </a:ext>
            </a:extLst>
          </p:cNvPr>
          <p:cNvSpPr/>
          <p:nvPr/>
        </p:nvSpPr>
        <p:spPr>
          <a:xfrm>
            <a:off x="7984136" y="941012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VGGish | YAMNet</a:t>
            </a:r>
            <a:endParaRPr lang="en-US" sz="500" dirty="0"/>
          </a:p>
        </p:txBody>
      </p:sp>
      <p:sp>
        <p:nvSpPr>
          <p:cNvPr id="56" name="Shape 25">
            <a:extLst>
              <a:ext uri="{FF2B5EF4-FFF2-40B4-BE49-F238E27FC236}">
                <a16:creationId xmlns:a16="http://schemas.microsoft.com/office/drawing/2014/main" id="{8859A24F-A8F5-3A3E-86FD-49864D853AA9}"/>
              </a:ext>
            </a:extLst>
          </p:cNvPr>
          <p:cNvSpPr/>
          <p:nvPr/>
        </p:nvSpPr>
        <p:spPr>
          <a:xfrm>
            <a:off x="9550658" y="750101"/>
            <a:ext cx="1755200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57" name="Text 26">
            <a:extLst>
              <a:ext uri="{FF2B5EF4-FFF2-40B4-BE49-F238E27FC236}">
                <a16:creationId xmlns:a16="http://schemas.microsoft.com/office/drawing/2014/main" id="{98E83EF8-0EE1-658D-644A-BAE37491DB46}"/>
              </a:ext>
            </a:extLst>
          </p:cNvPr>
          <p:cNvSpPr/>
          <p:nvPr/>
        </p:nvSpPr>
        <p:spPr>
          <a:xfrm>
            <a:off x="9657605" y="848441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learning: pretrained transformers</a:t>
            </a:r>
            <a:endParaRPr lang="en-US" sz="700" dirty="0"/>
          </a:p>
        </p:txBody>
      </p:sp>
      <p:sp>
        <p:nvSpPr>
          <p:cNvPr id="58" name="Text 27">
            <a:extLst>
              <a:ext uri="{FF2B5EF4-FFF2-40B4-BE49-F238E27FC236}">
                <a16:creationId xmlns:a16="http://schemas.microsoft.com/office/drawing/2014/main" id="{D62C1BCF-363D-9568-0D6B-2D1F2D5B09F4}"/>
              </a:ext>
            </a:extLst>
          </p:cNvPr>
          <p:cNvSpPr/>
          <p:nvPr/>
        </p:nvSpPr>
        <p:spPr>
          <a:xfrm>
            <a:off x="9657605" y="944489"/>
            <a:ext cx="1662902" cy="107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AST | BEATs</a:t>
            </a:r>
            <a:endParaRPr lang="en-US" sz="500" dirty="0"/>
          </a:p>
        </p:txBody>
      </p:sp>
      <p:sp>
        <p:nvSpPr>
          <p:cNvPr id="5" name="Text 11">
            <a:extLst>
              <a:ext uri="{FF2B5EF4-FFF2-40B4-BE49-F238E27FC236}">
                <a16:creationId xmlns:a16="http://schemas.microsoft.com/office/drawing/2014/main" id="{EDC9412E-8BEB-8FA2-B8E4-2C8EDB278B5A}"/>
              </a:ext>
            </a:extLst>
          </p:cNvPr>
          <p:cNvSpPr/>
          <p:nvPr/>
        </p:nvSpPr>
        <p:spPr>
          <a:xfrm>
            <a:off x="777240" y="13258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426E9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changed?</a:t>
            </a:r>
            <a:endParaRPr lang="en-US" sz="1000" dirty="0"/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4AB891C6-8664-C02E-BBE9-2814BCB9893B}"/>
              </a:ext>
            </a:extLst>
          </p:cNvPr>
          <p:cNvSpPr/>
          <p:nvPr/>
        </p:nvSpPr>
        <p:spPr>
          <a:xfrm>
            <a:off x="777240" y="1600200"/>
            <a:ext cx="469123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6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9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local spectrogram patterns to temporal sequence modeling – LSTM baseline defined, Design of Experiments created to vary 4 factors</a:t>
            </a:r>
            <a:endParaRPr lang="en-US" sz="190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2EFBF54-1ED1-CC64-FFC6-EBA1BF516FC7}"/>
              </a:ext>
            </a:extLst>
          </p:cNvPr>
          <p:cNvGrpSpPr/>
          <p:nvPr/>
        </p:nvGrpSpPr>
        <p:grpSpPr>
          <a:xfrm>
            <a:off x="8463399" y="3717436"/>
            <a:ext cx="1920240" cy="914400"/>
            <a:chOff x="9328755" y="4727446"/>
            <a:chExt cx="1920240" cy="914400"/>
          </a:xfrm>
        </p:grpSpPr>
        <p:sp>
          <p:nvSpPr>
            <p:cNvPr id="8" name="Shape 32">
              <a:extLst>
                <a:ext uri="{FF2B5EF4-FFF2-40B4-BE49-F238E27FC236}">
                  <a16:creationId xmlns:a16="http://schemas.microsoft.com/office/drawing/2014/main" id="{BC53EE3E-33F1-0F60-BD58-02A3EB6D50A6}"/>
                </a:ext>
              </a:extLst>
            </p:cNvPr>
            <p:cNvSpPr/>
            <p:nvPr/>
          </p:nvSpPr>
          <p:spPr>
            <a:xfrm>
              <a:off x="9328755" y="4727446"/>
              <a:ext cx="1920240" cy="914400"/>
            </a:xfrm>
            <a:prstGeom prst="rect">
              <a:avLst/>
            </a:prstGeom>
            <a:solidFill>
              <a:srgbClr val="FFFFFF">
                <a:alpha val="98000"/>
              </a:srgbClr>
            </a:solidFill>
            <a:ln w="17780">
              <a:solidFill>
                <a:srgbClr val="426E9E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 33">
              <a:extLst>
                <a:ext uri="{FF2B5EF4-FFF2-40B4-BE49-F238E27FC236}">
                  <a16:creationId xmlns:a16="http://schemas.microsoft.com/office/drawing/2014/main" id="{B81D0B21-FBB5-AF54-C538-322B8DD28F83}"/>
                </a:ext>
              </a:extLst>
            </p:cNvPr>
            <p:cNvSpPr/>
            <p:nvPr/>
          </p:nvSpPr>
          <p:spPr>
            <a:xfrm>
              <a:off x="9420195" y="4864606"/>
              <a:ext cx="173736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ctr">
                <a:lnSpc>
                  <a:spcPct val="90000"/>
                </a:lnSpc>
                <a:buNone/>
              </a:pPr>
              <a:r>
                <a:rPr lang="en-US" sz="2100" b="1" dirty="0">
                  <a:solidFill>
                    <a:srgbClr val="426E9E"/>
                  </a:solidFill>
                  <a:latin typeface="Aptos Display" pitchFamily="34" charset="0"/>
                  <a:ea typeface="Aptos Display" pitchFamily="34" charset="-122"/>
                  <a:cs typeface="Aptos Display" pitchFamily="34" charset="-120"/>
                </a:rPr>
                <a:t>56.8%</a:t>
              </a:r>
              <a:endParaRPr lang="en-US" sz="2100" dirty="0"/>
            </a:p>
          </p:txBody>
        </p:sp>
        <p:sp>
          <p:nvSpPr>
            <p:cNvPr id="10" name="Text 34">
              <a:extLst>
                <a:ext uri="{FF2B5EF4-FFF2-40B4-BE49-F238E27FC236}">
                  <a16:creationId xmlns:a16="http://schemas.microsoft.com/office/drawing/2014/main" id="{281C091C-236F-80E5-B558-83A4C2C099F5}"/>
                </a:ext>
              </a:extLst>
            </p:cNvPr>
            <p:cNvSpPr/>
            <p:nvPr/>
          </p:nvSpPr>
          <p:spPr>
            <a:xfrm>
              <a:off x="9438483" y="5257798"/>
              <a:ext cx="1700784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ctr">
                <a:lnSpc>
                  <a:spcPct val="90000"/>
                </a:lnSpc>
                <a:buNone/>
              </a:pPr>
              <a:r>
                <a:rPr lang="en-US" sz="780" dirty="0">
                  <a:solidFill>
                    <a:srgbClr val="6B7176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final 5-fold clip-level accuracy</a:t>
              </a:r>
              <a:endParaRPr lang="en-US" sz="780" dirty="0"/>
            </a:p>
          </p:txBody>
        </p:sp>
      </p:grpSp>
      <p:pic>
        <p:nvPicPr>
          <p:cNvPr id="12" name="Image 0" descr="/Users/andrew/Library/CloudStorage/OneDrive-CornellUniversity/Courses/SYSEN5888/ Project/DeepLearning5888Project/Plots and Data/LSTM/LSTM_Run8_CapacityMeanPool_long/curves.png">
            <a:extLst>
              <a:ext uri="{FF2B5EF4-FFF2-40B4-BE49-F238E27FC236}">
                <a16:creationId xmlns:a16="http://schemas.microsoft.com/office/drawing/2014/main" id="{F42B345D-4B54-5EB9-8D14-B1D5276BD40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82085" y="1296008"/>
            <a:ext cx="4274361" cy="2367493"/>
          </a:xfrm>
          <a:prstGeom prst="rect">
            <a:avLst/>
          </a:prstGeom>
        </p:spPr>
      </p:pic>
      <p:sp>
        <p:nvSpPr>
          <p:cNvPr id="15" name="Text 36">
            <a:extLst>
              <a:ext uri="{FF2B5EF4-FFF2-40B4-BE49-F238E27FC236}">
                <a16:creationId xmlns:a16="http://schemas.microsoft.com/office/drawing/2014/main" id="{7731452C-7FB8-AAF1-4B70-4F8BEF45CBD8}"/>
              </a:ext>
            </a:extLst>
          </p:cNvPr>
          <p:cNvSpPr/>
          <p:nvPr/>
        </p:nvSpPr>
        <p:spPr>
          <a:xfrm>
            <a:off x="6221370" y="4989733"/>
            <a:ext cx="175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426E9E"/>
                </a:solidFill>
                <a:latin typeface="Aptos" pitchFamily="34" charset="0"/>
              </a:rPr>
              <a:t>Results</a:t>
            </a:r>
          </a:p>
        </p:txBody>
      </p:sp>
      <p:sp>
        <p:nvSpPr>
          <p:cNvPr id="16" name="Text 37">
            <a:extLst>
              <a:ext uri="{FF2B5EF4-FFF2-40B4-BE49-F238E27FC236}">
                <a16:creationId xmlns:a16="http://schemas.microsoft.com/office/drawing/2014/main" id="{F59854C2-C32C-81EB-38A2-A570A7096A30}"/>
              </a:ext>
            </a:extLst>
          </p:cNvPr>
          <p:cNvSpPr/>
          <p:nvPr/>
        </p:nvSpPr>
        <p:spPr>
          <a:xfrm>
            <a:off x="6293921" y="5195011"/>
            <a:ext cx="5026569" cy="9967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13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 architectures performed </a:t>
            </a:r>
            <a:r>
              <a:rPr lang="en-US" sz="113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worse</a:t>
            </a:r>
            <a:r>
              <a:rPr lang="en-US" sz="113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than CNN baseline. </a:t>
            </a:r>
          </a:p>
          <a:p>
            <a:pPr marL="0" indent="0" algn="l">
              <a:lnSpc>
                <a:spcPct val="90000"/>
              </a:lnSpc>
              <a:buNone/>
            </a:pPr>
            <a:r>
              <a:rPr lang="en-US" sz="113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Some reasons may include:</a:t>
            </a:r>
          </a:p>
          <a:p>
            <a:pPr marL="171450" indent="-171450" algn="l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13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CNNs are inherently designed for 2D time-frequency patterns like audio clips</a:t>
            </a:r>
          </a:p>
          <a:p>
            <a:pPr marL="171450" indent="-171450" algn="l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13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Dataset not large enough for LSTM</a:t>
            </a:r>
          </a:p>
          <a:p>
            <a:pPr marL="171450" indent="-171450" algn="l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13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5 second audio clips not long enough to take advantage of LSTM’s strengths in modeling long temporal dependencies</a:t>
            </a: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75EC9908-19CF-5D9D-20CA-9227F21E59F5}"/>
              </a:ext>
            </a:extLst>
          </p:cNvPr>
          <p:cNvSpPr/>
          <p:nvPr/>
        </p:nvSpPr>
        <p:spPr>
          <a:xfrm>
            <a:off x="780690" y="2189978"/>
            <a:ext cx="5440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20" b="1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 architecture</a:t>
            </a:r>
            <a:endParaRPr lang="en-US" sz="1020" dirty="0"/>
          </a:p>
        </p:txBody>
      </p:sp>
      <p:graphicFrame>
        <p:nvGraphicFramePr>
          <p:cNvPr id="18" name="Table 0">
            <a:extLst>
              <a:ext uri="{FF2B5EF4-FFF2-40B4-BE49-F238E27FC236}">
                <a16:creationId xmlns:a16="http://schemas.microsoft.com/office/drawing/2014/main" id="{79D18BAC-EC8F-C430-2B3E-BF86B9AF65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6511783"/>
              </p:ext>
            </p:extLst>
          </p:nvPr>
        </p:nvGraphicFramePr>
        <p:xfrm>
          <a:off x="737817" y="2366641"/>
          <a:ext cx="4434165" cy="1821180"/>
        </p:xfrm>
        <a:graphic>
          <a:graphicData uri="http://schemas.openxmlformats.org/drawingml/2006/table">
            <a:tbl>
              <a:tblPr/>
              <a:tblGrid>
                <a:gridCol w="10284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05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554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Model Step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LSTM Baseline Parameters / implementation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6E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Input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Piczak log-mel + delta segment tensor, shape (B, 2, 60, T)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Reshape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(B, 2, 60, T) -&gt; (B, T, 120); one sequence step per time frame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Recurrent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2-layer bidirectional LSTM; hidden size 128; Xavier/orthogonal init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Pooling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Final pooling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Head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Dropout 0.3 -&gt; Linear 512-&gt;50 logits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Optimization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CrossEntropyLoss; Adam lr 1e-3; weight decay 1e-4; cosine LR; grad clip 1.0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35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Evaluation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Clip-level probability voting; 60 epochs ran but accuracy reported at best value attained over all epochs; batch size 64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19" name="Group 18">
            <a:extLst>
              <a:ext uri="{FF2B5EF4-FFF2-40B4-BE49-F238E27FC236}">
                <a16:creationId xmlns:a16="http://schemas.microsoft.com/office/drawing/2014/main" id="{05D29C80-F2AA-4BA3-6B71-C793E5BEAF32}"/>
              </a:ext>
            </a:extLst>
          </p:cNvPr>
          <p:cNvGrpSpPr/>
          <p:nvPr/>
        </p:nvGrpSpPr>
        <p:grpSpPr>
          <a:xfrm>
            <a:off x="6360279" y="3717436"/>
            <a:ext cx="2011680" cy="914400"/>
            <a:chOff x="7207347" y="4727446"/>
            <a:chExt cx="2011680" cy="914400"/>
          </a:xfrm>
        </p:grpSpPr>
        <p:sp>
          <p:nvSpPr>
            <p:cNvPr id="20" name="Shape 48">
              <a:extLst>
                <a:ext uri="{FF2B5EF4-FFF2-40B4-BE49-F238E27FC236}">
                  <a16:creationId xmlns:a16="http://schemas.microsoft.com/office/drawing/2014/main" id="{6EF3174C-38DC-8016-8380-19252D9106E3}"/>
                </a:ext>
              </a:extLst>
            </p:cNvPr>
            <p:cNvSpPr/>
            <p:nvPr/>
          </p:nvSpPr>
          <p:spPr>
            <a:xfrm>
              <a:off x="7207347" y="4727446"/>
              <a:ext cx="2011680" cy="914400"/>
            </a:xfrm>
            <a:prstGeom prst="rect">
              <a:avLst/>
            </a:prstGeom>
            <a:solidFill>
              <a:srgbClr val="FFFFFF">
                <a:alpha val="98000"/>
              </a:srgbClr>
            </a:solidFill>
            <a:ln w="17780">
              <a:solidFill>
                <a:srgbClr val="B65D3A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 49">
              <a:extLst>
                <a:ext uri="{FF2B5EF4-FFF2-40B4-BE49-F238E27FC236}">
                  <a16:creationId xmlns:a16="http://schemas.microsoft.com/office/drawing/2014/main" id="{B359967D-E80C-47F3-BC0B-72D8ED5614FC}"/>
                </a:ext>
              </a:extLst>
            </p:cNvPr>
            <p:cNvSpPr/>
            <p:nvPr/>
          </p:nvSpPr>
          <p:spPr>
            <a:xfrm>
              <a:off x="7298787" y="4864606"/>
              <a:ext cx="18288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ctr">
                <a:lnSpc>
                  <a:spcPct val="90000"/>
                </a:lnSpc>
                <a:buNone/>
              </a:pPr>
              <a:r>
                <a:rPr lang="en-US" sz="2100" b="1" dirty="0">
                  <a:solidFill>
                    <a:srgbClr val="B65D3A"/>
                  </a:solidFill>
                  <a:latin typeface="Aptos Display" pitchFamily="34" charset="0"/>
                  <a:ea typeface="Aptos Display" pitchFamily="34" charset="-122"/>
                  <a:cs typeface="Aptos Display" pitchFamily="34" charset="-120"/>
                </a:rPr>
                <a:t>64.5%</a:t>
              </a:r>
              <a:endParaRPr lang="en-US" sz="2100" dirty="0"/>
            </a:p>
          </p:txBody>
        </p:sp>
        <p:sp>
          <p:nvSpPr>
            <p:cNvPr id="22" name="Text 50">
              <a:extLst>
                <a:ext uri="{FF2B5EF4-FFF2-40B4-BE49-F238E27FC236}">
                  <a16:creationId xmlns:a16="http://schemas.microsoft.com/office/drawing/2014/main" id="{90F988DF-A30B-CA84-F304-ADB1D40CFA3C}"/>
                </a:ext>
              </a:extLst>
            </p:cNvPr>
            <p:cNvSpPr/>
            <p:nvPr/>
          </p:nvSpPr>
          <p:spPr>
            <a:xfrm>
              <a:off x="7317075" y="5257798"/>
              <a:ext cx="1792224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ctr">
                <a:lnSpc>
                  <a:spcPct val="90000"/>
                </a:lnSpc>
                <a:buNone/>
              </a:pPr>
              <a:r>
                <a:rPr lang="en-US" sz="780" dirty="0">
                  <a:solidFill>
                    <a:srgbClr val="6B7176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Piczak published LP clip-level reference</a:t>
              </a:r>
              <a:endParaRPr lang="en-US" sz="780" dirty="0"/>
            </a:p>
          </p:txBody>
        </p:sp>
      </p:grpSp>
      <p:graphicFrame>
        <p:nvGraphicFramePr>
          <p:cNvPr id="25" name="Table 0">
            <a:extLst>
              <a:ext uri="{FF2B5EF4-FFF2-40B4-BE49-F238E27FC236}">
                <a16:creationId xmlns:a16="http://schemas.microsoft.com/office/drawing/2014/main" id="{BA8CFEBA-D2CC-605B-97AF-3DF0C107D7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553208"/>
              </p:ext>
            </p:extLst>
          </p:nvPr>
        </p:nvGraphicFramePr>
        <p:xfrm>
          <a:off x="737816" y="4300968"/>
          <a:ext cx="4434166" cy="1158240"/>
        </p:xfrm>
        <a:graphic>
          <a:graphicData uri="http://schemas.openxmlformats.org/drawingml/2006/table">
            <a:tbl>
              <a:tblPr/>
              <a:tblGrid>
                <a:gridCol w="16798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26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1697">
                  <a:extLst>
                    <a:ext uri="{9D8B030D-6E8A-4147-A177-3AD203B41FA5}">
                      <a16:colId xmlns:a16="http://schemas.microsoft.com/office/drawing/2014/main" val="367886395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103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Experimental Factor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103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Baseline Value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103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Levels Tested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6E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05" b="1" kern="1200" dirty="0" err="1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hidden_size</a:t>
                      </a:r>
                      <a:endParaRPr lang="en-US" sz="705" b="1" kern="1200" dirty="0">
                        <a:solidFill>
                          <a:srgbClr val="1F2528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128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64, 128, 256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05" b="1" kern="1200" dirty="0" err="1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num_layers</a:t>
                      </a:r>
                      <a:endParaRPr lang="en-US" sz="705" b="1" kern="1200" dirty="0">
                        <a:solidFill>
                          <a:srgbClr val="1F2528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1, 2, 3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05" b="1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bidirectional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True, False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05" b="1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pooling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Final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Final, Mean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3" name="Table 0">
            <a:extLst>
              <a:ext uri="{FF2B5EF4-FFF2-40B4-BE49-F238E27FC236}">
                <a16:creationId xmlns:a16="http://schemas.microsoft.com/office/drawing/2014/main" id="{1EFA659D-D326-BADD-FBBD-D67323DDD7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9822257"/>
              </p:ext>
            </p:extLst>
          </p:nvPr>
        </p:nvGraphicFramePr>
        <p:xfrm>
          <a:off x="737818" y="5572355"/>
          <a:ext cx="4434164" cy="600456"/>
        </p:xfrm>
        <a:graphic>
          <a:graphicData uri="http://schemas.openxmlformats.org/drawingml/2006/table">
            <a:tbl>
              <a:tblPr/>
              <a:tblGrid>
                <a:gridCol w="502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0820">
                  <a:extLst>
                    <a:ext uri="{9D8B030D-6E8A-4147-A177-3AD203B41FA5}">
                      <a16:colId xmlns:a16="http://schemas.microsoft.com/office/drawing/2014/main" val="3678863950"/>
                    </a:ext>
                  </a:extLst>
                </a:gridCol>
                <a:gridCol w="519379">
                  <a:extLst>
                    <a:ext uri="{9D8B030D-6E8A-4147-A177-3AD203B41FA5}">
                      <a16:colId xmlns:a16="http://schemas.microsoft.com/office/drawing/2014/main" val="2782421059"/>
                    </a:ext>
                  </a:extLst>
                </a:gridCol>
                <a:gridCol w="705917">
                  <a:extLst>
                    <a:ext uri="{9D8B030D-6E8A-4147-A177-3AD203B41FA5}">
                      <a16:colId xmlns:a16="http://schemas.microsoft.com/office/drawing/2014/main" val="3043373647"/>
                    </a:ext>
                  </a:extLst>
                </a:gridCol>
                <a:gridCol w="1419284">
                  <a:extLst>
                    <a:ext uri="{9D8B030D-6E8A-4147-A177-3AD203B41FA5}">
                      <a16:colId xmlns:a16="http://schemas.microsoft.com/office/drawing/2014/main" val="6702701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103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Run 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103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hidden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103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layers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1030" b="1" kern="1200" dirty="0" err="1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bidir</a:t>
                      </a:r>
                      <a:endParaRPr lang="en-US" sz="103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103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pooling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103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Question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6E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256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mean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705" kern="1200" dirty="0">
                          <a:solidFill>
                            <a:srgbClr val="1F2528"/>
                          </a:solidFill>
                          <a:latin typeface="+mn-lt"/>
                          <a:ea typeface="+mn-ea"/>
                          <a:cs typeface="+mn-cs"/>
                        </a:rPr>
                        <a:t>Does mean pooling substitute for depth?</a:t>
                      </a:r>
                    </a:p>
                  </a:txBody>
                  <a:tcPr marL="123825" marR="123825" marT="57150" marB="57150" anchor="ctr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59426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 TECHNICAL ERA</a:t>
            </a:r>
            <a:endParaRPr lang="en-US" sz="880" dirty="0"/>
          </a:p>
        </p:txBody>
      </p:sp>
      <p:sp>
        <p:nvSpPr>
          <p:cNvPr id="3" name="Text 1"/>
          <p:cNvSpPr/>
          <p:nvPr/>
        </p:nvSpPr>
        <p:spPr>
          <a:xfrm>
            <a:off x="566928" y="512064"/>
            <a:ext cx="56573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Era shift: transfer learning with pretrained CNN models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2960" y="137160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2960" y="1664208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Learn the representation elsewhere. Adapt it here.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14400" y="2743200"/>
            <a:ext cx="2743200" cy="1005840"/>
          </a:xfrm>
          <a:prstGeom prst="rect">
            <a:avLst/>
          </a:prstGeom>
          <a:solidFill>
            <a:srgbClr val="FFFFFF"/>
          </a:solidFill>
          <a:ln w="15240">
            <a:solidFill>
              <a:srgbClr val="1767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97280" y="29718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35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Large audio datasets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97280" y="3246120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pretraining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886200" y="3246120"/>
            <a:ext cx="1069848" cy="0"/>
          </a:xfrm>
          <a:prstGeom prst="line">
            <a:avLst/>
          </a:prstGeom>
          <a:noFill/>
          <a:ln w="19050">
            <a:solidFill>
              <a:srgbClr val="BFC6C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138928" y="2743200"/>
            <a:ext cx="2148840" cy="1005840"/>
          </a:xfrm>
          <a:prstGeom prst="rect">
            <a:avLst/>
          </a:prstGeom>
          <a:solidFill>
            <a:srgbClr val="FDFDFB"/>
          </a:solidFill>
          <a:ln w="10160">
            <a:solidFill>
              <a:srgbClr val="1767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212080" y="3172968"/>
            <a:ext cx="20025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Pretrained</a:t>
            </a:r>
            <a:endParaRPr lang="en-US" sz="11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CNN-style encoder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452360" y="3246120"/>
            <a:ext cx="1005840" cy="0"/>
          </a:xfrm>
          <a:prstGeom prst="line">
            <a:avLst/>
          </a:prstGeom>
          <a:noFill/>
          <a:ln w="19050">
            <a:solidFill>
              <a:srgbClr val="BFC6C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641080" y="2743200"/>
            <a:ext cx="1920240" cy="1005840"/>
          </a:xfrm>
          <a:prstGeom prst="rect">
            <a:avLst/>
          </a:prstGeom>
          <a:solidFill>
            <a:srgbClr val="FDFDFB"/>
          </a:solidFill>
          <a:ln w="10160">
            <a:solidFill>
              <a:srgbClr val="BFC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714232" y="3172968"/>
            <a:ext cx="1773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ESC-50</a:t>
            </a:r>
            <a:endParaRPr lang="en-US" sz="11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fine-tuning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4400" y="4572000"/>
            <a:ext cx="9509760" cy="10241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3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ESC-50 is small for learning robust audio features from scratch.</a:t>
            </a:r>
            <a:endParaRPr lang="en-US" sz="1300" dirty="0"/>
          </a:p>
          <a:p>
            <a:endParaRPr lang="en-US" sz="1300" dirty="0"/>
          </a:p>
          <a:p>
            <a:r>
              <a:rPr lang="en-US" sz="13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 imports representations learned from much larger audio datasets.</a:t>
            </a:r>
            <a:endParaRPr lang="en-US" sz="1300" dirty="0"/>
          </a:p>
          <a:p>
            <a:endParaRPr lang="en-US" sz="1300" dirty="0"/>
          </a:p>
          <a:p>
            <a:r>
              <a:rPr lang="en-US" sz="13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era tests pretrained CNN-style audio models before transformer-based audio encoders.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50" dirty="0"/>
          </a:p>
        </p:txBody>
      </p:sp>
      <p:pic>
        <p:nvPicPr>
          <p:cNvPr id="31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62E0AF86-B513-90EF-C7B7-DDB5A9E396B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Shape 19">
            <a:extLst>
              <a:ext uri="{FF2B5EF4-FFF2-40B4-BE49-F238E27FC236}">
                <a16:creationId xmlns:a16="http://schemas.microsoft.com/office/drawing/2014/main" id="{260A39BB-675D-9A5C-9111-93699EA456EF}"/>
              </a:ext>
            </a:extLst>
          </p:cNvPr>
          <p:cNvSpPr/>
          <p:nvPr/>
        </p:nvSpPr>
        <p:spPr>
          <a:xfrm>
            <a:off x="6237447" y="751408"/>
            <a:ext cx="1809206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 dirty="0"/>
          </a:p>
        </p:txBody>
      </p:sp>
      <p:sp>
        <p:nvSpPr>
          <p:cNvPr id="33" name="Text 20">
            <a:extLst>
              <a:ext uri="{FF2B5EF4-FFF2-40B4-BE49-F238E27FC236}">
                <a16:creationId xmlns:a16="http://schemas.microsoft.com/office/drawing/2014/main" id="{BA526180-DF64-53B3-1180-B6DBF5A9B1C8}"/>
              </a:ext>
            </a:extLst>
          </p:cNvPr>
          <p:cNvSpPr/>
          <p:nvPr/>
        </p:nvSpPr>
        <p:spPr>
          <a:xfrm>
            <a:off x="6287692" y="833886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</a:rPr>
              <a:t>Training from scratch</a:t>
            </a:r>
          </a:p>
        </p:txBody>
      </p:sp>
      <p:sp>
        <p:nvSpPr>
          <p:cNvPr id="34" name="Text 21">
            <a:extLst>
              <a:ext uri="{FF2B5EF4-FFF2-40B4-BE49-F238E27FC236}">
                <a16:creationId xmlns:a16="http://schemas.microsoft.com/office/drawing/2014/main" id="{91AA0ADC-A28C-7C05-372C-FD6A76EC5657}"/>
              </a:ext>
            </a:extLst>
          </p:cNvPr>
          <p:cNvSpPr/>
          <p:nvPr/>
        </p:nvSpPr>
        <p:spPr>
          <a:xfrm>
            <a:off x="6295809" y="928966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 err="1">
                <a:solidFill>
                  <a:srgbClr val="6B7176"/>
                </a:solidFill>
                <a:latin typeface="Aptos" pitchFamily="34" charset="0"/>
              </a:rPr>
              <a:t>Piczak</a:t>
            </a:r>
            <a:r>
              <a:rPr lang="en-US" sz="500" dirty="0">
                <a:solidFill>
                  <a:srgbClr val="6B7176"/>
                </a:solidFill>
                <a:latin typeface="Aptos" pitchFamily="34" charset="0"/>
              </a:rPr>
              <a:t> CNN | Variations | LSTM</a:t>
            </a:r>
          </a:p>
        </p:txBody>
      </p:sp>
      <p:sp>
        <p:nvSpPr>
          <p:cNvPr id="35" name="Shape 22">
            <a:extLst>
              <a:ext uri="{FF2B5EF4-FFF2-40B4-BE49-F238E27FC236}">
                <a16:creationId xmlns:a16="http://schemas.microsoft.com/office/drawing/2014/main" id="{7BC609B8-2454-D1E2-FD78-ECFA4A2277B6}"/>
              </a:ext>
            </a:extLst>
          </p:cNvPr>
          <p:cNvSpPr/>
          <p:nvPr/>
        </p:nvSpPr>
        <p:spPr>
          <a:xfrm>
            <a:off x="7904546" y="750102"/>
            <a:ext cx="1809206" cy="295381"/>
          </a:xfrm>
          <a:prstGeom prst="chevron">
            <a:avLst/>
          </a:prstGeom>
          <a:solidFill>
            <a:srgbClr val="17677D"/>
          </a:solidFill>
          <a:ln w="12700">
            <a:solidFill>
              <a:srgbClr val="17677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23">
            <a:extLst>
              <a:ext uri="{FF2B5EF4-FFF2-40B4-BE49-F238E27FC236}">
                <a16:creationId xmlns:a16="http://schemas.microsoft.com/office/drawing/2014/main" id="{5795C228-2271-C0A9-F5DA-A886FEE6BFCA}"/>
              </a:ext>
            </a:extLst>
          </p:cNvPr>
          <p:cNvSpPr/>
          <p:nvPr/>
        </p:nvSpPr>
        <p:spPr>
          <a:xfrm>
            <a:off x="7976392" y="839252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</a:rPr>
              <a:t>Transfer learning: pretrained CNN</a:t>
            </a:r>
          </a:p>
        </p:txBody>
      </p:sp>
      <p:sp>
        <p:nvSpPr>
          <p:cNvPr id="37" name="Text 24">
            <a:extLst>
              <a:ext uri="{FF2B5EF4-FFF2-40B4-BE49-F238E27FC236}">
                <a16:creationId xmlns:a16="http://schemas.microsoft.com/office/drawing/2014/main" id="{9EEFE770-72AD-FDAB-7578-75687A89F7E1}"/>
              </a:ext>
            </a:extLst>
          </p:cNvPr>
          <p:cNvSpPr/>
          <p:nvPr/>
        </p:nvSpPr>
        <p:spPr>
          <a:xfrm>
            <a:off x="7997198" y="941012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500" dirty="0">
                <a:solidFill>
                  <a:srgbClr val="FFFFFF"/>
                </a:solidFill>
                <a:latin typeface="Aptos" pitchFamily="34" charset="0"/>
              </a:rPr>
              <a:t>VGGish | YAMNet</a:t>
            </a:r>
          </a:p>
        </p:txBody>
      </p:sp>
      <p:sp>
        <p:nvSpPr>
          <p:cNvPr id="38" name="Shape 25">
            <a:extLst>
              <a:ext uri="{FF2B5EF4-FFF2-40B4-BE49-F238E27FC236}">
                <a16:creationId xmlns:a16="http://schemas.microsoft.com/office/drawing/2014/main" id="{87FAA393-F71D-9400-5795-A3916A051E8B}"/>
              </a:ext>
            </a:extLst>
          </p:cNvPr>
          <p:cNvSpPr/>
          <p:nvPr/>
        </p:nvSpPr>
        <p:spPr>
          <a:xfrm>
            <a:off x="9564782" y="749723"/>
            <a:ext cx="1755200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39" name="Text 26">
            <a:extLst>
              <a:ext uri="{FF2B5EF4-FFF2-40B4-BE49-F238E27FC236}">
                <a16:creationId xmlns:a16="http://schemas.microsoft.com/office/drawing/2014/main" id="{180CCBB2-1146-638B-A7EE-280D19E1094A}"/>
              </a:ext>
            </a:extLst>
          </p:cNvPr>
          <p:cNvSpPr/>
          <p:nvPr/>
        </p:nvSpPr>
        <p:spPr>
          <a:xfrm>
            <a:off x="9657605" y="848441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learning: pretrained transformers</a:t>
            </a:r>
            <a:endParaRPr lang="en-US" sz="700" dirty="0"/>
          </a:p>
        </p:txBody>
      </p:sp>
      <p:sp>
        <p:nvSpPr>
          <p:cNvPr id="40" name="Text 27">
            <a:extLst>
              <a:ext uri="{FF2B5EF4-FFF2-40B4-BE49-F238E27FC236}">
                <a16:creationId xmlns:a16="http://schemas.microsoft.com/office/drawing/2014/main" id="{3FEF8C9C-411D-2FBC-9DE3-A476A096BB75}"/>
              </a:ext>
            </a:extLst>
          </p:cNvPr>
          <p:cNvSpPr/>
          <p:nvPr/>
        </p:nvSpPr>
        <p:spPr>
          <a:xfrm>
            <a:off x="9657605" y="944489"/>
            <a:ext cx="1662902" cy="107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AST | BEATs</a:t>
            </a:r>
            <a:endParaRPr lang="en-US" sz="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25">
            <a:extLst>
              <a:ext uri="{FF2B5EF4-FFF2-40B4-BE49-F238E27FC236}">
                <a16:creationId xmlns:a16="http://schemas.microsoft.com/office/drawing/2014/main" id="{9F30B7A7-BFD8-075B-34FF-ABCDEB723B59}"/>
              </a:ext>
            </a:extLst>
          </p:cNvPr>
          <p:cNvSpPr/>
          <p:nvPr/>
        </p:nvSpPr>
        <p:spPr>
          <a:xfrm>
            <a:off x="9550658" y="750101"/>
            <a:ext cx="1755200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2" name="Text 0"/>
          <p:cNvSpPr/>
          <p:nvPr/>
        </p:nvSpPr>
        <p:spPr>
          <a:xfrm>
            <a:off x="594360" y="310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ERA 2: PRETRAINED CNN MODELS</a:t>
            </a:r>
            <a:endParaRPr lang="en-US" sz="880" dirty="0"/>
          </a:p>
        </p:txBody>
      </p:sp>
      <p:sp>
        <p:nvSpPr>
          <p:cNvPr id="3" name="Text 1"/>
          <p:cNvSpPr/>
          <p:nvPr/>
        </p:nvSpPr>
        <p:spPr>
          <a:xfrm>
            <a:off x="566928" y="512064"/>
            <a:ext cx="55742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VGGish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731520" y="130759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1591056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85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Can earlier pretrained audio embeddings improve the relative to the </a:t>
            </a:r>
            <a:r>
              <a:rPr lang="en-US" sz="1850" b="1" dirty="0" err="1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Piczak</a:t>
            </a:r>
            <a:r>
              <a:rPr lang="en-US" sz="185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baseline?</a:t>
            </a:r>
            <a:endParaRPr lang="en-US" sz="1850" dirty="0"/>
          </a:p>
        </p:txBody>
      </p:sp>
      <p:pic>
        <p:nvPicPr>
          <p:cNvPr id="28" name="Image 0" descr="/Users/andrew/Library/CloudStorage/OneDrive-CornellUniversity/Courses/SYSEN5888/ Project/DeepLearning5888Project/Code/Transfer Learning/VGGish Results/VGGish_combined_training_test_metrics_1fold_5fol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12932" y="1591056"/>
            <a:ext cx="5739517" cy="2411187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50" dirty="0"/>
          </a:p>
        </p:txBody>
      </p:sp>
      <p:pic>
        <p:nvPicPr>
          <p:cNvPr id="39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70581EA3-7FD6-9274-5A7F-2276042D870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" name="Shape 19">
            <a:extLst>
              <a:ext uri="{FF2B5EF4-FFF2-40B4-BE49-F238E27FC236}">
                <a16:creationId xmlns:a16="http://schemas.microsoft.com/office/drawing/2014/main" id="{F4B1D313-400F-C86F-F1BC-66831C991BF8}"/>
              </a:ext>
            </a:extLst>
          </p:cNvPr>
          <p:cNvSpPr/>
          <p:nvPr/>
        </p:nvSpPr>
        <p:spPr>
          <a:xfrm>
            <a:off x="6237447" y="751408"/>
            <a:ext cx="1809206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 dirty="0"/>
          </a:p>
        </p:txBody>
      </p:sp>
      <p:sp>
        <p:nvSpPr>
          <p:cNvPr id="50" name="Text 20">
            <a:extLst>
              <a:ext uri="{FF2B5EF4-FFF2-40B4-BE49-F238E27FC236}">
                <a16:creationId xmlns:a16="http://schemas.microsoft.com/office/drawing/2014/main" id="{E1448172-5396-E3C6-4D40-8BDEEC0A707A}"/>
              </a:ext>
            </a:extLst>
          </p:cNvPr>
          <p:cNvSpPr/>
          <p:nvPr/>
        </p:nvSpPr>
        <p:spPr>
          <a:xfrm>
            <a:off x="6287692" y="833886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</a:rPr>
              <a:t>Training from scratch</a:t>
            </a:r>
          </a:p>
        </p:txBody>
      </p:sp>
      <p:sp>
        <p:nvSpPr>
          <p:cNvPr id="51" name="Text 21">
            <a:extLst>
              <a:ext uri="{FF2B5EF4-FFF2-40B4-BE49-F238E27FC236}">
                <a16:creationId xmlns:a16="http://schemas.microsoft.com/office/drawing/2014/main" id="{B54F4DD5-DC85-A01E-61D4-C388D677A0B4}"/>
              </a:ext>
            </a:extLst>
          </p:cNvPr>
          <p:cNvSpPr/>
          <p:nvPr/>
        </p:nvSpPr>
        <p:spPr>
          <a:xfrm>
            <a:off x="6295809" y="928966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 err="1">
                <a:solidFill>
                  <a:srgbClr val="6B7176"/>
                </a:solidFill>
                <a:latin typeface="Aptos" pitchFamily="34" charset="0"/>
              </a:rPr>
              <a:t>Piczak</a:t>
            </a:r>
            <a:r>
              <a:rPr lang="en-US" sz="500" dirty="0">
                <a:solidFill>
                  <a:srgbClr val="6B7176"/>
                </a:solidFill>
                <a:latin typeface="Aptos" pitchFamily="34" charset="0"/>
              </a:rPr>
              <a:t> CNN | Variations | LSTM</a:t>
            </a:r>
          </a:p>
        </p:txBody>
      </p:sp>
      <p:sp>
        <p:nvSpPr>
          <p:cNvPr id="52" name="Shape 22">
            <a:extLst>
              <a:ext uri="{FF2B5EF4-FFF2-40B4-BE49-F238E27FC236}">
                <a16:creationId xmlns:a16="http://schemas.microsoft.com/office/drawing/2014/main" id="{E25D3238-A5D6-1BEE-AC6D-187287686F9C}"/>
              </a:ext>
            </a:extLst>
          </p:cNvPr>
          <p:cNvSpPr/>
          <p:nvPr/>
        </p:nvSpPr>
        <p:spPr>
          <a:xfrm>
            <a:off x="7904546" y="750102"/>
            <a:ext cx="1809206" cy="295381"/>
          </a:xfrm>
          <a:prstGeom prst="chevron">
            <a:avLst/>
          </a:prstGeom>
          <a:solidFill>
            <a:srgbClr val="17677D"/>
          </a:solidFill>
          <a:ln w="12700">
            <a:solidFill>
              <a:srgbClr val="17677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23">
            <a:extLst>
              <a:ext uri="{FF2B5EF4-FFF2-40B4-BE49-F238E27FC236}">
                <a16:creationId xmlns:a16="http://schemas.microsoft.com/office/drawing/2014/main" id="{95E66961-629E-D6C7-A190-6EAAC2228176}"/>
              </a:ext>
            </a:extLst>
          </p:cNvPr>
          <p:cNvSpPr/>
          <p:nvPr/>
        </p:nvSpPr>
        <p:spPr>
          <a:xfrm>
            <a:off x="7976392" y="839252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</a:rPr>
              <a:t>Transfer learning: pretrained CNN</a:t>
            </a:r>
          </a:p>
        </p:txBody>
      </p:sp>
      <p:sp>
        <p:nvSpPr>
          <p:cNvPr id="54" name="Text 24">
            <a:extLst>
              <a:ext uri="{FF2B5EF4-FFF2-40B4-BE49-F238E27FC236}">
                <a16:creationId xmlns:a16="http://schemas.microsoft.com/office/drawing/2014/main" id="{0289B8E7-D505-8143-3E78-9A71FD0CFFD8}"/>
              </a:ext>
            </a:extLst>
          </p:cNvPr>
          <p:cNvSpPr/>
          <p:nvPr/>
        </p:nvSpPr>
        <p:spPr>
          <a:xfrm>
            <a:off x="7997198" y="941012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500" b="1" dirty="0">
                <a:solidFill>
                  <a:srgbClr val="FFFFFF"/>
                </a:solidFill>
                <a:latin typeface="Aptos" pitchFamily="34" charset="0"/>
              </a:rPr>
              <a:t>VGGish</a:t>
            </a:r>
            <a:r>
              <a:rPr lang="en-US" sz="500" dirty="0">
                <a:solidFill>
                  <a:srgbClr val="FFFFFF"/>
                </a:solidFill>
                <a:latin typeface="Aptos" pitchFamily="34" charset="0"/>
              </a:rPr>
              <a:t> | </a:t>
            </a:r>
            <a:r>
              <a:rPr lang="en-US" sz="500" dirty="0">
                <a:solidFill>
                  <a:schemeClr val="bg1">
                    <a:lumMod val="75000"/>
                  </a:schemeClr>
                </a:solidFill>
                <a:latin typeface="Aptos" pitchFamily="34" charset="0"/>
              </a:rPr>
              <a:t>YAMNet</a:t>
            </a:r>
          </a:p>
        </p:txBody>
      </p:sp>
      <p:sp>
        <p:nvSpPr>
          <p:cNvPr id="56" name="Text 26">
            <a:extLst>
              <a:ext uri="{FF2B5EF4-FFF2-40B4-BE49-F238E27FC236}">
                <a16:creationId xmlns:a16="http://schemas.microsoft.com/office/drawing/2014/main" id="{E0FD8DBC-AB01-E774-B34D-96709E6C3731}"/>
              </a:ext>
            </a:extLst>
          </p:cNvPr>
          <p:cNvSpPr/>
          <p:nvPr/>
        </p:nvSpPr>
        <p:spPr>
          <a:xfrm>
            <a:off x="9657605" y="848441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learning: pretrained transformers</a:t>
            </a:r>
            <a:endParaRPr lang="en-US" sz="700" dirty="0"/>
          </a:p>
        </p:txBody>
      </p:sp>
      <p:sp>
        <p:nvSpPr>
          <p:cNvPr id="57" name="Text 27">
            <a:extLst>
              <a:ext uri="{FF2B5EF4-FFF2-40B4-BE49-F238E27FC236}">
                <a16:creationId xmlns:a16="http://schemas.microsoft.com/office/drawing/2014/main" id="{18261ED5-3C63-046F-BC20-333C41372F6E}"/>
              </a:ext>
            </a:extLst>
          </p:cNvPr>
          <p:cNvSpPr/>
          <p:nvPr/>
        </p:nvSpPr>
        <p:spPr>
          <a:xfrm>
            <a:off x="9657605" y="944489"/>
            <a:ext cx="1662902" cy="107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AST | BEATs</a:t>
            </a:r>
            <a:endParaRPr lang="en-US" sz="500" dirty="0"/>
          </a:p>
        </p:txBody>
      </p:sp>
      <p:sp>
        <p:nvSpPr>
          <p:cNvPr id="62" name="Text 13">
            <a:extLst>
              <a:ext uri="{FF2B5EF4-FFF2-40B4-BE49-F238E27FC236}">
                <a16:creationId xmlns:a16="http://schemas.microsoft.com/office/drawing/2014/main" id="{229E2658-112E-F719-49CE-9985BC24BC31}"/>
              </a:ext>
            </a:extLst>
          </p:cNvPr>
          <p:cNvSpPr/>
          <p:nvPr/>
        </p:nvSpPr>
        <p:spPr>
          <a:xfrm>
            <a:off x="749808" y="2121408"/>
            <a:ext cx="4892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20" b="1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VGGish architecture</a:t>
            </a:r>
            <a:endParaRPr lang="en-US" sz="1020" dirty="0"/>
          </a:p>
        </p:txBody>
      </p:sp>
      <p:graphicFrame>
        <p:nvGraphicFramePr>
          <p:cNvPr id="63" name="Table 0">
            <a:extLst>
              <a:ext uri="{FF2B5EF4-FFF2-40B4-BE49-F238E27FC236}">
                <a16:creationId xmlns:a16="http://schemas.microsoft.com/office/drawing/2014/main" id="{67D2C704-0661-0B2F-A14F-6D045430F0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6448884"/>
              </p:ext>
            </p:extLst>
          </p:nvPr>
        </p:nvGraphicFramePr>
        <p:xfrm>
          <a:off x="694944" y="2359153"/>
          <a:ext cx="4443981" cy="1496568"/>
        </p:xfrm>
        <a:graphic>
          <a:graphicData uri="http://schemas.openxmlformats.org/drawingml/2006/table">
            <a:tbl>
              <a:tblPr/>
              <a:tblGrid>
                <a:gridCol w="11213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226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677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Parameters / implementation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67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4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b="1" dirty="0">
                          <a:solidFill>
                            <a:srgbClr val="1F2528"/>
                          </a:solidFill>
                        </a:rPr>
                        <a:t>Input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dirty="0">
                          <a:solidFill>
                            <a:srgbClr val="1F2528"/>
                          </a:solidFill>
                        </a:rPr>
                        <a:t>16 kHz waveform -&gt; VGGish log-mel examples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4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b="1" dirty="0">
                          <a:solidFill>
                            <a:srgbClr val="1F2528"/>
                          </a:solidFill>
                        </a:rPr>
                        <a:t>Encoder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dirty="0">
                          <a:solidFill>
                            <a:srgbClr val="1F2528"/>
                          </a:solidFill>
                        </a:rPr>
                        <a:t>Pretrained VGGish CNN embedding network; output 128-d vector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b="1" dirty="0">
                          <a:solidFill>
                            <a:srgbClr val="1F2528"/>
                          </a:solidFill>
                        </a:rPr>
                        <a:t>Head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dirty="0">
                          <a:solidFill>
                            <a:srgbClr val="1F2528"/>
                          </a:solidFill>
                        </a:rPr>
                        <a:t>Linear 128-&gt;256; ReLU; Dropout 0.3; Linear 256-&gt;50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b="1" dirty="0">
                          <a:solidFill>
                            <a:srgbClr val="1F2528"/>
                          </a:solidFill>
                        </a:rPr>
                        <a:t>Frozen run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dirty="0">
                          <a:solidFill>
                            <a:srgbClr val="1F2528"/>
                          </a:solidFill>
                        </a:rPr>
                        <a:t>Freeze VGGish; train classifier only; Adam lr 1e-3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4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b="1" dirty="0">
                          <a:solidFill>
                            <a:srgbClr val="1F2528"/>
                          </a:solidFill>
                        </a:rPr>
                        <a:t>Fine-tuned run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dirty="0">
                          <a:solidFill>
                            <a:srgbClr val="1F2528"/>
                          </a:solidFill>
                        </a:rPr>
                        <a:t>Train VGGish + classifier; Adam lr 1e-4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41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b="1" dirty="0">
                          <a:solidFill>
                            <a:srgbClr val="1F2528"/>
                          </a:solidFill>
                        </a:rPr>
                        <a:t>Training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dirty="0">
                          <a:solidFill>
                            <a:srgbClr val="1F2528"/>
                          </a:solidFill>
                        </a:rPr>
                        <a:t>CrossEntropyLoss; batch size 32; 50 epochs; 5 official folds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4" name="Table 1">
            <a:extLst>
              <a:ext uri="{FF2B5EF4-FFF2-40B4-BE49-F238E27FC236}">
                <a16:creationId xmlns:a16="http://schemas.microsoft.com/office/drawing/2014/main" id="{D91EE508-A360-8F17-6E14-BE21897426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833763"/>
              </p:ext>
            </p:extLst>
          </p:nvPr>
        </p:nvGraphicFramePr>
        <p:xfrm>
          <a:off x="6141156" y="4226223"/>
          <a:ext cx="4389120" cy="749808"/>
        </p:xfrm>
        <a:graphic>
          <a:graphicData uri="http://schemas.openxmlformats.org/drawingml/2006/table">
            <a:tbl>
              <a:tblPr/>
              <a:tblGrid>
                <a:gridCol w="2106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11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11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9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</a:rPr>
                        <a:t>Variant</a:t>
                      </a:r>
                      <a:endParaRPr lang="en-US" sz="920" dirty="0"/>
                    </a:p>
                  </a:txBody>
                  <a:tcPr marL="50292" marR="50292" marT="50292" marB="50292">
                    <a:lnL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677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</a:rPr>
                        <a:t>Final</a:t>
                      </a:r>
                      <a:endParaRPr lang="en-US" sz="920" dirty="0"/>
                    </a:p>
                  </a:txBody>
                  <a:tcPr marL="50292" marR="50292" marT="50292" marB="50292">
                    <a:lnL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677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</a:rPr>
                        <a:t>Best</a:t>
                      </a:r>
                      <a:endParaRPr lang="en-US" sz="920" dirty="0"/>
                    </a:p>
                  </a:txBody>
                  <a:tcPr marL="50292" marR="50292" marT="50292" marB="50292">
                    <a:lnL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67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9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70" b="1" dirty="0">
                          <a:solidFill>
                            <a:srgbClr val="1F2528"/>
                          </a:solidFill>
                        </a:rPr>
                        <a:t>Frozen</a:t>
                      </a:r>
                      <a:endParaRPr lang="en-US" sz="870" dirty="0"/>
                    </a:p>
                  </a:txBody>
                  <a:tcPr marL="50292" marR="50292" marT="50292" marB="50292">
                    <a:lnL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70" dirty="0">
                          <a:solidFill>
                            <a:srgbClr val="1F2528"/>
                          </a:solidFill>
                        </a:rPr>
                        <a:t>56.45%</a:t>
                      </a:r>
                      <a:endParaRPr lang="en-US" sz="870" dirty="0"/>
                    </a:p>
                  </a:txBody>
                  <a:tcPr marL="50292" marR="50292" marT="50292" marB="50292">
                    <a:lnL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70" dirty="0">
                          <a:solidFill>
                            <a:srgbClr val="1F2528"/>
                          </a:solidFill>
                        </a:rPr>
                        <a:t>60.25%</a:t>
                      </a:r>
                      <a:endParaRPr lang="en-US" sz="870" dirty="0"/>
                    </a:p>
                  </a:txBody>
                  <a:tcPr marL="50292" marR="50292" marT="50292" marB="50292">
                    <a:lnL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9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70" b="1" dirty="0">
                          <a:solidFill>
                            <a:srgbClr val="1F2528"/>
                          </a:solidFill>
                        </a:rPr>
                        <a:t>Fine-tuned</a:t>
                      </a:r>
                      <a:endParaRPr lang="en-US" sz="870" dirty="0"/>
                    </a:p>
                  </a:txBody>
                  <a:tcPr marL="50292" marR="50292" marT="50292" marB="50292">
                    <a:lnL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70" dirty="0">
                          <a:solidFill>
                            <a:srgbClr val="1F2528"/>
                          </a:solidFill>
                        </a:rPr>
                        <a:t>53.15%</a:t>
                      </a:r>
                      <a:endParaRPr lang="en-US" sz="870" dirty="0"/>
                    </a:p>
                  </a:txBody>
                  <a:tcPr marL="50292" marR="50292" marT="50292" marB="50292">
                    <a:lnL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70" dirty="0">
                          <a:solidFill>
                            <a:srgbClr val="1F2528"/>
                          </a:solidFill>
                        </a:rPr>
                        <a:t>53.50%</a:t>
                      </a:r>
                      <a:endParaRPr lang="en-US" sz="870" dirty="0"/>
                    </a:p>
                  </a:txBody>
                  <a:tcPr marL="50292" marR="50292" marT="50292" marB="50292">
                    <a:lnL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7" name="Text 36">
            <a:extLst>
              <a:ext uri="{FF2B5EF4-FFF2-40B4-BE49-F238E27FC236}">
                <a16:creationId xmlns:a16="http://schemas.microsoft.com/office/drawing/2014/main" id="{7B2605E7-9EA7-2676-394D-83EB409E56B8}"/>
              </a:ext>
            </a:extLst>
          </p:cNvPr>
          <p:cNvSpPr/>
          <p:nvPr/>
        </p:nvSpPr>
        <p:spPr>
          <a:xfrm>
            <a:off x="731520" y="442569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000" b="1" dirty="0">
                <a:solidFill>
                  <a:srgbClr val="17677D"/>
                </a:solidFill>
                <a:latin typeface="Aptos" pitchFamily="34" charset="0"/>
              </a:rPr>
              <a:t>Results</a:t>
            </a:r>
          </a:p>
        </p:txBody>
      </p:sp>
      <p:sp>
        <p:nvSpPr>
          <p:cNvPr id="68" name="Text 37">
            <a:extLst>
              <a:ext uri="{FF2B5EF4-FFF2-40B4-BE49-F238E27FC236}">
                <a16:creationId xmlns:a16="http://schemas.microsoft.com/office/drawing/2014/main" id="{52A94FD0-6FBB-522B-5D0B-8FE8E3D8FA09}"/>
              </a:ext>
            </a:extLst>
          </p:cNvPr>
          <p:cNvSpPr/>
          <p:nvPr/>
        </p:nvSpPr>
        <p:spPr>
          <a:xfrm>
            <a:off x="731520" y="4727447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Pretraining is not automatically enough; representation fit and optimization choices matter.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25">
            <a:extLst>
              <a:ext uri="{FF2B5EF4-FFF2-40B4-BE49-F238E27FC236}">
                <a16:creationId xmlns:a16="http://schemas.microsoft.com/office/drawing/2014/main" id="{003BDCF6-125D-752B-9C1A-DC280FBB809A}"/>
              </a:ext>
            </a:extLst>
          </p:cNvPr>
          <p:cNvSpPr/>
          <p:nvPr/>
        </p:nvSpPr>
        <p:spPr>
          <a:xfrm>
            <a:off x="9550658" y="750101"/>
            <a:ext cx="1755200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2" name="Text 0"/>
          <p:cNvSpPr/>
          <p:nvPr/>
        </p:nvSpPr>
        <p:spPr>
          <a:xfrm>
            <a:off x="594360" y="310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ERA 2: PRETRAINED CNN MODELS</a:t>
            </a:r>
            <a:endParaRPr lang="en-US" sz="880" dirty="0"/>
          </a:p>
        </p:txBody>
      </p:sp>
      <p:sp>
        <p:nvSpPr>
          <p:cNvPr id="3" name="Text 1"/>
          <p:cNvSpPr/>
          <p:nvPr/>
        </p:nvSpPr>
        <p:spPr>
          <a:xfrm>
            <a:off x="566928" y="51206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YAMNet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731520" y="130759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19" y="1591056"/>
            <a:ext cx="515112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85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happens when the pretrained audio representation is a better fit?</a:t>
            </a:r>
            <a:endParaRPr lang="en-US" sz="1850" dirty="0"/>
          </a:p>
        </p:txBody>
      </p:sp>
      <p:sp>
        <p:nvSpPr>
          <p:cNvPr id="30" name="Shape 28"/>
          <p:cNvSpPr/>
          <p:nvPr/>
        </p:nvSpPr>
        <p:spPr>
          <a:xfrm>
            <a:off x="6591302" y="4233671"/>
            <a:ext cx="1965960" cy="914400"/>
          </a:xfrm>
          <a:prstGeom prst="rect">
            <a:avLst/>
          </a:prstGeom>
          <a:solidFill>
            <a:srgbClr val="FFFFFF">
              <a:alpha val="98000"/>
            </a:srgbClr>
          </a:solidFill>
          <a:ln w="17780">
            <a:solidFill>
              <a:srgbClr val="1767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682742" y="4370831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2100" b="1" dirty="0">
                <a:solidFill>
                  <a:srgbClr val="17677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83.4%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6701030" y="4764023"/>
            <a:ext cx="1746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8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fine-tuned final 5-fold accuracy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8785862" y="456285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2000"/>
              </a:lnSpc>
              <a:buNone/>
            </a:pPr>
            <a:r>
              <a:rPr lang="en-US" sz="850" i="1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Best: 84.45%. First large jump in the current results.</a:t>
            </a:r>
            <a:endParaRPr lang="en-US" sz="850" dirty="0"/>
          </a:p>
        </p:txBody>
      </p:sp>
      <p:pic>
        <p:nvPicPr>
          <p:cNvPr id="34" name="Image 0" descr="/Users/andrew/Library/CloudStorage/OneDrive-CornellUniversity/Courses/SYSEN5888/ Project/DeepLearning5888Project/Code/Transfer Learning/YAMNet Results/YAMNet_combined_training_test_metrics_1fold_5fol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09359" y="1591056"/>
            <a:ext cx="5442459" cy="2411188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50" dirty="0"/>
          </a:p>
        </p:txBody>
      </p:sp>
      <p:pic>
        <p:nvPicPr>
          <p:cNvPr id="45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A6CF9356-F464-4F9F-22FC-0A0714780E0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Shape 19">
            <a:extLst>
              <a:ext uri="{FF2B5EF4-FFF2-40B4-BE49-F238E27FC236}">
                <a16:creationId xmlns:a16="http://schemas.microsoft.com/office/drawing/2014/main" id="{9FB734A9-3F3D-6A1D-B198-4C7253BF63F8}"/>
              </a:ext>
            </a:extLst>
          </p:cNvPr>
          <p:cNvSpPr/>
          <p:nvPr/>
        </p:nvSpPr>
        <p:spPr>
          <a:xfrm>
            <a:off x="6237447" y="751408"/>
            <a:ext cx="1809206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 dirty="0"/>
          </a:p>
        </p:txBody>
      </p:sp>
      <p:sp>
        <p:nvSpPr>
          <p:cNvPr id="56" name="Text 20">
            <a:extLst>
              <a:ext uri="{FF2B5EF4-FFF2-40B4-BE49-F238E27FC236}">
                <a16:creationId xmlns:a16="http://schemas.microsoft.com/office/drawing/2014/main" id="{7EEEC568-8D1D-A247-54D9-BD979C391F09}"/>
              </a:ext>
            </a:extLst>
          </p:cNvPr>
          <p:cNvSpPr/>
          <p:nvPr/>
        </p:nvSpPr>
        <p:spPr>
          <a:xfrm>
            <a:off x="6287692" y="833886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</a:rPr>
              <a:t>Training from scratch</a:t>
            </a:r>
          </a:p>
        </p:txBody>
      </p:sp>
      <p:sp>
        <p:nvSpPr>
          <p:cNvPr id="57" name="Text 21">
            <a:extLst>
              <a:ext uri="{FF2B5EF4-FFF2-40B4-BE49-F238E27FC236}">
                <a16:creationId xmlns:a16="http://schemas.microsoft.com/office/drawing/2014/main" id="{CC1A0317-BD8A-6DB5-06DF-98AE0644F807}"/>
              </a:ext>
            </a:extLst>
          </p:cNvPr>
          <p:cNvSpPr/>
          <p:nvPr/>
        </p:nvSpPr>
        <p:spPr>
          <a:xfrm>
            <a:off x="6295809" y="928966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 err="1">
                <a:solidFill>
                  <a:srgbClr val="6B7176"/>
                </a:solidFill>
                <a:latin typeface="Aptos" pitchFamily="34" charset="0"/>
              </a:rPr>
              <a:t>Piczak</a:t>
            </a:r>
            <a:r>
              <a:rPr lang="en-US" sz="500" dirty="0">
                <a:solidFill>
                  <a:srgbClr val="6B7176"/>
                </a:solidFill>
                <a:latin typeface="Aptos" pitchFamily="34" charset="0"/>
              </a:rPr>
              <a:t> CNN | Variations | LSTM</a:t>
            </a:r>
          </a:p>
        </p:txBody>
      </p:sp>
      <p:sp>
        <p:nvSpPr>
          <p:cNvPr id="58" name="Shape 22">
            <a:extLst>
              <a:ext uri="{FF2B5EF4-FFF2-40B4-BE49-F238E27FC236}">
                <a16:creationId xmlns:a16="http://schemas.microsoft.com/office/drawing/2014/main" id="{C64B0169-1E3C-B2D1-805B-689FC3168121}"/>
              </a:ext>
            </a:extLst>
          </p:cNvPr>
          <p:cNvSpPr/>
          <p:nvPr/>
        </p:nvSpPr>
        <p:spPr>
          <a:xfrm>
            <a:off x="7904546" y="750102"/>
            <a:ext cx="1809206" cy="295381"/>
          </a:xfrm>
          <a:prstGeom prst="chevron">
            <a:avLst/>
          </a:prstGeom>
          <a:solidFill>
            <a:srgbClr val="17677D"/>
          </a:solidFill>
          <a:ln w="12700">
            <a:solidFill>
              <a:srgbClr val="17677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23">
            <a:extLst>
              <a:ext uri="{FF2B5EF4-FFF2-40B4-BE49-F238E27FC236}">
                <a16:creationId xmlns:a16="http://schemas.microsoft.com/office/drawing/2014/main" id="{3A24B8D1-6B05-EFEA-E0CB-87488A54C727}"/>
              </a:ext>
            </a:extLst>
          </p:cNvPr>
          <p:cNvSpPr/>
          <p:nvPr/>
        </p:nvSpPr>
        <p:spPr>
          <a:xfrm>
            <a:off x="7976392" y="839252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</a:rPr>
              <a:t>Transfer learning: pretrained CNN</a:t>
            </a:r>
          </a:p>
        </p:txBody>
      </p:sp>
      <p:sp>
        <p:nvSpPr>
          <p:cNvPr id="60" name="Text 24">
            <a:extLst>
              <a:ext uri="{FF2B5EF4-FFF2-40B4-BE49-F238E27FC236}">
                <a16:creationId xmlns:a16="http://schemas.microsoft.com/office/drawing/2014/main" id="{56E65613-9803-A5A5-221F-6E7A087FFDD7}"/>
              </a:ext>
            </a:extLst>
          </p:cNvPr>
          <p:cNvSpPr/>
          <p:nvPr/>
        </p:nvSpPr>
        <p:spPr>
          <a:xfrm>
            <a:off x="7997198" y="941012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500" dirty="0">
                <a:solidFill>
                  <a:schemeClr val="bg1">
                    <a:lumMod val="75000"/>
                  </a:schemeClr>
                </a:solidFill>
                <a:latin typeface="Aptos" pitchFamily="34" charset="0"/>
              </a:rPr>
              <a:t>VGGish</a:t>
            </a:r>
            <a:r>
              <a:rPr lang="en-US" sz="500" dirty="0">
                <a:solidFill>
                  <a:srgbClr val="FFFFFF"/>
                </a:solidFill>
                <a:latin typeface="Aptos" pitchFamily="34" charset="0"/>
              </a:rPr>
              <a:t> | </a:t>
            </a:r>
            <a:r>
              <a:rPr lang="en-US" sz="500" b="1" dirty="0">
                <a:solidFill>
                  <a:srgbClr val="FFFFFF"/>
                </a:solidFill>
                <a:latin typeface="Aptos" pitchFamily="34" charset="0"/>
              </a:rPr>
              <a:t>YAMNet</a:t>
            </a:r>
          </a:p>
        </p:txBody>
      </p:sp>
      <p:sp>
        <p:nvSpPr>
          <p:cNvPr id="62" name="Text 26">
            <a:extLst>
              <a:ext uri="{FF2B5EF4-FFF2-40B4-BE49-F238E27FC236}">
                <a16:creationId xmlns:a16="http://schemas.microsoft.com/office/drawing/2014/main" id="{73701628-7466-B7E9-9E47-C696F80672F6}"/>
              </a:ext>
            </a:extLst>
          </p:cNvPr>
          <p:cNvSpPr/>
          <p:nvPr/>
        </p:nvSpPr>
        <p:spPr>
          <a:xfrm>
            <a:off x="9657605" y="848441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learning: pretrained transformers</a:t>
            </a:r>
            <a:endParaRPr lang="en-US" sz="700" dirty="0"/>
          </a:p>
        </p:txBody>
      </p:sp>
      <p:sp>
        <p:nvSpPr>
          <p:cNvPr id="63" name="Text 27">
            <a:extLst>
              <a:ext uri="{FF2B5EF4-FFF2-40B4-BE49-F238E27FC236}">
                <a16:creationId xmlns:a16="http://schemas.microsoft.com/office/drawing/2014/main" id="{8A9215E1-DC92-3ED3-78F4-FF15A37D59B3}"/>
              </a:ext>
            </a:extLst>
          </p:cNvPr>
          <p:cNvSpPr/>
          <p:nvPr/>
        </p:nvSpPr>
        <p:spPr>
          <a:xfrm>
            <a:off x="9657605" y="944489"/>
            <a:ext cx="1662902" cy="107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AST | BEATs</a:t>
            </a:r>
            <a:endParaRPr lang="en-US" sz="500" dirty="0"/>
          </a:p>
        </p:txBody>
      </p:sp>
      <p:sp>
        <p:nvSpPr>
          <p:cNvPr id="68" name="Text 13">
            <a:extLst>
              <a:ext uri="{FF2B5EF4-FFF2-40B4-BE49-F238E27FC236}">
                <a16:creationId xmlns:a16="http://schemas.microsoft.com/office/drawing/2014/main" id="{D65B3722-690B-6A70-D033-B267473F440F}"/>
              </a:ext>
            </a:extLst>
          </p:cNvPr>
          <p:cNvSpPr/>
          <p:nvPr/>
        </p:nvSpPr>
        <p:spPr>
          <a:xfrm>
            <a:off x="743752" y="2121408"/>
            <a:ext cx="4892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20" b="1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YAMNet architecture</a:t>
            </a:r>
            <a:endParaRPr lang="en-US" sz="1020" dirty="0"/>
          </a:p>
        </p:txBody>
      </p:sp>
      <p:graphicFrame>
        <p:nvGraphicFramePr>
          <p:cNvPr id="69" name="Table 0">
            <a:extLst>
              <a:ext uri="{FF2B5EF4-FFF2-40B4-BE49-F238E27FC236}">
                <a16:creationId xmlns:a16="http://schemas.microsoft.com/office/drawing/2014/main" id="{46B5B267-118C-B356-F03A-B58B4EA427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9157142"/>
              </p:ext>
            </p:extLst>
          </p:nvPr>
        </p:nvGraphicFramePr>
        <p:xfrm>
          <a:off x="694943" y="2359153"/>
          <a:ext cx="4434169" cy="1496568"/>
        </p:xfrm>
        <a:graphic>
          <a:graphicData uri="http://schemas.openxmlformats.org/drawingml/2006/table">
            <a:tbl>
              <a:tblPr/>
              <a:tblGrid>
                <a:gridCol w="11189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152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677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Parameters / implementation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67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b="1" dirty="0">
                          <a:solidFill>
                            <a:srgbClr val="1F2528"/>
                          </a:solidFill>
                        </a:rPr>
                        <a:t>Input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dirty="0">
                          <a:solidFill>
                            <a:srgbClr val="1F2528"/>
                          </a:solidFill>
                        </a:rPr>
                        <a:t>16 kHz mono waveform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b="1" dirty="0">
                          <a:solidFill>
                            <a:srgbClr val="1F2528"/>
                          </a:solidFill>
                        </a:rPr>
                        <a:t>Encoder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dirty="0">
                          <a:solidFill>
                            <a:srgbClr val="1F2528"/>
                          </a:solidFill>
                        </a:rPr>
                        <a:t>TF Hub YAMNet, AudioSet-pretrained; output 1024-d embedding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b="1" dirty="0">
                          <a:solidFill>
                            <a:srgbClr val="1F2528"/>
                          </a:solidFill>
                        </a:rPr>
                        <a:t>Head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dirty="0">
                          <a:solidFill>
                            <a:srgbClr val="1F2528"/>
                          </a:solidFill>
                        </a:rPr>
                        <a:t>Linear 1024-&gt;256; ReLU; Dropout 0.3; Linear 256-&gt;50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b="1" dirty="0">
                          <a:solidFill>
                            <a:srgbClr val="1F2528"/>
                          </a:solidFill>
                        </a:rPr>
                        <a:t>Frozen run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dirty="0">
                          <a:solidFill>
                            <a:srgbClr val="1F2528"/>
                          </a:solidFill>
                        </a:rPr>
                        <a:t>Train classifier on fixed embeddings; Adam lr 1e-3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b="1" dirty="0">
                          <a:solidFill>
                            <a:srgbClr val="1F2528"/>
                          </a:solidFill>
                        </a:rPr>
                        <a:t>Classifier tune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dirty="0">
                          <a:solidFill>
                            <a:srgbClr val="1F2528"/>
                          </a:solidFill>
                        </a:rPr>
                        <a:t>YAMNet remains fixed; new classifier trained with Adam lr 1e-4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b="1" dirty="0">
                          <a:solidFill>
                            <a:srgbClr val="1F2528"/>
                          </a:solidFill>
                        </a:rPr>
                        <a:t>Training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95" dirty="0">
                          <a:solidFill>
                            <a:srgbClr val="1F2528"/>
                          </a:solidFill>
                        </a:rPr>
                        <a:t>CrossEntropyLoss; batch size 32; 50 epochs; 5 official folds</a:t>
                      </a:r>
                      <a:endParaRPr lang="en-US" sz="69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0" name="Text 36">
            <a:extLst>
              <a:ext uri="{FF2B5EF4-FFF2-40B4-BE49-F238E27FC236}">
                <a16:creationId xmlns:a16="http://schemas.microsoft.com/office/drawing/2014/main" id="{00621A5F-23F3-77A3-47FA-30F93A28A86D}"/>
              </a:ext>
            </a:extLst>
          </p:cNvPr>
          <p:cNvSpPr/>
          <p:nvPr/>
        </p:nvSpPr>
        <p:spPr>
          <a:xfrm>
            <a:off x="731520" y="442569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000" b="1" dirty="0">
                <a:solidFill>
                  <a:srgbClr val="17677D"/>
                </a:solidFill>
                <a:latin typeface="Aptos" pitchFamily="34" charset="0"/>
              </a:rPr>
              <a:t>Results</a:t>
            </a:r>
          </a:p>
        </p:txBody>
      </p:sp>
      <p:sp>
        <p:nvSpPr>
          <p:cNvPr id="71" name="Text 37">
            <a:extLst>
              <a:ext uri="{FF2B5EF4-FFF2-40B4-BE49-F238E27FC236}">
                <a16:creationId xmlns:a16="http://schemas.microsoft.com/office/drawing/2014/main" id="{41DEDCE1-BA55-0A8D-0CD7-DA8D8C454FDE}"/>
              </a:ext>
            </a:extLst>
          </p:cNvPr>
          <p:cNvSpPr/>
          <p:nvPr/>
        </p:nvSpPr>
        <p:spPr>
          <a:xfrm>
            <a:off x="731520" y="4727447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Transfer learning quality matters: a stronger domain-pretrained model moves the result well beyond the from-scratch range.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THIRD TECHNICAL ERA</a:t>
            </a:r>
            <a:endParaRPr lang="en-US" sz="880" dirty="0"/>
          </a:p>
        </p:txBody>
      </p:sp>
      <p:sp>
        <p:nvSpPr>
          <p:cNvPr id="3" name="Text 1"/>
          <p:cNvSpPr/>
          <p:nvPr/>
        </p:nvSpPr>
        <p:spPr>
          <a:xfrm>
            <a:off x="566928" y="512064"/>
            <a:ext cx="5742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Era shift: transfer learning with pretrained audio transformers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2960" y="137160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B65D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2960" y="1664208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4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Pretrained representations plus broader context.</a:t>
            </a:r>
            <a:endParaRPr lang="en-US" sz="2400" dirty="0"/>
          </a:p>
        </p:txBody>
      </p:sp>
      <p:sp>
        <p:nvSpPr>
          <p:cNvPr id="481" name="Shape 479"/>
          <p:cNvSpPr/>
          <p:nvPr/>
        </p:nvSpPr>
        <p:spPr>
          <a:xfrm>
            <a:off x="960120" y="2889504"/>
            <a:ext cx="274320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5715">
            <a:solidFill>
              <a:srgbClr val="3038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2" name="Shape 480"/>
          <p:cNvSpPr/>
          <p:nvPr/>
        </p:nvSpPr>
        <p:spPr>
          <a:xfrm>
            <a:off x="4251960" y="2926080"/>
            <a:ext cx="1554480" cy="731520"/>
          </a:xfrm>
          <a:prstGeom prst="rect">
            <a:avLst/>
          </a:prstGeom>
          <a:solidFill>
            <a:srgbClr val="FDFDFB"/>
          </a:solidFill>
          <a:ln w="10160">
            <a:solidFill>
              <a:srgbClr val="1767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3" name="Text 481"/>
          <p:cNvSpPr/>
          <p:nvPr/>
        </p:nvSpPr>
        <p:spPr>
          <a:xfrm>
            <a:off x="4325112" y="3218688"/>
            <a:ext cx="1408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filters</a:t>
            </a:r>
            <a:endParaRPr lang="en-US" sz="1100" dirty="0"/>
          </a:p>
        </p:txBody>
      </p:sp>
      <p:sp>
        <p:nvSpPr>
          <p:cNvPr id="484" name="Shape 482"/>
          <p:cNvSpPr/>
          <p:nvPr/>
        </p:nvSpPr>
        <p:spPr>
          <a:xfrm>
            <a:off x="3703320" y="3429000"/>
            <a:ext cx="457200" cy="0"/>
          </a:xfrm>
          <a:prstGeom prst="line">
            <a:avLst/>
          </a:prstGeom>
          <a:noFill/>
          <a:ln w="15240">
            <a:solidFill>
              <a:srgbClr val="BFC6C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85" name="Shape 483"/>
          <p:cNvSpPr/>
          <p:nvPr/>
        </p:nvSpPr>
        <p:spPr>
          <a:xfrm>
            <a:off x="5916168" y="3429000"/>
            <a:ext cx="713232" cy="0"/>
          </a:xfrm>
          <a:prstGeom prst="line">
            <a:avLst/>
          </a:prstGeom>
          <a:noFill/>
          <a:ln w="15240">
            <a:solidFill>
              <a:srgbClr val="BFC6C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86" name="Shape 484"/>
          <p:cNvSpPr/>
          <p:nvPr/>
        </p:nvSpPr>
        <p:spPr>
          <a:xfrm>
            <a:off x="6812280" y="2926080"/>
            <a:ext cx="2057400" cy="1097280"/>
          </a:xfrm>
          <a:prstGeom prst="rect">
            <a:avLst/>
          </a:prstGeom>
          <a:solidFill>
            <a:srgbClr val="FFF9EA"/>
          </a:solidFill>
          <a:ln w="10160">
            <a:solidFill>
              <a:srgbClr val="B65D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7" name="Text 485"/>
          <p:cNvSpPr/>
          <p:nvPr/>
        </p:nvSpPr>
        <p:spPr>
          <a:xfrm>
            <a:off x="6885432" y="3401568"/>
            <a:ext cx="1911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Attention over</a:t>
            </a:r>
            <a:endParaRPr lang="en-US" sz="11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larger context</a:t>
            </a:r>
            <a:endParaRPr lang="en-US" sz="1100" dirty="0"/>
          </a:p>
        </p:txBody>
      </p:sp>
      <p:sp>
        <p:nvSpPr>
          <p:cNvPr id="488" name="Shape 486"/>
          <p:cNvSpPr/>
          <p:nvPr/>
        </p:nvSpPr>
        <p:spPr>
          <a:xfrm>
            <a:off x="9034272" y="3429000"/>
            <a:ext cx="612648" cy="0"/>
          </a:xfrm>
          <a:prstGeom prst="line">
            <a:avLst/>
          </a:prstGeom>
          <a:noFill/>
          <a:ln w="15240">
            <a:solidFill>
              <a:srgbClr val="BFC6C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89" name="Shape 487"/>
          <p:cNvSpPr/>
          <p:nvPr/>
        </p:nvSpPr>
        <p:spPr>
          <a:xfrm>
            <a:off x="9829800" y="2889504"/>
            <a:ext cx="1600200" cy="804672"/>
          </a:xfrm>
          <a:prstGeom prst="rect">
            <a:avLst/>
          </a:prstGeom>
          <a:solidFill>
            <a:srgbClr val="FDFDFB"/>
          </a:solidFill>
          <a:ln w="10160">
            <a:solidFill>
              <a:srgbClr val="BFC6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0" name="Text 488"/>
          <p:cNvSpPr/>
          <p:nvPr/>
        </p:nvSpPr>
        <p:spPr>
          <a:xfrm>
            <a:off x="9902952" y="321868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ESC-50</a:t>
            </a:r>
            <a:endParaRPr lang="en-US" sz="110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adaptation</a:t>
            </a:r>
            <a:endParaRPr lang="en-US" sz="1100" dirty="0"/>
          </a:p>
        </p:txBody>
      </p:sp>
      <p:sp>
        <p:nvSpPr>
          <p:cNvPr id="491" name="Text 489"/>
          <p:cNvSpPr/>
          <p:nvPr/>
        </p:nvSpPr>
        <p:spPr>
          <a:xfrm>
            <a:off x="914400" y="4846320"/>
            <a:ext cx="9692640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r>
              <a:rPr lang="en-US" sz="13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Still transfer learning: the backbone starts with external audio knowledge.</a:t>
            </a:r>
            <a:endParaRPr lang="en-US" sz="1300" dirty="0"/>
          </a:p>
          <a:p>
            <a:endParaRPr lang="en-US" sz="1300" dirty="0"/>
          </a:p>
          <a:p>
            <a:r>
              <a:rPr lang="en-US" sz="13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period: attention and foundation-style encoders support broader context.</a:t>
            </a:r>
            <a:endParaRPr lang="en-US" sz="1300" dirty="0"/>
          </a:p>
          <a:p>
            <a:endParaRPr lang="en-US" sz="1300" dirty="0"/>
          </a:p>
          <a:p>
            <a:r>
              <a:rPr lang="en-US" sz="13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AST and BEATs represent two modern paths through the same idea.</a:t>
            </a:r>
            <a:endParaRPr lang="en-US" sz="1300" dirty="0"/>
          </a:p>
        </p:txBody>
      </p:sp>
      <p:sp>
        <p:nvSpPr>
          <p:cNvPr id="492" name="Text 490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50" dirty="0"/>
          </a:p>
        </p:txBody>
      </p:sp>
      <p:pic>
        <p:nvPicPr>
          <p:cNvPr id="1026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39D6C283-413E-0506-7794-6C39F4D5F3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4" name="Shape 19">
            <a:extLst>
              <a:ext uri="{FF2B5EF4-FFF2-40B4-BE49-F238E27FC236}">
                <a16:creationId xmlns:a16="http://schemas.microsoft.com/office/drawing/2014/main" id="{532395DC-B8BE-A567-6C77-23D673F69D3A}"/>
              </a:ext>
            </a:extLst>
          </p:cNvPr>
          <p:cNvSpPr/>
          <p:nvPr/>
        </p:nvSpPr>
        <p:spPr>
          <a:xfrm>
            <a:off x="6237447" y="751408"/>
            <a:ext cx="1809206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 dirty="0"/>
          </a:p>
        </p:txBody>
      </p:sp>
      <p:sp>
        <p:nvSpPr>
          <p:cNvPr id="1025" name="Text 20">
            <a:extLst>
              <a:ext uri="{FF2B5EF4-FFF2-40B4-BE49-F238E27FC236}">
                <a16:creationId xmlns:a16="http://schemas.microsoft.com/office/drawing/2014/main" id="{46F29E94-DAA7-594B-F1B5-B162A771F510}"/>
              </a:ext>
            </a:extLst>
          </p:cNvPr>
          <p:cNvSpPr/>
          <p:nvPr/>
        </p:nvSpPr>
        <p:spPr>
          <a:xfrm>
            <a:off x="6287692" y="833886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</a:rPr>
              <a:t>Training from scratch</a:t>
            </a:r>
          </a:p>
        </p:txBody>
      </p:sp>
      <p:sp>
        <p:nvSpPr>
          <p:cNvPr id="1027" name="Text 21">
            <a:extLst>
              <a:ext uri="{FF2B5EF4-FFF2-40B4-BE49-F238E27FC236}">
                <a16:creationId xmlns:a16="http://schemas.microsoft.com/office/drawing/2014/main" id="{4DD15F9C-9F30-72F8-AB1C-6DF18062F565}"/>
              </a:ext>
            </a:extLst>
          </p:cNvPr>
          <p:cNvSpPr/>
          <p:nvPr/>
        </p:nvSpPr>
        <p:spPr>
          <a:xfrm>
            <a:off x="6295809" y="928966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 err="1">
                <a:solidFill>
                  <a:srgbClr val="6B7176"/>
                </a:solidFill>
                <a:latin typeface="Aptos" pitchFamily="34" charset="0"/>
              </a:rPr>
              <a:t>Piczak</a:t>
            </a:r>
            <a:r>
              <a:rPr lang="en-US" sz="500" dirty="0">
                <a:solidFill>
                  <a:srgbClr val="6B7176"/>
                </a:solidFill>
                <a:latin typeface="Aptos" pitchFamily="34" charset="0"/>
              </a:rPr>
              <a:t> CNN | Variations | LSTM</a:t>
            </a:r>
          </a:p>
        </p:txBody>
      </p:sp>
      <p:sp>
        <p:nvSpPr>
          <p:cNvPr id="1028" name="Shape 22">
            <a:extLst>
              <a:ext uri="{FF2B5EF4-FFF2-40B4-BE49-F238E27FC236}">
                <a16:creationId xmlns:a16="http://schemas.microsoft.com/office/drawing/2014/main" id="{0FFCFA2E-643F-C304-312D-CB18C7EAFE99}"/>
              </a:ext>
            </a:extLst>
          </p:cNvPr>
          <p:cNvSpPr/>
          <p:nvPr/>
        </p:nvSpPr>
        <p:spPr>
          <a:xfrm>
            <a:off x="7878422" y="750102"/>
            <a:ext cx="1809206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1029" name="Text 23">
            <a:extLst>
              <a:ext uri="{FF2B5EF4-FFF2-40B4-BE49-F238E27FC236}">
                <a16:creationId xmlns:a16="http://schemas.microsoft.com/office/drawing/2014/main" id="{883FE847-ED6A-94C4-7CB6-798FE9F765FC}"/>
              </a:ext>
            </a:extLst>
          </p:cNvPr>
          <p:cNvSpPr/>
          <p:nvPr/>
        </p:nvSpPr>
        <p:spPr>
          <a:xfrm>
            <a:off x="7963330" y="839252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</a:rPr>
              <a:t>Transfer learning: pretrained CNN</a:t>
            </a:r>
          </a:p>
        </p:txBody>
      </p:sp>
      <p:sp>
        <p:nvSpPr>
          <p:cNvPr id="1030" name="Text 24">
            <a:extLst>
              <a:ext uri="{FF2B5EF4-FFF2-40B4-BE49-F238E27FC236}">
                <a16:creationId xmlns:a16="http://schemas.microsoft.com/office/drawing/2014/main" id="{E4FC9C22-0E67-CB1F-ABFD-7115E5951C9B}"/>
              </a:ext>
            </a:extLst>
          </p:cNvPr>
          <p:cNvSpPr/>
          <p:nvPr/>
        </p:nvSpPr>
        <p:spPr>
          <a:xfrm>
            <a:off x="7984136" y="941012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</a:rPr>
              <a:t>VGGish | YAMNet</a:t>
            </a:r>
          </a:p>
        </p:txBody>
      </p:sp>
      <p:sp>
        <p:nvSpPr>
          <p:cNvPr id="1031" name="Shape 25">
            <a:extLst>
              <a:ext uri="{FF2B5EF4-FFF2-40B4-BE49-F238E27FC236}">
                <a16:creationId xmlns:a16="http://schemas.microsoft.com/office/drawing/2014/main" id="{D9C0B880-A0BC-DFC3-3BEE-6C0EBF99E8C1}"/>
              </a:ext>
            </a:extLst>
          </p:cNvPr>
          <p:cNvSpPr/>
          <p:nvPr/>
        </p:nvSpPr>
        <p:spPr>
          <a:xfrm>
            <a:off x="9545712" y="751395"/>
            <a:ext cx="1809205" cy="295381"/>
          </a:xfrm>
          <a:prstGeom prst="chevron">
            <a:avLst/>
          </a:prstGeom>
          <a:solidFill>
            <a:srgbClr val="B65D3A"/>
          </a:solidFill>
          <a:ln w="12700">
            <a:solidFill>
              <a:srgbClr val="B65D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2" name="Text 26">
            <a:extLst>
              <a:ext uri="{FF2B5EF4-FFF2-40B4-BE49-F238E27FC236}">
                <a16:creationId xmlns:a16="http://schemas.microsoft.com/office/drawing/2014/main" id="{E1539D4A-2D0B-B540-7AC3-E6D04C8123E5}"/>
              </a:ext>
            </a:extLst>
          </p:cNvPr>
          <p:cNvSpPr/>
          <p:nvPr/>
        </p:nvSpPr>
        <p:spPr>
          <a:xfrm>
            <a:off x="9657604" y="829133"/>
            <a:ext cx="1697313" cy="694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</a:rPr>
              <a:t>Transfer learning: pretrained transformers</a:t>
            </a:r>
          </a:p>
        </p:txBody>
      </p:sp>
      <p:sp>
        <p:nvSpPr>
          <p:cNvPr id="1033" name="Text 27">
            <a:extLst>
              <a:ext uri="{FF2B5EF4-FFF2-40B4-BE49-F238E27FC236}">
                <a16:creationId xmlns:a16="http://schemas.microsoft.com/office/drawing/2014/main" id="{E21022D7-0680-77A1-7476-F4A2EA15C073}"/>
              </a:ext>
            </a:extLst>
          </p:cNvPr>
          <p:cNvSpPr/>
          <p:nvPr/>
        </p:nvSpPr>
        <p:spPr>
          <a:xfrm>
            <a:off x="9657605" y="944489"/>
            <a:ext cx="1662902" cy="107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z="500" dirty="0">
                <a:solidFill>
                  <a:srgbClr val="FFFFFF"/>
                </a:solidFill>
                <a:latin typeface="Aptos" pitchFamily="34" charset="0"/>
              </a:rPr>
              <a:t>AST | BEATs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ERA 3: PRETRAINED AUDIO TRANSFORMERS</a:t>
            </a:r>
            <a:endParaRPr lang="en-US" sz="880" dirty="0"/>
          </a:p>
        </p:txBody>
      </p:sp>
      <p:sp>
        <p:nvSpPr>
          <p:cNvPr id="3" name="Text 1"/>
          <p:cNvSpPr/>
          <p:nvPr/>
        </p:nvSpPr>
        <p:spPr>
          <a:xfrm>
            <a:off x="566928" y="51206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749808" y="130759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B65D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Changed?</a:t>
            </a:r>
            <a:endParaRPr lang="en-US" sz="1000" dirty="0"/>
          </a:p>
        </p:txBody>
      </p:sp>
      <p:sp>
        <p:nvSpPr>
          <p:cNvPr id="497" name="Shape 495"/>
          <p:cNvSpPr/>
          <p:nvPr/>
        </p:nvSpPr>
        <p:spPr>
          <a:xfrm>
            <a:off x="7612380" y="1806799"/>
            <a:ext cx="1565910" cy="1417320"/>
          </a:xfrm>
          <a:prstGeom prst="rect">
            <a:avLst/>
          </a:prstGeom>
          <a:solidFill>
            <a:srgbClr val="FFFFFF">
              <a:alpha val="0"/>
            </a:srgbClr>
          </a:solidFill>
          <a:ln w="5715">
            <a:solidFill>
              <a:srgbClr val="3038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8" name="Shape 496"/>
          <p:cNvSpPr/>
          <p:nvPr/>
        </p:nvSpPr>
        <p:spPr>
          <a:xfrm>
            <a:off x="9418320" y="1806799"/>
            <a:ext cx="2423160" cy="1234440"/>
          </a:xfrm>
          <a:prstGeom prst="rect">
            <a:avLst/>
          </a:prstGeom>
          <a:solidFill>
            <a:srgbClr val="FFF9EA"/>
          </a:solidFill>
          <a:ln w="13970">
            <a:solidFill>
              <a:srgbClr val="B65D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9" name="Text 497"/>
          <p:cNvSpPr/>
          <p:nvPr/>
        </p:nvSpPr>
        <p:spPr>
          <a:xfrm>
            <a:off x="9665208" y="2099407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450" b="1" dirty="0">
                <a:solidFill>
                  <a:srgbClr val="B65D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Attention over</a:t>
            </a:r>
            <a:endParaRPr lang="en-US" sz="1450" dirty="0"/>
          </a:p>
          <a:p>
            <a:pPr marL="0" indent="0" algn="ctr">
              <a:lnSpc>
                <a:spcPct val="90000"/>
              </a:lnSpc>
              <a:buNone/>
            </a:pPr>
            <a:r>
              <a:rPr lang="en-US" sz="1450" b="1" dirty="0">
                <a:solidFill>
                  <a:srgbClr val="B65D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spectrogram patches</a:t>
            </a:r>
            <a:endParaRPr lang="en-US" sz="1450" dirty="0"/>
          </a:p>
        </p:txBody>
      </p:sp>
      <p:sp>
        <p:nvSpPr>
          <p:cNvPr id="500" name="Shape 498"/>
          <p:cNvSpPr/>
          <p:nvPr/>
        </p:nvSpPr>
        <p:spPr>
          <a:xfrm>
            <a:off x="7539228" y="4727447"/>
            <a:ext cx="2148840" cy="914400"/>
          </a:xfrm>
          <a:prstGeom prst="rect">
            <a:avLst/>
          </a:prstGeom>
          <a:solidFill>
            <a:srgbClr val="FFFFFF">
              <a:alpha val="98000"/>
            </a:srgbClr>
          </a:solidFill>
          <a:ln w="17780">
            <a:solidFill>
              <a:srgbClr val="B65D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1" name="Text 499"/>
          <p:cNvSpPr/>
          <p:nvPr/>
        </p:nvSpPr>
        <p:spPr>
          <a:xfrm>
            <a:off x="7630668" y="4864607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2100" b="1" dirty="0">
                <a:solidFill>
                  <a:srgbClr val="B65D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95.25%</a:t>
            </a:r>
            <a:endParaRPr lang="en-US" sz="2100" dirty="0"/>
          </a:p>
        </p:txBody>
      </p:sp>
      <p:sp>
        <p:nvSpPr>
          <p:cNvPr id="502" name="Text 500"/>
          <p:cNvSpPr/>
          <p:nvPr/>
        </p:nvSpPr>
        <p:spPr>
          <a:xfrm>
            <a:off x="7648956" y="5257799"/>
            <a:ext cx="1929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8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5-fold accuracy</a:t>
            </a:r>
            <a:endParaRPr lang="en-US" sz="780" dirty="0"/>
          </a:p>
        </p:txBody>
      </p:sp>
      <p:sp>
        <p:nvSpPr>
          <p:cNvPr id="503" name="Text 501"/>
          <p:cNvSpPr/>
          <p:nvPr/>
        </p:nvSpPr>
        <p:spPr>
          <a:xfrm>
            <a:off x="7612380" y="5843015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2000"/>
              </a:lnSpc>
              <a:buNone/>
            </a:pPr>
            <a:r>
              <a:rPr lang="en-US" sz="850" i="1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Best: 95.65%. Full backbone fine-tuned, LR = 1e-5.</a:t>
            </a:r>
            <a:endParaRPr lang="en-US" sz="850" dirty="0"/>
          </a:p>
        </p:txBody>
      </p:sp>
      <p:sp>
        <p:nvSpPr>
          <p:cNvPr id="506" name="Text 504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50" dirty="0"/>
          </a:p>
        </p:txBody>
      </p:sp>
      <p:pic>
        <p:nvPicPr>
          <p:cNvPr id="514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66E1373B-4473-1B8F-9EF5-AB098BB192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4" name="Shape 19">
            <a:extLst>
              <a:ext uri="{FF2B5EF4-FFF2-40B4-BE49-F238E27FC236}">
                <a16:creationId xmlns:a16="http://schemas.microsoft.com/office/drawing/2014/main" id="{EA84B82C-A024-6332-D623-A3FB2DD32906}"/>
              </a:ext>
            </a:extLst>
          </p:cNvPr>
          <p:cNvSpPr/>
          <p:nvPr/>
        </p:nvSpPr>
        <p:spPr>
          <a:xfrm>
            <a:off x="6237447" y="751408"/>
            <a:ext cx="1809206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 dirty="0"/>
          </a:p>
        </p:txBody>
      </p:sp>
      <p:sp>
        <p:nvSpPr>
          <p:cNvPr id="525" name="Text 20">
            <a:extLst>
              <a:ext uri="{FF2B5EF4-FFF2-40B4-BE49-F238E27FC236}">
                <a16:creationId xmlns:a16="http://schemas.microsoft.com/office/drawing/2014/main" id="{9664A209-9962-53C9-9ABD-51131E6509EA}"/>
              </a:ext>
            </a:extLst>
          </p:cNvPr>
          <p:cNvSpPr/>
          <p:nvPr/>
        </p:nvSpPr>
        <p:spPr>
          <a:xfrm>
            <a:off x="6287692" y="833886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</a:rPr>
              <a:t>Training from scratch</a:t>
            </a:r>
          </a:p>
        </p:txBody>
      </p:sp>
      <p:sp>
        <p:nvSpPr>
          <p:cNvPr id="526" name="Text 21">
            <a:extLst>
              <a:ext uri="{FF2B5EF4-FFF2-40B4-BE49-F238E27FC236}">
                <a16:creationId xmlns:a16="http://schemas.microsoft.com/office/drawing/2014/main" id="{7C935940-32D2-3959-FF65-3FBED79D0C9D}"/>
              </a:ext>
            </a:extLst>
          </p:cNvPr>
          <p:cNvSpPr/>
          <p:nvPr/>
        </p:nvSpPr>
        <p:spPr>
          <a:xfrm>
            <a:off x="6295809" y="928966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 err="1">
                <a:solidFill>
                  <a:srgbClr val="6B7176"/>
                </a:solidFill>
                <a:latin typeface="Aptos" pitchFamily="34" charset="0"/>
              </a:rPr>
              <a:t>Piczak</a:t>
            </a:r>
            <a:r>
              <a:rPr lang="en-US" sz="500" dirty="0">
                <a:solidFill>
                  <a:srgbClr val="6B7176"/>
                </a:solidFill>
                <a:latin typeface="Aptos" pitchFamily="34" charset="0"/>
              </a:rPr>
              <a:t> CNN | Variations | LSTM</a:t>
            </a:r>
          </a:p>
        </p:txBody>
      </p:sp>
      <p:sp>
        <p:nvSpPr>
          <p:cNvPr id="527" name="Shape 22">
            <a:extLst>
              <a:ext uri="{FF2B5EF4-FFF2-40B4-BE49-F238E27FC236}">
                <a16:creationId xmlns:a16="http://schemas.microsoft.com/office/drawing/2014/main" id="{27739582-364F-6CF0-6754-13551DFD336B}"/>
              </a:ext>
            </a:extLst>
          </p:cNvPr>
          <p:cNvSpPr/>
          <p:nvPr/>
        </p:nvSpPr>
        <p:spPr>
          <a:xfrm>
            <a:off x="7878422" y="750102"/>
            <a:ext cx="1809206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528" name="Text 23">
            <a:extLst>
              <a:ext uri="{FF2B5EF4-FFF2-40B4-BE49-F238E27FC236}">
                <a16:creationId xmlns:a16="http://schemas.microsoft.com/office/drawing/2014/main" id="{B23BCE2D-F6F8-4E35-1F47-8FCF2C9CF27C}"/>
              </a:ext>
            </a:extLst>
          </p:cNvPr>
          <p:cNvSpPr/>
          <p:nvPr/>
        </p:nvSpPr>
        <p:spPr>
          <a:xfrm>
            <a:off x="7963330" y="839252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</a:rPr>
              <a:t>Transfer learning: pretrained CNN</a:t>
            </a:r>
          </a:p>
        </p:txBody>
      </p:sp>
      <p:sp>
        <p:nvSpPr>
          <p:cNvPr id="529" name="Text 24">
            <a:extLst>
              <a:ext uri="{FF2B5EF4-FFF2-40B4-BE49-F238E27FC236}">
                <a16:creationId xmlns:a16="http://schemas.microsoft.com/office/drawing/2014/main" id="{F4303981-6AA3-F749-25E1-752EBEE0BCBB}"/>
              </a:ext>
            </a:extLst>
          </p:cNvPr>
          <p:cNvSpPr/>
          <p:nvPr/>
        </p:nvSpPr>
        <p:spPr>
          <a:xfrm>
            <a:off x="7984136" y="941012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</a:rPr>
              <a:t>VGGish | YAMNet</a:t>
            </a:r>
          </a:p>
        </p:txBody>
      </p:sp>
      <p:sp>
        <p:nvSpPr>
          <p:cNvPr id="530" name="Shape 25">
            <a:extLst>
              <a:ext uri="{FF2B5EF4-FFF2-40B4-BE49-F238E27FC236}">
                <a16:creationId xmlns:a16="http://schemas.microsoft.com/office/drawing/2014/main" id="{67BB53A9-7DED-6D9B-050E-CCD68553E76D}"/>
              </a:ext>
            </a:extLst>
          </p:cNvPr>
          <p:cNvSpPr/>
          <p:nvPr/>
        </p:nvSpPr>
        <p:spPr>
          <a:xfrm>
            <a:off x="9545712" y="751395"/>
            <a:ext cx="1809205" cy="295381"/>
          </a:xfrm>
          <a:prstGeom prst="chevron">
            <a:avLst/>
          </a:prstGeom>
          <a:solidFill>
            <a:srgbClr val="B65D3A"/>
          </a:solidFill>
          <a:ln w="12700">
            <a:solidFill>
              <a:srgbClr val="B65D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1" name="Text 26">
            <a:extLst>
              <a:ext uri="{FF2B5EF4-FFF2-40B4-BE49-F238E27FC236}">
                <a16:creationId xmlns:a16="http://schemas.microsoft.com/office/drawing/2014/main" id="{82BCA07B-DA7D-1DE4-7EF9-46D0C78A0596}"/>
              </a:ext>
            </a:extLst>
          </p:cNvPr>
          <p:cNvSpPr/>
          <p:nvPr/>
        </p:nvSpPr>
        <p:spPr>
          <a:xfrm>
            <a:off x="9657604" y="829133"/>
            <a:ext cx="1697313" cy="694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</a:rPr>
              <a:t>Transfer learning: pretrained transformers</a:t>
            </a:r>
          </a:p>
        </p:txBody>
      </p:sp>
      <p:sp>
        <p:nvSpPr>
          <p:cNvPr id="532" name="Text 27">
            <a:extLst>
              <a:ext uri="{FF2B5EF4-FFF2-40B4-BE49-F238E27FC236}">
                <a16:creationId xmlns:a16="http://schemas.microsoft.com/office/drawing/2014/main" id="{BBBE9E45-A46E-44BE-5152-87488B0E2E95}"/>
              </a:ext>
            </a:extLst>
          </p:cNvPr>
          <p:cNvSpPr/>
          <p:nvPr/>
        </p:nvSpPr>
        <p:spPr>
          <a:xfrm>
            <a:off x="9657605" y="944489"/>
            <a:ext cx="1662902" cy="107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z="500" b="1" dirty="0">
                <a:solidFill>
                  <a:srgbClr val="FFFFFF"/>
                </a:solidFill>
                <a:latin typeface="Aptos" pitchFamily="34" charset="0"/>
              </a:rPr>
              <a:t>AST</a:t>
            </a:r>
            <a:r>
              <a:rPr lang="en-US" sz="500" dirty="0">
                <a:solidFill>
                  <a:srgbClr val="FFFFFF"/>
                </a:solidFill>
                <a:latin typeface="Aptos" pitchFamily="34" charset="0"/>
              </a:rPr>
              <a:t> | </a:t>
            </a:r>
            <a:r>
              <a:rPr lang="en-US" sz="500" dirty="0">
                <a:solidFill>
                  <a:schemeClr val="bg1">
                    <a:lumMod val="75000"/>
                  </a:schemeClr>
                </a:solidFill>
                <a:latin typeface="Aptos" pitchFamily="34" charset="0"/>
              </a:rPr>
              <a:t>BEATs</a:t>
            </a:r>
          </a:p>
        </p:txBody>
      </p:sp>
      <p:sp>
        <p:nvSpPr>
          <p:cNvPr id="535" name="Text 11">
            <a:extLst>
              <a:ext uri="{FF2B5EF4-FFF2-40B4-BE49-F238E27FC236}">
                <a16:creationId xmlns:a16="http://schemas.microsoft.com/office/drawing/2014/main" id="{65346068-9775-A8DE-97FE-80418CF3445C}"/>
              </a:ext>
            </a:extLst>
          </p:cNvPr>
          <p:cNvSpPr/>
          <p:nvPr/>
        </p:nvSpPr>
        <p:spPr>
          <a:xfrm>
            <a:off x="749808" y="2119952"/>
            <a:ext cx="439758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20" b="1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AST architecture</a:t>
            </a:r>
            <a:endParaRPr lang="en-US" sz="1020" dirty="0"/>
          </a:p>
        </p:txBody>
      </p:sp>
      <p:graphicFrame>
        <p:nvGraphicFramePr>
          <p:cNvPr id="536" name="Table 0">
            <a:extLst>
              <a:ext uri="{FF2B5EF4-FFF2-40B4-BE49-F238E27FC236}">
                <a16:creationId xmlns:a16="http://schemas.microsoft.com/office/drawing/2014/main" id="{50471D43-891A-FB8C-AFDF-F2B8F1D29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2796216"/>
              </p:ext>
            </p:extLst>
          </p:nvPr>
        </p:nvGraphicFramePr>
        <p:xfrm>
          <a:off x="694943" y="2353021"/>
          <a:ext cx="4434167" cy="1713738"/>
        </p:xfrm>
        <a:graphic>
          <a:graphicData uri="http://schemas.openxmlformats.org/drawingml/2006/table">
            <a:tbl>
              <a:tblPr/>
              <a:tblGrid>
                <a:gridCol w="10815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26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40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5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Parameters / implementation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5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Input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Full ESC-50 clip resampled to 16 kHz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0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Feature extractor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AutoFeatureExtractor builds spectrogram-like transformer inputs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0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Backbone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MIT/ast-finetuned-audioset-10-10-0.4593, AudioSet-pretrained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0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Head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Classifier replaced/reinitialized for 50 ESC-50 labels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0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Fine-tuning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freeze_backbone=False; full backbone adapts to ESC-50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0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Optimization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Model cross-entropy loss; AdamW lr 1e-5; weight decay 1e-4; batch 8; 10 epochs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403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b="1" dirty="0">
                          <a:solidFill>
                            <a:srgbClr val="1F2528"/>
                          </a:solidFill>
                        </a:rPr>
                        <a:t>Validation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05" dirty="0">
                          <a:solidFill>
                            <a:srgbClr val="1F2528"/>
                          </a:solidFill>
                        </a:rPr>
                        <a:t>5 official folds; final mean test accuracy 95.25%, best 95.65%</a:t>
                      </a:r>
                      <a:endParaRPr lang="en-US" sz="70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39" name="Text 36">
            <a:extLst>
              <a:ext uri="{FF2B5EF4-FFF2-40B4-BE49-F238E27FC236}">
                <a16:creationId xmlns:a16="http://schemas.microsoft.com/office/drawing/2014/main" id="{55F519E4-6C4D-A1F7-18E9-D32F2A0F05FB}"/>
              </a:ext>
            </a:extLst>
          </p:cNvPr>
          <p:cNvSpPr/>
          <p:nvPr/>
        </p:nvSpPr>
        <p:spPr>
          <a:xfrm>
            <a:off x="731520" y="442569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000" b="1" dirty="0">
                <a:solidFill>
                  <a:srgbClr val="B65D3A"/>
                </a:solidFill>
                <a:latin typeface="Aptos" pitchFamily="34" charset="0"/>
              </a:rPr>
              <a:t>Results</a:t>
            </a:r>
          </a:p>
        </p:txBody>
      </p:sp>
      <p:sp>
        <p:nvSpPr>
          <p:cNvPr id="540" name="Text 37">
            <a:extLst>
              <a:ext uri="{FF2B5EF4-FFF2-40B4-BE49-F238E27FC236}">
                <a16:creationId xmlns:a16="http://schemas.microsoft.com/office/drawing/2014/main" id="{BAEF7B14-EF19-5AFE-8B0A-87BD5E18E031}"/>
              </a:ext>
            </a:extLst>
          </p:cNvPr>
          <p:cNvSpPr/>
          <p:nvPr/>
        </p:nvSpPr>
        <p:spPr>
          <a:xfrm>
            <a:off x="731519" y="4727447"/>
            <a:ext cx="58085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AST keeps a spectrogram-like representation but replaces the from-scratch CNN with a pretrained transformer backbone.</a:t>
            </a:r>
            <a:endParaRPr lang="en-US" sz="1200" dirty="0"/>
          </a:p>
        </p:txBody>
      </p:sp>
      <p:sp>
        <p:nvSpPr>
          <p:cNvPr id="541" name="Text 12">
            <a:extLst>
              <a:ext uri="{FF2B5EF4-FFF2-40B4-BE49-F238E27FC236}">
                <a16:creationId xmlns:a16="http://schemas.microsoft.com/office/drawing/2014/main" id="{E8AFA8E4-D244-0211-AE96-2D294E6D5010}"/>
              </a:ext>
            </a:extLst>
          </p:cNvPr>
          <p:cNvSpPr/>
          <p:nvPr/>
        </p:nvSpPr>
        <p:spPr>
          <a:xfrm>
            <a:off x="731519" y="1591056"/>
            <a:ext cx="515112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85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Highlight differences here…</a:t>
            </a:r>
            <a:endParaRPr lang="en-US" sz="1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10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ERA 3: PRETRAINED AUDIO TRANSFORMERS</a:t>
            </a:r>
            <a:endParaRPr lang="en-US" sz="880" dirty="0"/>
          </a:p>
        </p:txBody>
      </p:sp>
      <p:sp>
        <p:nvSpPr>
          <p:cNvPr id="3" name="Text 1"/>
          <p:cNvSpPr/>
          <p:nvPr/>
        </p:nvSpPr>
        <p:spPr>
          <a:xfrm>
            <a:off x="566928" y="51206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BEATs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6867144" y="1726381"/>
            <a:ext cx="4983480" cy="1417320"/>
          </a:xfrm>
          <a:prstGeom prst="rect">
            <a:avLst/>
          </a:prstGeom>
          <a:solidFill>
            <a:srgbClr val="FFF9EA"/>
          </a:solidFill>
          <a:ln w="13970">
            <a:solidFill>
              <a:srgbClr val="B65D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095744" y="2018989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650" b="1" dirty="0">
                <a:solidFill>
                  <a:srgbClr val="B65D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Foundation-style audio representation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7187184" y="2439613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02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adapts a large pretrained audio encoder rather than learning the representation from ESC-50 alone.</a:t>
            </a:r>
            <a:endParaRPr lang="en-US" sz="1020" dirty="0"/>
          </a:p>
        </p:txBody>
      </p:sp>
      <p:sp>
        <p:nvSpPr>
          <p:cNvPr id="32" name="Shape 30"/>
          <p:cNvSpPr/>
          <p:nvPr/>
        </p:nvSpPr>
        <p:spPr>
          <a:xfrm>
            <a:off x="7616467" y="4628860"/>
            <a:ext cx="2148840" cy="914400"/>
          </a:xfrm>
          <a:prstGeom prst="rect">
            <a:avLst/>
          </a:prstGeom>
          <a:solidFill>
            <a:srgbClr val="FFFFFF">
              <a:alpha val="98000"/>
            </a:srgbClr>
          </a:solidFill>
          <a:ln w="17780">
            <a:solidFill>
              <a:srgbClr val="B65D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707907" y="4766020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2100" b="1" dirty="0">
                <a:solidFill>
                  <a:srgbClr val="B65D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94.40%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7726195" y="5159212"/>
            <a:ext cx="1929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78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5-fold accuracy</a:t>
            </a:r>
            <a:endParaRPr lang="en-US" sz="780" dirty="0"/>
          </a:p>
        </p:txBody>
      </p:sp>
      <p:sp>
        <p:nvSpPr>
          <p:cNvPr id="35" name="Text 33"/>
          <p:cNvSpPr/>
          <p:nvPr/>
        </p:nvSpPr>
        <p:spPr>
          <a:xfrm>
            <a:off x="7689619" y="574442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2000"/>
              </a:lnSpc>
              <a:buNone/>
            </a:pPr>
            <a:r>
              <a:rPr lang="en-US" sz="850" i="1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Best: 95.55%. Mean training time in current summary: 152.37 sec.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50" dirty="0"/>
          </a:p>
        </p:txBody>
      </p:sp>
      <p:pic>
        <p:nvPicPr>
          <p:cNvPr id="46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2D878DAD-7F25-C48B-5658-195EF7E310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Shape 19">
            <a:extLst>
              <a:ext uri="{FF2B5EF4-FFF2-40B4-BE49-F238E27FC236}">
                <a16:creationId xmlns:a16="http://schemas.microsoft.com/office/drawing/2014/main" id="{3665F116-AFCF-F7E1-5772-416615E9F853}"/>
              </a:ext>
            </a:extLst>
          </p:cNvPr>
          <p:cNvSpPr/>
          <p:nvPr/>
        </p:nvSpPr>
        <p:spPr>
          <a:xfrm>
            <a:off x="6237447" y="751408"/>
            <a:ext cx="1809206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 dirty="0"/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0C734469-A669-6683-48F4-824945FA0ED4}"/>
              </a:ext>
            </a:extLst>
          </p:cNvPr>
          <p:cNvSpPr/>
          <p:nvPr/>
        </p:nvSpPr>
        <p:spPr>
          <a:xfrm>
            <a:off x="6287692" y="833886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</a:rPr>
              <a:t>Training from scratch</a:t>
            </a:r>
          </a:p>
        </p:txBody>
      </p:sp>
      <p:sp>
        <p:nvSpPr>
          <p:cNvPr id="49" name="Text 21">
            <a:extLst>
              <a:ext uri="{FF2B5EF4-FFF2-40B4-BE49-F238E27FC236}">
                <a16:creationId xmlns:a16="http://schemas.microsoft.com/office/drawing/2014/main" id="{561425C1-21D0-6844-10A1-377BC2672A8F}"/>
              </a:ext>
            </a:extLst>
          </p:cNvPr>
          <p:cNvSpPr/>
          <p:nvPr/>
        </p:nvSpPr>
        <p:spPr>
          <a:xfrm>
            <a:off x="6295809" y="928966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500" dirty="0" err="1">
                <a:solidFill>
                  <a:srgbClr val="6B7176"/>
                </a:solidFill>
                <a:latin typeface="Aptos" pitchFamily="34" charset="0"/>
              </a:rPr>
              <a:t>Piczak</a:t>
            </a:r>
            <a:r>
              <a:rPr lang="en-US" sz="500" dirty="0">
                <a:solidFill>
                  <a:srgbClr val="6B7176"/>
                </a:solidFill>
                <a:latin typeface="Aptos" pitchFamily="34" charset="0"/>
              </a:rPr>
              <a:t> CNN | Variations | LSTM</a:t>
            </a:r>
          </a:p>
        </p:txBody>
      </p:sp>
      <p:sp>
        <p:nvSpPr>
          <p:cNvPr id="50" name="Shape 22">
            <a:extLst>
              <a:ext uri="{FF2B5EF4-FFF2-40B4-BE49-F238E27FC236}">
                <a16:creationId xmlns:a16="http://schemas.microsoft.com/office/drawing/2014/main" id="{A6F8648F-12C5-37D0-1392-4013B3BF8C9E}"/>
              </a:ext>
            </a:extLst>
          </p:cNvPr>
          <p:cNvSpPr/>
          <p:nvPr/>
        </p:nvSpPr>
        <p:spPr>
          <a:xfrm>
            <a:off x="7878422" y="750102"/>
            <a:ext cx="1809206" cy="295381"/>
          </a:xfrm>
          <a:prstGeom prst="chevron">
            <a:avLst/>
          </a:prstGeom>
          <a:solidFill>
            <a:srgbClr val="D7DDE0">
              <a:alpha val="90000"/>
            </a:srgbClr>
          </a:solidFill>
          <a:ln w="12700">
            <a:solidFill>
              <a:srgbClr val="F7F5EF"/>
            </a:solidFill>
            <a:prstDash val="solid"/>
          </a:ln>
        </p:spPr>
        <p:txBody>
          <a:bodyPr/>
          <a:lstStyle/>
          <a:p>
            <a:endParaRPr lang="en-US" sz="1100"/>
          </a:p>
        </p:txBody>
      </p:sp>
      <p:sp>
        <p:nvSpPr>
          <p:cNvPr id="51" name="Text 23">
            <a:extLst>
              <a:ext uri="{FF2B5EF4-FFF2-40B4-BE49-F238E27FC236}">
                <a16:creationId xmlns:a16="http://schemas.microsoft.com/office/drawing/2014/main" id="{E4580DC3-1F62-E190-08B0-E85996366615}"/>
              </a:ext>
            </a:extLst>
          </p:cNvPr>
          <p:cNvSpPr/>
          <p:nvPr/>
        </p:nvSpPr>
        <p:spPr>
          <a:xfrm>
            <a:off x="7963330" y="839252"/>
            <a:ext cx="1597682" cy="755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700" b="1" dirty="0">
                <a:solidFill>
                  <a:srgbClr val="30383D"/>
                </a:solidFill>
                <a:latin typeface="Aptos" pitchFamily="34" charset="0"/>
              </a:rPr>
              <a:t>Transfer learning: pretrained CNN</a:t>
            </a:r>
          </a:p>
        </p:txBody>
      </p:sp>
      <p:sp>
        <p:nvSpPr>
          <p:cNvPr id="52" name="Text 24">
            <a:extLst>
              <a:ext uri="{FF2B5EF4-FFF2-40B4-BE49-F238E27FC236}">
                <a16:creationId xmlns:a16="http://schemas.microsoft.com/office/drawing/2014/main" id="{1082E3C5-8EE7-B94B-BA72-BD27A91F024A}"/>
              </a:ext>
            </a:extLst>
          </p:cNvPr>
          <p:cNvSpPr/>
          <p:nvPr/>
        </p:nvSpPr>
        <p:spPr>
          <a:xfrm>
            <a:off x="7984136" y="941012"/>
            <a:ext cx="1597682" cy="58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>
              <a:lnSpc>
                <a:spcPct val="90000"/>
              </a:lnSpc>
            </a:pPr>
            <a:r>
              <a:rPr lang="en-US" sz="500" dirty="0">
                <a:solidFill>
                  <a:srgbClr val="6B7176"/>
                </a:solidFill>
                <a:latin typeface="Aptos" pitchFamily="34" charset="0"/>
              </a:rPr>
              <a:t>VGGish | YAMNet</a:t>
            </a:r>
          </a:p>
        </p:txBody>
      </p:sp>
      <p:sp>
        <p:nvSpPr>
          <p:cNvPr id="53" name="Shape 25">
            <a:extLst>
              <a:ext uri="{FF2B5EF4-FFF2-40B4-BE49-F238E27FC236}">
                <a16:creationId xmlns:a16="http://schemas.microsoft.com/office/drawing/2014/main" id="{D28C6417-C4A9-74E3-791C-773038E809C4}"/>
              </a:ext>
            </a:extLst>
          </p:cNvPr>
          <p:cNvSpPr/>
          <p:nvPr/>
        </p:nvSpPr>
        <p:spPr>
          <a:xfrm>
            <a:off x="9545712" y="751395"/>
            <a:ext cx="1809205" cy="295381"/>
          </a:xfrm>
          <a:prstGeom prst="chevron">
            <a:avLst/>
          </a:prstGeom>
          <a:solidFill>
            <a:srgbClr val="B65D3A"/>
          </a:solidFill>
          <a:ln w="12700">
            <a:solidFill>
              <a:srgbClr val="B65D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26">
            <a:extLst>
              <a:ext uri="{FF2B5EF4-FFF2-40B4-BE49-F238E27FC236}">
                <a16:creationId xmlns:a16="http://schemas.microsoft.com/office/drawing/2014/main" id="{29389361-7121-5932-E213-7267E75DA0C7}"/>
              </a:ext>
            </a:extLst>
          </p:cNvPr>
          <p:cNvSpPr/>
          <p:nvPr/>
        </p:nvSpPr>
        <p:spPr>
          <a:xfrm>
            <a:off x="9657604" y="829133"/>
            <a:ext cx="1697313" cy="694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</a:rPr>
              <a:t>Transfer learning: pretrained transformers</a:t>
            </a:r>
          </a:p>
        </p:txBody>
      </p:sp>
      <p:sp>
        <p:nvSpPr>
          <p:cNvPr id="55" name="Text 27">
            <a:extLst>
              <a:ext uri="{FF2B5EF4-FFF2-40B4-BE49-F238E27FC236}">
                <a16:creationId xmlns:a16="http://schemas.microsoft.com/office/drawing/2014/main" id="{C846D21F-8F14-C3B0-94E7-F76C9881E4FA}"/>
              </a:ext>
            </a:extLst>
          </p:cNvPr>
          <p:cNvSpPr/>
          <p:nvPr/>
        </p:nvSpPr>
        <p:spPr>
          <a:xfrm>
            <a:off x="9657605" y="944489"/>
            <a:ext cx="1662902" cy="107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z="500" dirty="0">
                <a:solidFill>
                  <a:schemeClr val="bg1">
                    <a:lumMod val="75000"/>
                  </a:schemeClr>
                </a:solidFill>
                <a:latin typeface="Aptos" pitchFamily="34" charset="0"/>
              </a:rPr>
              <a:t>AST</a:t>
            </a:r>
            <a:r>
              <a:rPr lang="en-US" sz="500" dirty="0">
                <a:solidFill>
                  <a:srgbClr val="FFFFFF"/>
                </a:solidFill>
                <a:latin typeface="Aptos" pitchFamily="34" charset="0"/>
              </a:rPr>
              <a:t> | </a:t>
            </a:r>
            <a:r>
              <a:rPr lang="en-US" sz="500" b="1" dirty="0">
                <a:solidFill>
                  <a:srgbClr val="FFFFFF"/>
                </a:solidFill>
                <a:latin typeface="Aptos" pitchFamily="34" charset="0"/>
              </a:rPr>
              <a:t>BEATs</a:t>
            </a:r>
          </a:p>
        </p:txBody>
      </p:sp>
      <p:graphicFrame>
        <p:nvGraphicFramePr>
          <p:cNvPr id="58" name="Table 0">
            <a:extLst>
              <a:ext uri="{FF2B5EF4-FFF2-40B4-BE49-F238E27FC236}">
                <a16:creationId xmlns:a16="http://schemas.microsoft.com/office/drawing/2014/main" id="{AD3FB0A5-675F-2906-07A0-4316A5F9A4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106533"/>
              </p:ext>
            </p:extLst>
          </p:nvPr>
        </p:nvGraphicFramePr>
        <p:xfrm>
          <a:off x="694943" y="2359150"/>
          <a:ext cx="4434166" cy="1872996"/>
        </p:xfrm>
        <a:graphic>
          <a:graphicData uri="http://schemas.openxmlformats.org/drawingml/2006/table">
            <a:tbl>
              <a:tblPr/>
              <a:tblGrid>
                <a:gridCol w="10815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26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61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5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</a:rPr>
                        <a:t>Parameters / implementation</a:t>
                      </a:r>
                      <a:endParaRPr lang="en-US" sz="1030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5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61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b="1" dirty="0">
                          <a:solidFill>
                            <a:srgbClr val="1F2528"/>
                          </a:solidFill>
                        </a:rPr>
                        <a:t>Input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dirty="0">
                          <a:solidFill>
                            <a:srgbClr val="1F2528"/>
                          </a:solidFill>
                        </a:rPr>
                        <a:t>Full 5-s mono waveform, resampled to 16 kHz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61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b="1" dirty="0">
                          <a:solidFill>
                            <a:srgbClr val="1F2528"/>
                          </a:solidFill>
                        </a:rPr>
                        <a:t>Backbone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dirty="0">
                          <a:solidFill>
                            <a:srgbClr val="1F2528"/>
                          </a:solidFill>
                        </a:rPr>
                        <a:t>BEATs_iter3_plus_AS2M checkpoint, pretrained on large audio data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61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b="1" dirty="0">
                          <a:solidFill>
                            <a:srgbClr val="1F2528"/>
                          </a:solidFill>
                        </a:rPr>
                        <a:t>Features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dirty="0">
                          <a:solidFill>
                            <a:srgbClr val="1F2528"/>
                          </a:solidFill>
                        </a:rPr>
                        <a:t>BEATs.extract_features returns frame-level transformer features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b="1" dirty="0">
                          <a:solidFill>
                            <a:srgbClr val="1F2528"/>
                          </a:solidFill>
                        </a:rPr>
                        <a:t>Pooling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dirty="0">
                          <a:solidFill>
                            <a:srgbClr val="1F2528"/>
                          </a:solidFill>
                        </a:rPr>
                        <a:t>Mean pooling over time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61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b="1" dirty="0">
                          <a:solidFill>
                            <a:srgbClr val="1F2528"/>
                          </a:solidFill>
                        </a:rPr>
                        <a:t>Head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dirty="0">
                          <a:solidFill>
                            <a:srgbClr val="1F2528"/>
                          </a:solidFill>
                        </a:rPr>
                        <a:t>LayerNorm hidden_dim; Dropout 0.2; Linear hidden_dim-&gt;50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61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b="1" dirty="0">
                          <a:solidFill>
                            <a:srgbClr val="1F2528"/>
                          </a:solidFill>
                        </a:rPr>
                        <a:t>Fine-tuning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dirty="0">
                          <a:solidFill>
                            <a:srgbClr val="1F2528"/>
                          </a:solidFill>
                        </a:rPr>
                        <a:t>freeze_backbone=False; full backbone adapts to ESC-50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61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b="1" dirty="0">
                          <a:solidFill>
                            <a:srgbClr val="1F2528"/>
                          </a:solidFill>
                        </a:rPr>
                        <a:t>Optimization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dirty="0">
                          <a:solidFill>
                            <a:srgbClr val="1F2528"/>
                          </a:solidFill>
                        </a:rPr>
                        <a:t>CrossEntropyLoss; AdamW lr 1e-5; weight decay 1e-4; grad clip 1.0; batch 4; 10 epochs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61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b="1" dirty="0">
                          <a:solidFill>
                            <a:srgbClr val="1F2528"/>
                          </a:solidFill>
                        </a:rPr>
                        <a:t>Validation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65" dirty="0">
                          <a:solidFill>
                            <a:srgbClr val="1F2528"/>
                          </a:solidFill>
                        </a:rPr>
                        <a:t>5 official folds; final 94.40%, best 95.55%; mean training time 152.37 sec</a:t>
                      </a:r>
                      <a:endParaRPr lang="en-US" sz="665" dirty="0"/>
                    </a:p>
                  </a:txBody>
                  <a:tcPr marL="50292" marR="50292" marT="50292" marB="50292">
                    <a:lnL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79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9" name="Text 11">
            <a:extLst>
              <a:ext uri="{FF2B5EF4-FFF2-40B4-BE49-F238E27FC236}">
                <a16:creationId xmlns:a16="http://schemas.microsoft.com/office/drawing/2014/main" id="{A27DAD75-6848-9FBE-086E-6507CC50E58F}"/>
              </a:ext>
            </a:extLst>
          </p:cNvPr>
          <p:cNvSpPr/>
          <p:nvPr/>
        </p:nvSpPr>
        <p:spPr>
          <a:xfrm>
            <a:off x="743207" y="2108867"/>
            <a:ext cx="5623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20" b="1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BEATs architecture</a:t>
            </a:r>
            <a:endParaRPr lang="en-US" sz="1020" dirty="0"/>
          </a:p>
        </p:txBody>
      </p:sp>
      <p:sp>
        <p:nvSpPr>
          <p:cNvPr id="60" name="Text 11">
            <a:extLst>
              <a:ext uri="{FF2B5EF4-FFF2-40B4-BE49-F238E27FC236}">
                <a16:creationId xmlns:a16="http://schemas.microsoft.com/office/drawing/2014/main" id="{489E7F2E-AC5B-3316-762B-E012F6F938A7}"/>
              </a:ext>
            </a:extLst>
          </p:cNvPr>
          <p:cNvSpPr/>
          <p:nvPr/>
        </p:nvSpPr>
        <p:spPr>
          <a:xfrm>
            <a:off x="749808" y="130759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B65D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Changed?</a:t>
            </a:r>
            <a:endParaRPr lang="en-US" sz="1000" dirty="0"/>
          </a:p>
        </p:txBody>
      </p:sp>
      <p:sp>
        <p:nvSpPr>
          <p:cNvPr id="61" name="Text 12">
            <a:extLst>
              <a:ext uri="{FF2B5EF4-FFF2-40B4-BE49-F238E27FC236}">
                <a16:creationId xmlns:a16="http://schemas.microsoft.com/office/drawing/2014/main" id="{940870A8-F300-5CC6-6058-AD17DFB1DFA1}"/>
              </a:ext>
            </a:extLst>
          </p:cNvPr>
          <p:cNvSpPr/>
          <p:nvPr/>
        </p:nvSpPr>
        <p:spPr>
          <a:xfrm>
            <a:off x="731519" y="1591056"/>
            <a:ext cx="515112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85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Highlight differences here…</a:t>
            </a:r>
            <a:endParaRPr lang="en-US" sz="1850" dirty="0"/>
          </a:p>
        </p:txBody>
      </p:sp>
      <p:sp>
        <p:nvSpPr>
          <p:cNvPr id="62" name="Text 36">
            <a:extLst>
              <a:ext uri="{FF2B5EF4-FFF2-40B4-BE49-F238E27FC236}">
                <a16:creationId xmlns:a16="http://schemas.microsoft.com/office/drawing/2014/main" id="{57A90D94-52F6-125D-8BB8-4584F414B59D}"/>
              </a:ext>
            </a:extLst>
          </p:cNvPr>
          <p:cNvSpPr/>
          <p:nvPr/>
        </p:nvSpPr>
        <p:spPr>
          <a:xfrm>
            <a:off x="731520" y="442569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000" b="1" dirty="0">
                <a:solidFill>
                  <a:srgbClr val="B65D3A"/>
                </a:solidFill>
                <a:latin typeface="Aptos" pitchFamily="34" charset="0"/>
              </a:rPr>
              <a:t>Results</a:t>
            </a:r>
          </a:p>
        </p:txBody>
      </p:sp>
      <p:sp>
        <p:nvSpPr>
          <p:cNvPr id="63" name="Text 37">
            <a:extLst>
              <a:ext uri="{FF2B5EF4-FFF2-40B4-BE49-F238E27FC236}">
                <a16:creationId xmlns:a16="http://schemas.microsoft.com/office/drawing/2014/main" id="{EAC98490-E25B-059A-96EF-65A7D57E1CB2}"/>
              </a:ext>
            </a:extLst>
          </p:cNvPr>
          <p:cNvSpPr/>
          <p:nvPr/>
        </p:nvSpPr>
        <p:spPr>
          <a:xfrm>
            <a:off x="731519" y="4727447"/>
            <a:ext cx="58085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20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BEATs confirms that the modern leap is representation learning at scale, not only the presence of attention.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51206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60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Final takeaway and lessons learned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078992"/>
            <a:ext cx="11018520" cy="0"/>
          </a:xfrm>
          <a:prstGeom prst="line">
            <a:avLst/>
          </a:prstGeom>
          <a:noFill/>
          <a:ln w="9525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26187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2050" b="1" dirty="0">
                <a:solidFill>
                  <a:srgbClr val="1F25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biggest shift was where the model learned its audio knowledge.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749808" y="1920240"/>
            <a:ext cx="246888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4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 reference</a:t>
            </a:r>
            <a:endParaRPr lang="en-US" sz="840" dirty="0"/>
          </a:p>
        </p:txBody>
      </p:sp>
      <p:sp>
        <p:nvSpPr>
          <p:cNvPr id="7" name="Shape 5"/>
          <p:cNvSpPr/>
          <p:nvPr/>
        </p:nvSpPr>
        <p:spPr>
          <a:xfrm>
            <a:off x="3355848" y="2020824"/>
            <a:ext cx="2148840" cy="0"/>
          </a:xfrm>
          <a:prstGeom prst="line">
            <a:avLst/>
          </a:prstGeom>
          <a:noFill/>
          <a:ln w="5080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355848" y="1938528"/>
            <a:ext cx="945490" cy="155448"/>
          </a:xfrm>
          <a:prstGeom prst="rect">
            <a:avLst/>
          </a:prstGeom>
          <a:solidFill>
            <a:srgbClr val="BFC6C8"/>
          </a:solidFill>
          <a:ln w="12700">
            <a:solidFill>
              <a:srgbClr val="BFC6C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392778" y="1920240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76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44.0%</a:t>
            </a:r>
            <a:endParaRPr lang="en-US" sz="760" dirty="0"/>
          </a:p>
        </p:txBody>
      </p:sp>
      <p:sp>
        <p:nvSpPr>
          <p:cNvPr id="10" name="Text 8"/>
          <p:cNvSpPr/>
          <p:nvPr/>
        </p:nvSpPr>
        <p:spPr>
          <a:xfrm>
            <a:off x="749808" y="2240280"/>
            <a:ext cx="246888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4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Piczak CNN published LP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3355848" y="2340864"/>
            <a:ext cx="2148840" cy="0"/>
          </a:xfrm>
          <a:prstGeom prst="line">
            <a:avLst/>
          </a:prstGeom>
          <a:noFill/>
          <a:ln w="5080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355848" y="2258568"/>
            <a:ext cx="1386002" cy="155448"/>
          </a:xfrm>
          <a:prstGeom prst="rect">
            <a:avLst/>
          </a:prstGeom>
          <a:solidFill>
            <a:srgbClr val="426E9E"/>
          </a:solidFill>
          <a:ln w="12700">
            <a:solidFill>
              <a:srgbClr val="426E9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33290" y="2240280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76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64.5%</a:t>
            </a:r>
            <a:endParaRPr lang="en-US" sz="760" dirty="0"/>
          </a:p>
        </p:txBody>
      </p:sp>
      <p:sp>
        <p:nvSpPr>
          <p:cNvPr id="14" name="Text 12"/>
          <p:cNvSpPr/>
          <p:nvPr/>
        </p:nvSpPr>
        <p:spPr>
          <a:xfrm>
            <a:off x="749808" y="2862072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4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 long</a:t>
            </a:r>
            <a:endParaRPr lang="en-US" sz="840" dirty="0"/>
          </a:p>
        </p:txBody>
      </p:sp>
      <p:sp>
        <p:nvSpPr>
          <p:cNvPr id="15" name="Shape 13"/>
          <p:cNvSpPr/>
          <p:nvPr/>
        </p:nvSpPr>
        <p:spPr>
          <a:xfrm>
            <a:off x="3355848" y="2962656"/>
            <a:ext cx="2148840" cy="0"/>
          </a:xfrm>
          <a:prstGeom prst="line">
            <a:avLst/>
          </a:prstGeom>
          <a:noFill/>
          <a:ln w="5080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355848" y="2880360"/>
            <a:ext cx="1220541" cy="155448"/>
          </a:xfrm>
          <a:prstGeom prst="rect">
            <a:avLst/>
          </a:prstGeom>
          <a:solidFill>
            <a:srgbClr val="426E9E"/>
          </a:solidFill>
          <a:ln w="12700">
            <a:solidFill>
              <a:srgbClr val="426E9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67829" y="2862072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76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56.8%</a:t>
            </a:r>
            <a:endParaRPr lang="en-US" sz="760" dirty="0"/>
          </a:p>
        </p:txBody>
      </p:sp>
      <p:sp>
        <p:nvSpPr>
          <p:cNvPr id="18" name="Text 16"/>
          <p:cNvSpPr/>
          <p:nvPr/>
        </p:nvSpPr>
        <p:spPr>
          <a:xfrm>
            <a:off x="749808" y="3182112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4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VGGish frozen</a:t>
            </a:r>
            <a:endParaRPr lang="en-US" sz="840" dirty="0"/>
          </a:p>
        </p:txBody>
      </p:sp>
      <p:sp>
        <p:nvSpPr>
          <p:cNvPr id="19" name="Shape 17"/>
          <p:cNvSpPr/>
          <p:nvPr/>
        </p:nvSpPr>
        <p:spPr>
          <a:xfrm>
            <a:off x="3355848" y="3282696"/>
            <a:ext cx="2148840" cy="0"/>
          </a:xfrm>
          <a:prstGeom prst="line">
            <a:avLst/>
          </a:prstGeom>
          <a:noFill/>
          <a:ln w="5080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355848" y="3200400"/>
            <a:ext cx="1213020" cy="155448"/>
          </a:xfrm>
          <a:prstGeom prst="rect">
            <a:avLst/>
          </a:prstGeom>
          <a:solidFill>
            <a:srgbClr val="17677D"/>
          </a:solidFill>
          <a:ln w="12700">
            <a:solidFill>
              <a:srgbClr val="17677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660308" y="3182112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76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56.5%</a:t>
            </a:r>
            <a:endParaRPr lang="en-US" sz="760" dirty="0"/>
          </a:p>
        </p:txBody>
      </p:sp>
      <p:sp>
        <p:nvSpPr>
          <p:cNvPr id="22" name="Text 20"/>
          <p:cNvSpPr/>
          <p:nvPr/>
        </p:nvSpPr>
        <p:spPr>
          <a:xfrm>
            <a:off x="749808" y="3502152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4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YAMNet fine-tuned</a:t>
            </a:r>
            <a:endParaRPr lang="en-US" sz="840" dirty="0"/>
          </a:p>
        </p:txBody>
      </p:sp>
      <p:sp>
        <p:nvSpPr>
          <p:cNvPr id="23" name="Shape 21"/>
          <p:cNvSpPr/>
          <p:nvPr/>
        </p:nvSpPr>
        <p:spPr>
          <a:xfrm>
            <a:off x="3355848" y="3602736"/>
            <a:ext cx="2148840" cy="0"/>
          </a:xfrm>
          <a:prstGeom prst="line">
            <a:avLst/>
          </a:prstGeom>
          <a:noFill/>
          <a:ln w="5080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355848" y="3520440"/>
            <a:ext cx="1792133" cy="155448"/>
          </a:xfrm>
          <a:prstGeom prst="rect">
            <a:avLst/>
          </a:prstGeom>
          <a:solidFill>
            <a:srgbClr val="17677D"/>
          </a:solidFill>
          <a:ln w="12700">
            <a:solidFill>
              <a:srgbClr val="17677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239421" y="3502152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76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83.4%</a:t>
            </a:r>
            <a:endParaRPr lang="en-US" sz="760" dirty="0"/>
          </a:p>
        </p:txBody>
      </p:sp>
      <p:sp>
        <p:nvSpPr>
          <p:cNvPr id="26" name="Text 24"/>
          <p:cNvSpPr/>
          <p:nvPr/>
        </p:nvSpPr>
        <p:spPr>
          <a:xfrm>
            <a:off x="749808" y="3822192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40" b="1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BEATs</a:t>
            </a:r>
            <a:endParaRPr lang="en-US" sz="840" dirty="0"/>
          </a:p>
        </p:txBody>
      </p:sp>
      <p:sp>
        <p:nvSpPr>
          <p:cNvPr id="27" name="Shape 25"/>
          <p:cNvSpPr/>
          <p:nvPr/>
        </p:nvSpPr>
        <p:spPr>
          <a:xfrm>
            <a:off x="3355848" y="3922776"/>
            <a:ext cx="2148840" cy="0"/>
          </a:xfrm>
          <a:prstGeom prst="line">
            <a:avLst/>
          </a:prstGeom>
          <a:noFill/>
          <a:ln w="5080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355848" y="3840480"/>
            <a:ext cx="2028505" cy="155448"/>
          </a:xfrm>
          <a:prstGeom prst="rect">
            <a:avLst/>
          </a:prstGeom>
          <a:solidFill>
            <a:srgbClr val="B65D3A"/>
          </a:solidFill>
          <a:ln w="12700">
            <a:solidFill>
              <a:srgbClr val="B65D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475793" y="3822192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76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94.4%</a:t>
            </a:r>
            <a:endParaRPr lang="en-US" sz="760" dirty="0"/>
          </a:p>
        </p:txBody>
      </p:sp>
      <p:sp>
        <p:nvSpPr>
          <p:cNvPr id="30" name="Text 28"/>
          <p:cNvSpPr/>
          <p:nvPr/>
        </p:nvSpPr>
        <p:spPr>
          <a:xfrm>
            <a:off x="749808" y="4142232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40" b="1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AST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3355848" y="4242816"/>
            <a:ext cx="2148840" cy="0"/>
          </a:xfrm>
          <a:prstGeom prst="line">
            <a:avLst/>
          </a:prstGeom>
          <a:noFill/>
          <a:ln w="5080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355848" y="4160520"/>
            <a:ext cx="2046770" cy="155448"/>
          </a:xfrm>
          <a:prstGeom prst="rect">
            <a:avLst/>
          </a:prstGeom>
          <a:solidFill>
            <a:srgbClr val="B65D3A"/>
          </a:solidFill>
          <a:ln w="12700">
            <a:solidFill>
              <a:srgbClr val="B65D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494058" y="4142232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76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95.3%</a:t>
            </a:r>
            <a:endParaRPr lang="en-US" sz="760" dirty="0"/>
          </a:p>
        </p:txBody>
      </p:sp>
      <p:sp>
        <p:nvSpPr>
          <p:cNvPr id="34" name="Text 32"/>
          <p:cNvSpPr/>
          <p:nvPr/>
        </p:nvSpPr>
        <p:spPr>
          <a:xfrm>
            <a:off x="6537960" y="132588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400" b="1" dirty="0">
                <a:solidFill>
                  <a:srgbClr val="17677D"/>
                </a:solidFill>
                <a:latin typeface="Aptos" pitchFamily="34" charset="0"/>
              </a:rPr>
              <a:t>Lessons learned</a:t>
            </a:r>
          </a:p>
        </p:txBody>
      </p:sp>
      <p:sp>
        <p:nvSpPr>
          <p:cNvPr id="35" name="Shape 33"/>
          <p:cNvSpPr/>
          <p:nvPr/>
        </p:nvSpPr>
        <p:spPr>
          <a:xfrm>
            <a:off x="6537960" y="1737360"/>
            <a:ext cx="4754880" cy="914400"/>
          </a:xfrm>
          <a:prstGeom prst="rect">
            <a:avLst/>
          </a:prstGeom>
          <a:solidFill>
            <a:srgbClr val="FFFFFF"/>
          </a:solidFill>
          <a:ln w="12065">
            <a:solidFill>
              <a:srgbClr val="17677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702552" y="1865376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140" b="1" dirty="0">
                <a:solidFill>
                  <a:srgbClr val="1767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went well</a:t>
            </a:r>
            <a:endParaRPr lang="en-US" sz="1140" dirty="0"/>
          </a:p>
        </p:txBody>
      </p:sp>
      <p:sp>
        <p:nvSpPr>
          <p:cNvPr id="37" name="Text 35"/>
          <p:cNvSpPr/>
          <p:nvPr/>
        </p:nvSpPr>
        <p:spPr>
          <a:xfrm>
            <a:off x="6702552" y="213055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2000"/>
              </a:lnSpc>
              <a:buNone/>
            </a:pPr>
            <a:r>
              <a:rPr lang="en-US" sz="89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ESC-50 gave a clean benchmark; transfer learning created a clear contrast; AST/BEATs provided strong modern endpoints.</a:t>
            </a:r>
            <a:endParaRPr lang="en-US" sz="890" dirty="0"/>
          </a:p>
        </p:txBody>
      </p:sp>
      <p:sp>
        <p:nvSpPr>
          <p:cNvPr id="38" name="Shape 36"/>
          <p:cNvSpPr/>
          <p:nvPr/>
        </p:nvSpPr>
        <p:spPr>
          <a:xfrm>
            <a:off x="6537960" y="2944368"/>
            <a:ext cx="4754880" cy="914400"/>
          </a:xfrm>
          <a:prstGeom prst="rect">
            <a:avLst/>
          </a:prstGeom>
          <a:solidFill>
            <a:srgbClr val="FFFFFF"/>
          </a:solidFill>
          <a:ln w="12065">
            <a:solidFill>
              <a:srgbClr val="D6A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702552" y="3072384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140" b="1" dirty="0">
                <a:solidFill>
                  <a:srgbClr val="D6A3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did not</a:t>
            </a:r>
            <a:endParaRPr lang="en-US" sz="1140" dirty="0"/>
          </a:p>
        </p:txBody>
      </p:sp>
      <p:sp>
        <p:nvSpPr>
          <p:cNvPr id="40" name="Text 38"/>
          <p:cNvSpPr/>
          <p:nvPr/>
        </p:nvSpPr>
        <p:spPr>
          <a:xfrm>
            <a:off x="6702552" y="333756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2000"/>
              </a:lnSpc>
              <a:buNone/>
            </a:pPr>
            <a:r>
              <a:rPr lang="en-US" sz="89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replication required careful protocol matching; runtime and cost are hard without controlled hardware.</a:t>
            </a:r>
            <a:endParaRPr lang="en-US" sz="890" dirty="0"/>
          </a:p>
        </p:txBody>
      </p:sp>
      <p:sp>
        <p:nvSpPr>
          <p:cNvPr id="41" name="Shape 39"/>
          <p:cNvSpPr/>
          <p:nvPr/>
        </p:nvSpPr>
        <p:spPr>
          <a:xfrm>
            <a:off x="6537960" y="4151376"/>
            <a:ext cx="4754880" cy="914400"/>
          </a:xfrm>
          <a:prstGeom prst="rect">
            <a:avLst/>
          </a:prstGeom>
          <a:solidFill>
            <a:srgbClr val="FFFFFF"/>
          </a:solidFill>
          <a:ln w="12065">
            <a:solidFill>
              <a:srgbClr val="B65D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702552" y="4279392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1140" b="1" dirty="0">
                <a:solidFill>
                  <a:srgbClr val="B65D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we would change</a:t>
            </a:r>
            <a:endParaRPr lang="en-US" sz="1140" dirty="0"/>
          </a:p>
        </p:txBody>
      </p:sp>
      <p:sp>
        <p:nvSpPr>
          <p:cNvPr id="43" name="Text 41"/>
          <p:cNvSpPr/>
          <p:nvPr/>
        </p:nvSpPr>
        <p:spPr>
          <a:xfrm>
            <a:off x="6702552" y="454456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2000"/>
              </a:lnSpc>
              <a:buNone/>
            </a:pPr>
            <a:r>
              <a:rPr lang="en-US" sz="89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 evaluation protocol first; time all models on the same hardware; use fewer variants with deeper analysis.</a:t>
            </a:r>
            <a:endParaRPr lang="en-US" sz="890" dirty="0"/>
          </a:p>
        </p:txBody>
      </p:sp>
      <p:sp>
        <p:nvSpPr>
          <p:cNvPr id="45" name="Text 43"/>
          <p:cNvSpPr/>
          <p:nvPr/>
        </p:nvSpPr>
        <p:spPr>
          <a:xfrm>
            <a:off x="11064240" y="647395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0000"/>
              </a:lnSpc>
              <a:buNone/>
            </a:pPr>
            <a:r>
              <a:rPr lang="en-US" sz="750" dirty="0">
                <a:solidFill>
                  <a:srgbClr val="6B71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50" dirty="0"/>
          </a:p>
        </p:txBody>
      </p:sp>
      <p:pic>
        <p:nvPicPr>
          <p:cNvPr id="46" name="Picture 2" descr="Cornell University Logo, symbol, meaning, history, PNG, brand">
            <a:extLst>
              <a:ext uri="{FF2B5EF4-FFF2-40B4-BE49-F238E27FC236}">
                <a16:creationId xmlns:a16="http://schemas.microsoft.com/office/drawing/2014/main" id="{5F07FE3F-FF4E-2C50-944B-FFF4C95942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4" r="15589"/>
          <a:stretch/>
        </p:blipFill>
        <p:spPr bwMode="auto">
          <a:xfrm>
            <a:off x="11320507" y="147128"/>
            <a:ext cx="863884" cy="709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 8">
            <a:extLst>
              <a:ext uri="{FF2B5EF4-FFF2-40B4-BE49-F238E27FC236}">
                <a16:creationId xmlns:a16="http://schemas.microsoft.com/office/drawing/2014/main" id="{35D9CAFC-0527-A3EE-CAB6-A6B18D7F3E2A}"/>
              </a:ext>
            </a:extLst>
          </p:cNvPr>
          <p:cNvSpPr/>
          <p:nvPr/>
        </p:nvSpPr>
        <p:spPr>
          <a:xfrm>
            <a:off x="749808" y="2560319"/>
            <a:ext cx="246888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40" dirty="0" err="1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Piczak</a:t>
            </a:r>
            <a:r>
              <a:rPr lang="en-US" sz="84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CNN Variations</a:t>
            </a:r>
            <a:endParaRPr lang="en-US" sz="840" dirty="0"/>
          </a:p>
        </p:txBody>
      </p:sp>
      <p:sp>
        <p:nvSpPr>
          <p:cNvPr id="44" name="Shape 9">
            <a:extLst>
              <a:ext uri="{FF2B5EF4-FFF2-40B4-BE49-F238E27FC236}">
                <a16:creationId xmlns:a16="http://schemas.microsoft.com/office/drawing/2014/main" id="{EC39B8A5-2459-93FA-D120-D0B0D95BB713}"/>
              </a:ext>
            </a:extLst>
          </p:cNvPr>
          <p:cNvSpPr/>
          <p:nvPr/>
        </p:nvSpPr>
        <p:spPr>
          <a:xfrm>
            <a:off x="3355848" y="2660903"/>
            <a:ext cx="2148840" cy="0"/>
          </a:xfrm>
          <a:prstGeom prst="line">
            <a:avLst/>
          </a:prstGeom>
          <a:noFill/>
          <a:ln w="5080">
            <a:solidFill>
              <a:srgbClr val="D8D4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10">
            <a:extLst>
              <a:ext uri="{FF2B5EF4-FFF2-40B4-BE49-F238E27FC236}">
                <a16:creationId xmlns:a16="http://schemas.microsoft.com/office/drawing/2014/main" id="{94B84EC1-A133-0EF5-4D84-6F7543E92CB9}"/>
              </a:ext>
            </a:extLst>
          </p:cNvPr>
          <p:cNvSpPr/>
          <p:nvPr/>
        </p:nvSpPr>
        <p:spPr>
          <a:xfrm>
            <a:off x="3355848" y="2578607"/>
            <a:ext cx="1386002" cy="155448"/>
          </a:xfrm>
          <a:prstGeom prst="rect">
            <a:avLst/>
          </a:prstGeom>
          <a:solidFill>
            <a:srgbClr val="426E9E"/>
          </a:solidFill>
          <a:ln w="12700">
            <a:solidFill>
              <a:srgbClr val="426E9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11">
            <a:extLst>
              <a:ext uri="{FF2B5EF4-FFF2-40B4-BE49-F238E27FC236}">
                <a16:creationId xmlns:a16="http://schemas.microsoft.com/office/drawing/2014/main" id="{AFA3B810-70AD-CEE4-2CD8-72D6A0D957F2}"/>
              </a:ext>
            </a:extLst>
          </p:cNvPr>
          <p:cNvSpPr/>
          <p:nvPr/>
        </p:nvSpPr>
        <p:spPr>
          <a:xfrm>
            <a:off x="4833290" y="2560319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760" dirty="0">
                <a:solidFill>
                  <a:srgbClr val="1F25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64.5%</a:t>
            </a:r>
            <a:endParaRPr lang="en-US" sz="7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605</TotalTime>
  <Words>2660</Words>
  <Application>Microsoft Macintosh PowerPoint</Application>
  <PresentationFormat>Widescreen</PresentationFormat>
  <Paragraphs>523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Cornell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Measuring AI Acceleration with ESC-50</dc:title>
  <dc:subject>Environmental sound classification final project</dc:subject>
  <dc:creator>SYSEN 5888 Team</dc:creator>
  <cp:lastModifiedBy>Andrew Littlefield</cp:lastModifiedBy>
  <cp:revision>3</cp:revision>
  <dcterms:created xsi:type="dcterms:W3CDTF">2026-04-28T06:03:37Z</dcterms:created>
  <dcterms:modified xsi:type="dcterms:W3CDTF">2026-04-30T14:13:47Z</dcterms:modified>
</cp:coreProperties>
</file>