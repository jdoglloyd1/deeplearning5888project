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232"/>
    <p:restoredTop sz="94610"/>
  </p:normalViewPr>
  <p:slideViewPr>
    <p:cSldViewPr snapToGrid="0" snapToObjects="1">
      <p:cViewPr>
        <p:scale>
          <a:sx n="210" d="100"/>
          <a:sy n="210" d="100"/>
        </p:scale>
        <p:origin x="54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0609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baselining the audience: this is not only an audio project. It is a controlled way to make the evolution of neural-network capability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hypothesis early, then give the map. Era 1 learns from ESC-50 only. Eras 2 and 3 start with knowledge learned from much larger audio datasets, then adapt that knowledge to ESC-50.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focused on the dataset and the historical anchor. Do not explain voting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conceptual break: the first era is not CNN-specific. It is the era where the model learns from the benchmark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Treat voting as part of the official baseline, not as a mistake to discuss. The prior no-voting result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overclaim the LSTM interpretation until the teammate confirms it. The safe framing is that it is a from-scratch architecture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major era break. Make it clear that transfer learning is the big shift; VGGish and YAMNet are the first period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pick a frozen/fine-tuned narrative until the teammate confirms. Present both as the current result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YAMNet is where the transfer-learning story becomes visible in the results. Tie it back to representation quality rather than simply saying this model is newer.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precise: do not say transformers are a separate top-level learning regime. They are a later period inside transfer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AST is the spectrogram-transformer path: familiar audio representation, much more powerful pretrained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 gives the second modern endpoint. Use it to reinforce the central story: where the model learned audio knowledge mattered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hypothesis. The results support the idea that modern techniques improve performance, but the strongest explanation is pretrained audio representation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SYSEN 5888 FINAL PROJECT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10497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Measuring the AI acceleration: Measurable impact of improvements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76656" y="1417320"/>
            <a:ext cx="5394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2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Neural networks span decades. The last decade made their progress visible enough to test.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91403" y="3657600"/>
            <a:ext cx="11465168" cy="0"/>
          </a:xfrm>
          <a:prstGeom prst="line">
            <a:avLst/>
          </a:prstGeom>
          <a:noFill/>
          <a:ln w="1397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1980s-90s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219456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Backprop and early neural nets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88920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59736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2006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2267712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learning revival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37176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07992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2012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4315968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CNN/ImageNet moment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885432" y="3575304"/>
            <a:ext cx="164592" cy="164592"/>
          </a:xfrm>
          <a:prstGeom prst="ellipse">
            <a:avLst/>
          </a:prstGeom>
          <a:solidFill>
            <a:srgbClr val="B65D3A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56248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2015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6364224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on ESC-50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33688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04504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2017-19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8412480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 matures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0981944" y="3575304"/>
            <a:ext cx="164592" cy="164592"/>
          </a:xfrm>
          <a:prstGeom prst="ellipse">
            <a:avLst/>
          </a:prstGeom>
          <a:solidFill>
            <a:srgbClr val="17677D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652760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2020s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0460736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Pretrained representations at scale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63401" y="4693985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use a 2015 benchmark as a time capsule: can later neural-network techniques produce measurable gains?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A562B3-85D6-D8F9-B3B8-1384B0F1FBB9}"/>
              </a:ext>
            </a:extLst>
          </p:cNvPr>
          <p:cNvSpPr/>
          <p:nvPr/>
        </p:nvSpPr>
        <p:spPr>
          <a:xfrm>
            <a:off x="6364224" y="2873846"/>
            <a:ext cx="5303520" cy="1688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3B50C48C-33E4-796F-F8B1-DB5A33A30F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Hypothesis, test design, and roadmap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1700784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2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Modern AI techniques will outperform the Piczak 2015 baseline on ESC-50.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49808" y="2788920"/>
            <a:ext cx="1627632" cy="59436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822960" y="3012948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2015 benchmark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5528" y="3438144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95728" y="3086100"/>
            <a:ext cx="73152" cy="0"/>
          </a:xfrm>
          <a:prstGeom prst="line">
            <a:avLst/>
          </a:prstGeom>
          <a:noFill/>
          <a:ln w="1143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 sz="2800"/>
          </a:p>
        </p:txBody>
      </p:sp>
      <p:sp>
        <p:nvSpPr>
          <p:cNvPr id="11" name="Shape 9"/>
          <p:cNvSpPr/>
          <p:nvPr/>
        </p:nvSpPr>
        <p:spPr>
          <a:xfrm>
            <a:off x="2496312" y="2788920"/>
            <a:ext cx="1627632" cy="59436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2" name="Text 10"/>
          <p:cNvSpPr/>
          <p:nvPr/>
        </p:nvSpPr>
        <p:spPr>
          <a:xfrm>
            <a:off x="2569464" y="3012948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eras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42032" y="3438144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progression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42232" y="3086100"/>
            <a:ext cx="73152" cy="0"/>
          </a:xfrm>
          <a:prstGeom prst="line">
            <a:avLst/>
          </a:prstGeom>
          <a:noFill/>
          <a:ln w="1143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 sz="2800"/>
          </a:p>
        </p:txBody>
      </p:sp>
      <p:sp>
        <p:nvSpPr>
          <p:cNvPr id="15" name="Shape 13"/>
          <p:cNvSpPr/>
          <p:nvPr/>
        </p:nvSpPr>
        <p:spPr>
          <a:xfrm>
            <a:off x="4242816" y="2788920"/>
            <a:ext cx="1627632" cy="59436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6" name="Text 14"/>
          <p:cNvSpPr/>
          <p:nvPr/>
        </p:nvSpPr>
        <p:spPr>
          <a:xfrm>
            <a:off x="4315968" y="3012948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outcomes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288536" y="3438144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| loss | runtime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30367" y="14173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lens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30367" y="1641348"/>
            <a:ext cx="4343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5-fold test accuracy is the headline metric.</a:t>
            </a:r>
            <a:endParaRPr lang="en-US" sz="1320" dirty="0"/>
          </a:p>
          <a:p>
            <a:endParaRPr lang="en-US" sz="1320" dirty="0"/>
          </a:p>
          <a:p>
            <a:r>
              <a:rPr lang="en-US" sz="13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Clip-level accuracy is used for segment-based models.</a:t>
            </a:r>
            <a:endParaRPr lang="en-US" sz="1320" dirty="0"/>
          </a:p>
          <a:p>
            <a:endParaRPr lang="en-US" sz="1320" dirty="0"/>
          </a:p>
          <a:p>
            <a:r>
              <a:rPr lang="en-US" sz="13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and runtime help interpret the magnitude of gains…if any.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749808" y="462686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" y="4882896"/>
            <a:ext cx="3675888" cy="786384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96112" y="5056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" y="5321808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| LSTM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4315968" y="4882896"/>
            <a:ext cx="3675888" cy="786384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62272" y="5056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462272" y="5321808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2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7882128" y="4882896"/>
            <a:ext cx="3566160" cy="786384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28432" y="5056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5321808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2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pic>
        <p:nvPicPr>
          <p:cNvPr id="31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DD9A5103-E31E-A504-2E47-C31FD59BDB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BENCHMARK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Piczak and ESC-50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4" name="Text 472"/>
          <p:cNvSpPr/>
          <p:nvPr/>
        </p:nvSpPr>
        <p:spPr>
          <a:xfrm>
            <a:off x="6554586" y="141531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5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ESC-50</a:t>
            </a:r>
            <a:endParaRPr lang="en-US" sz="2500" dirty="0"/>
          </a:p>
        </p:txBody>
      </p:sp>
      <p:sp>
        <p:nvSpPr>
          <p:cNvPr id="475" name="Shape 473"/>
          <p:cNvSpPr/>
          <p:nvPr/>
        </p:nvSpPr>
        <p:spPr>
          <a:xfrm>
            <a:off x="6554586" y="1872510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6" name="Text 474"/>
          <p:cNvSpPr/>
          <p:nvPr/>
        </p:nvSpPr>
        <p:spPr>
          <a:xfrm>
            <a:off x="6646026" y="200967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2,000</a:t>
            </a:r>
            <a:endParaRPr lang="en-US" sz="2100" dirty="0"/>
          </a:p>
        </p:txBody>
      </p:sp>
      <p:sp>
        <p:nvSpPr>
          <p:cNvPr id="477" name="Text 475"/>
          <p:cNvSpPr/>
          <p:nvPr/>
        </p:nvSpPr>
        <p:spPr>
          <a:xfrm>
            <a:off x="6664314" y="2402862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labeled audio clips</a:t>
            </a:r>
            <a:endParaRPr lang="en-US" sz="780" dirty="0"/>
          </a:p>
        </p:txBody>
      </p:sp>
      <p:sp>
        <p:nvSpPr>
          <p:cNvPr id="478" name="Shape 476"/>
          <p:cNvSpPr/>
          <p:nvPr/>
        </p:nvSpPr>
        <p:spPr>
          <a:xfrm>
            <a:off x="8749146" y="1872510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9" name="Text 477"/>
          <p:cNvSpPr/>
          <p:nvPr/>
        </p:nvSpPr>
        <p:spPr>
          <a:xfrm>
            <a:off x="8840586" y="200967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100" dirty="0"/>
          </a:p>
        </p:txBody>
      </p:sp>
      <p:sp>
        <p:nvSpPr>
          <p:cNvPr id="480" name="Text 478"/>
          <p:cNvSpPr/>
          <p:nvPr/>
        </p:nvSpPr>
        <p:spPr>
          <a:xfrm>
            <a:off x="8858874" y="2402862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classes</a:t>
            </a:r>
            <a:endParaRPr lang="en-US" sz="780" dirty="0"/>
          </a:p>
        </p:txBody>
      </p:sp>
      <p:sp>
        <p:nvSpPr>
          <p:cNvPr id="481" name="Shape 479"/>
          <p:cNvSpPr/>
          <p:nvPr/>
        </p:nvSpPr>
        <p:spPr>
          <a:xfrm>
            <a:off x="6554586" y="2951502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Text 480"/>
          <p:cNvSpPr/>
          <p:nvPr/>
        </p:nvSpPr>
        <p:spPr>
          <a:xfrm>
            <a:off x="6646026" y="308866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100" dirty="0"/>
          </a:p>
        </p:txBody>
      </p:sp>
      <p:sp>
        <p:nvSpPr>
          <p:cNvPr id="483" name="Text 481"/>
          <p:cNvSpPr/>
          <p:nvPr/>
        </p:nvSpPr>
        <p:spPr>
          <a:xfrm>
            <a:off x="6664314" y="3481854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folds</a:t>
            </a:r>
            <a:endParaRPr lang="en-US" sz="780" dirty="0"/>
          </a:p>
        </p:txBody>
      </p:sp>
      <p:sp>
        <p:nvSpPr>
          <p:cNvPr id="484" name="Shape 482"/>
          <p:cNvSpPr/>
          <p:nvPr/>
        </p:nvSpPr>
        <p:spPr>
          <a:xfrm>
            <a:off x="8749146" y="2951502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5" name="Text 483"/>
          <p:cNvSpPr/>
          <p:nvPr/>
        </p:nvSpPr>
        <p:spPr>
          <a:xfrm>
            <a:off x="8840586" y="308866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 sec</a:t>
            </a:r>
            <a:endParaRPr lang="en-US" sz="2100" dirty="0"/>
          </a:p>
        </p:txBody>
      </p:sp>
      <p:sp>
        <p:nvSpPr>
          <p:cNvPr id="486" name="Text 484"/>
          <p:cNvSpPr/>
          <p:nvPr/>
        </p:nvSpPr>
        <p:spPr>
          <a:xfrm>
            <a:off x="8858874" y="3481854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clip</a:t>
            </a:r>
            <a:endParaRPr lang="en-US" sz="780" dirty="0"/>
          </a:p>
        </p:txBody>
      </p:sp>
      <p:sp>
        <p:nvSpPr>
          <p:cNvPr id="487" name="Text 485"/>
          <p:cNvSpPr/>
          <p:nvPr/>
        </p:nvSpPr>
        <p:spPr>
          <a:xfrm>
            <a:off x="6524944" y="4436849"/>
            <a:ext cx="14162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488" name="Text 486"/>
          <p:cNvSpPr/>
          <p:nvPr/>
        </p:nvSpPr>
        <p:spPr>
          <a:xfrm>
            <a:off x="6543232" y="4775177"/>
            <a:ext cx="5428923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Environmental sound classification lagged speech and music processing.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 gave researchers a clean, repeatable benchmark.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folds support direct comparison with published results.</a:t>
            </a:r>
            <a:endParaRPr lang="en-US" sz="1300" dirty="0"/>
          </a:p>
        </p:txBody>
      </p:sp>
      <p:sp>
        <p:nvSpPr>
          <p:cNvPr id="490" name="Text 48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491" name="Text 486">
            <a:extLst>
              <a:ext uri="{FF2B5EF4-FFF2-40B4-BE49-F238E27FC236}">
                <a16:creationId xmlns:a16="http://schemas.microsoft.com/office/drawing/2014/main" id="{4F12BFD9-B7A4-EF4A-9577-365E58A8A4DB}"/>
              </a:ext>
            </a:extLst>
          </p:cNvPr>
          <p:cNvSpPr/>
          <p:nvPr/>
        </p:nvSpPr>
        <p:spPr>
          <a:xfrm>
            <a:off x="807279" y="1874520"/>
            <a:ext cx="5414478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00" dirty="0" err="1">
                <a:solidFill>
                  <a:srgbClr val="1F2528"/>
                </a:solidFill>
                <a:latin typeface="Aptos" pitchFamily="34" charset="0"/>
              </a:rPr>
              <a:t>Piczak’s</a:t>
            </a:r>
            <a:r>
              <a:rPr lang="en-US" sz="1300" dirty="0">
                <a:solidFill>
                  <a:srgbClr val="1F2528"/>
                </a:solidFill>
                <a:latin typeface="Aptos" pitchFamily="34" charset="0"/>
              </a:rPr>
              <a:t> 2015 model converts each 5-second ESC-50 audio clip into log-</a:t>
            </a:r>
            <a:r>
              <a:rPr lang="en-US" sz="1300" dirty="0" err="1">
                <a:solidFill>
                  <a:srgbClr val="1F2528"/>
                </a:solidFill>
                <a:latin typeface="Aptos" pitchFamily="34" charset="0"/>
              </a:rPr>
              <a:t>mel</a:t>
            </a:r>
            <a:r>
              <a:rPr lang="en-US" sz="1300" dirty="0">
                <a:solidFill>
                  <a:srgbClr val="1F2528"/>
                </a:solidFill>
                <a:latin typeface="Aptos" pitchFamily="34" charset="0"/>
              </a:rPr>
              <a:t> spectrogram segments, classifies those segments with a two-layer CNN trained from scratch, then aggregates segment predictions into a clip-level prediction using voting. It established a strong neural baseline for environmental sound classification.</a:t>
            </a:r>
          </a:p>
        </p:txBody>
      </p:sp>
      <p:sp>
        <p:nvSpPr>
          <p:cNvPr id="492" name="Text 485">
            <a:extLst>
              <a:ext uri="{FF2B5EF4-FFF2-40B4-BE49-F238E27FC236}">
                <a16:creationId xmlns:a16="http://schemas.microsoft.com/office/drawing/2014/main" id="{56F06144-76D2-6E75-4D50-4DC15453B6B3}"/>
              </a:ext>
            </a:extLst>
          </p:cNvPr>
          <p:cNvSpPr/>
          <p:nvPr/>
        </p:nvSpPr>
        <p:spPr>
          <a:xfrm>
            <a:off x="807279" y="1557834"/>
            <a:ext cx="14162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Summary</a:t>
            </a:r>
            <a:endParaRPr lang="en-US" sz="1100" dirty="0"/>
          </a:p>
        </p:txBody>
      </p:sp>
      <p:pic>
        <p:nvPicPr>
          <p:cNvPr id="493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81B4FE68-277B-E414-D703-024BB80D67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6" name="Picture 495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D210B0F5-88EB-1077-0E34-75066285AF9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4622" y="3213307"/>
            <a:ext cx="2293407" cy="2330638"/>
          </a:xfrm>
          <a:prstGeom prst="rect">
            <a:avLst/>
          </a:prstGeom>
        </p:spPr>
      </p:pic>
      <p:pic>
        <p:nvPicPr>
          <p:cNvPr id="498" name="Picture 497" descr="A graph of a graph with lines and numbers&#10;&#10;AI-generated content may be incorrect.">
            <a:extLst>
              <a:ext uri="{FF2B5EF4-FFF2-40B4-BE49-F238E27FC236}">
                <a16:creationId xmlns:a16="http://schemas.microsoft.com/office/drawing/2014/main" id="{CE6E4EBE-47F3-3F47-E85B-7F9A907CDD4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54973" y="3417846"/>
            <a:ext cx="1670630" cy="1624008"/>
          </a:xfrm>
          <a:prstGeom prst="rect">
            <a:avLst/>
          </a:prstGeom>
        </p:spPr>
      </p:pic>
      <p:pic>
        <p:nvPicPr>
          <p:cNvPr id="500" name="Picture 499">
            <a:extLst>
              <a:ext uri="{FF2B5EF4-FFF2-40B4-BE49-F238E27FC236}">
                <a16:creationId xmlns:a16="http://schemas.microsoft.com/office/drawing/2014/main" id="{4960458B-EE35-283B-E677-CADB332A50A8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E"/>
              </a:clrFrom>
              <a:clrTo>
                <a:srgbClr val="FFFF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50661" y="5045181"/>
            <a:ext cx="3021721" cy="347216"/>
          </a:xfrm>
          <a:prstGeom prst="rect">
            <a:avLst/>
          </a:prstGeom>
        </p:spPr>
      </p:pic>
      <p:sp>
        <p:nvSpPr>
          <p:cNvPr id="501" name="Rectangle 500">
            <a:extLst>
              <a:ext uri="{FF2B5EF4-FFF2-40B4-BE49-F238E27FC236}">
                <a16:creationId xmlns:a16="http://schemas.microsoft.com/office/drawing/2014/main" id="{00BB4C16-2AFE-0A05-09B8-3EC018B04C8C}"/>
              </a:ext>
            </a:extLst>
          </p:cNvPr>
          <p:cNvSpPr/>
          <p:nvPr/>
        </p:nvSpPr>
        <p:spPr>
          <a:xfrm>
            <a:off x="3101287" y="3253253"/>
            <a:ext cx="3120470" cy="22997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9A3B1683-A76E-36B5-FAE8-A77EBE055D51}"/>
              </a:ext>
            </a:extLst>
          </p:cNvPr>
          <p:cNvSpPr/>
          <p:nvPr/>
        </p:nvSpPr>
        <p:spPr>
          <a:xfrm>
            <a:off x="594360" y="3244145"/>
            <a:ext cx="2383669" cy="22998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TECHNICAL ERA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Era 1: training from scratch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417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17007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 useful audio knowledge must be learned from ESC-50.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932688" y="2788920"/>
            <a:ext cx="2286000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426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15568" y="29992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</a:t>
            </a:r>
            <a:endParaRPr lang="en-US" sz="16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2,000 clips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29000" y="3291840"/>
            <a:ext cx="1143000" cy="0"/>
          </a:xfrm>
          <a:prstGeom prst="line">
            <a:avLst/>
          </a:prstGeom>
          <a:noFill/>
          <a:ln w="1778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36592" y="2907792"/>
            <a:ext cx="1965960" cy="77724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9744" y="3223260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learning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2280" y="3291840"/>
            <a:ext cx="1005840" cy="0"/>
          </a:xfrm>
          <a:prstGeom prst="line">
            <a:avLst/>
          </a:prstGeom>
          <a:noFill/>
          <a:ln w="1778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73568" y="2907792"/>
            <a:ext cx="1965960" cy="77724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046720" y="3223260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8680" y="4434841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This era establishes what small labeled audio data can support before importing external knowledge.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pic>
        <p:nvPicPr>
          <p:cNvPr id="38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00119E58-1EB2-4D7F-C4A5-63A236FDB7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Shape 19">
            <a:extLst>
              <a:ext uri="{FF2B5EF4-FFF2-40B4-BE49-F238E27FC236}">
                <a16:creationId xmlns:a16="http://schemas.microsoft.com/office/drawing/2014/main" id="{542DCAE2-842E-6FFD-C0D9-9ADB8EE17C0E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994F063A-D545-131C-BE07-6246FFACAD72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28254494-31E4-D07A-F95D-29721EB63A7E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| LSTM</a:t>
            </a:r>
            <a:endParaRPr lang="en-US" sz="500" dirty="0"/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0D1201FC-1605-57E2-36E2-4A154E67F7C0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A942D550-9AB4-6A9B-2F77-07F2080E8F54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DC838243-2117-3706-BB93-9696F27C77D9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45" name="Shape 25">
            <a:extLst>
              <a:ext uri="{FF2B5EF4-FFF2-40B4-BE49-F238E27FC236}">
                <a16:creationId xmlns:a16="http://schemas.microsoft.com/office/drawing/2014/main" id="{247F5F0C-9B55-8998-B573-157964B71964}"/>
              </a:ext>
            </a:extLst>
          </p:cNvPr>
          <p:cNvSpPr/>
          <p:nvPr/>
        </p:nvSpPr>
        <p:spPr>
          <a:xfrm>
            <a:off x="9539181" y="757039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3CFCCBE6-76B2-DCDC-671C-B9F9E353B5AC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2ED423B7-FF86-9200-B884-1F50FCB3D06F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1: TRAINING FROM SCRATCH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55541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Piczak CNN baseline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43871" y="2090533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950" b="1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950" b="1" dirty="0">
                <a:solidFill>
                  <a:srgbClr val="6B7176"/>
                </a:solidFill>
                <a:latin typeface="Aptos" pitchFamily="34" charset="0"/>
              </a:rPr>
              <a:t> Model Architecture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957490" y="4123666"/>
            <a:ext cx="20116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048930" y="426082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B65D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64.5%</a:t>
            </a:r>
            <a:endParaRPr lang="en-US" sz="2100" dirty="0"/>
          </a:p>
        </p:txBody>
      </p:sp>
      <p:sp>
        <p:nvSpPr>
          <p:cNvPr id="52" name="Text 50"/>
          <p:cNvSpPr/>
          <p:nvPr/>
        </p:nvSpPr>
        <p:spPr>
          <a:xfrm>
            <a:off x="7067218" y="4654018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published LP clip-level reference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9216058" y="4123666"/>
            <a:ext cx="182880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426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307498" y="426082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426E9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63.5%</a:t>
            </a:r>
            <a:endParaRPr lang="en-US" sz="2100" dirty="0"/>
          </a:p>
        </p:txBody>
      </p:sp>
      <p:sp>
        <p:nvSpPr>
          <p:cNvPr id="55" name="Text 53"/>
          <p:cNvSpPr/>
          <p:nvPr/>
        </p:nvSpPr>
        <p:spPr>
          <a:xfrm>
            <a:off x="9325786" y="4654018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corrected baseline rerun</a:t>
            </a:r>
            <a:endParaRPr lang="en-US" sz="780" dirty="0"/>
          </a:p>
        </p:txBody>
      </p:sp>
      <p:sp>
        <p:nvSpPr>
          <p:cNvPr id="56" name="Text 54"/>
          <p:cNvSpPr/>
          <p:nvPr/>
        </p:nvSpPr>
        <p:spPr>
          <a:xfrm>
            <a:off x="6957490" y="512950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result closely match those found by </a:t>
            </a:r>
            <a:r>
              <a:rPr lang="en-US" sz="850" i="1" dirty="0" err="1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pic>
        <p:nvPicPr>
          <p:cNvPr id="65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C25CD2BE-7817-206E-1F06-E1ADB2C117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Shape 19">
            <a:extLst>
              <a:ext uri="{FF2B5EF4-FFF2-40B4-BE49-F238E27FC236}">
                <a16:creationId xmlns:a16="http://schemas.microsoft.com/office/drawing/2014/main" id="{E83816CA-4F3B-F6FD-061B-01F6FE1D8F6C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13D12D4-8132-E24E-FD31-A7E441C1FBE3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8EFBBBB-3CF4-717D-5C25-509362FF8D1E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 </a:t>
            </a: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5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9" name="Shape 22">
            <a:extLst>
              <a:ext uri="{FF2B5EF4-FFF2-40B4-BE49-F238E27FC236}">
                <a16:creationId xmlns:a16="http://schemas.microsoft.com/office/drawing/2014/main" id="{DC9119E4-629A-01A9-41A2-861B486C37B5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AE97F5CD-CAF6-93AE-5F32-3A0B22DA47F3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71" name="Text 24">
            <a:extLst>
              <a:ext uri="{FF2B5EF4-FFF2-40B4-BE49-F238E27FC236}">
                <a16:creationId xmlns:a16="http://schemas.microsoft.com/office/drawing/2014/main" id="{5E5C9F3B-92EF-5D32-9640-0484AF364E08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72" name="Shape 25">
            <a:extLst>
              <a:ext uri="{FF2B5EF4-FFF2-40B4-BE49-F238E27FC236}">
                <a16:creationId xmlns:a16="http://schemas.microsoft.com/office/drawing/2014/main" id="{E3F1884B-4F70-C240-EFA9-E026555FAB1C}"/>
              </a:ext>
            </a:extLst>
          </p:cNvPr>
          <p:cNvSpPr/>
          <p:nvPr/>
        </p:nvSpPr>
        <p:spPr>
          <a:xfrm>
            <a:off x="9539181" y="757039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E983F73B-68E9-E20A-7974-403124188484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74" name="Text 27">
            <a:extLst>
              <a:ext uri="{FF2B5EF4-FFF2-40B4-BE49-F238E27FC236}">
                <a16:creationId xmlns:a16="http://schemas.microsoft.com/office/drawing/2014/main" id="{719FC62E-FD44-6137-35E1-A1B5D52252EC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graphicFrame>
        <p:nvGraphicFramePr>
          <p:cNvPr id="77" name="Table 0">
            <a:extLst>
              <a:ext uri="{FF2B5EF4-FFF2-40B4-BE49-F238E27FC236}">
                <a16:creationId xmlns:a16="http://schemas.microsoft.com/office/drawing/2014/main" id="{D872496B-5045-EA29-731E-947CEFE0D4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265255"/>
              </p:ext>
            </p:extLst>
          </p:nvPr>
        </p:nvGraphicFramePr>
        <p:xfrm>
          <a:off x="694942" y="2368295"/>
          <a:ext cx="4434151" cy="1713738"/>
        </p:xfrm>
        <a:graphic>
          <a:graphicData uri="http://schemas.openxmlformats.org/drawingml/2006/table">
            <a:tbl>
              <a:tblPr/>
              <a:tblGrid>
                <a:gridCol w="1058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5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47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ESC-50 waveform -&gt; log-mel spectrogram + delta, shape (2, 60, T)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Segments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Short: 41 frames, hop 20; Long: 101 frames, hop 10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Conv block 1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Conv2d 2-&gt;80, kernel 57x6; ReLU; Dropout 0.5; MaxPool 4x3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Conv block 2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Conv2d 80-&gt;80, kernel 1x3; ReLU; MaxPool 1x3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Dense 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Flatten -&gt; FC 5000 ReLU Dropout -&gt; FC 5000 ReLU Dropout -&gt; FC 50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08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CrossEntropyLoss; SGD lr 0.002/0.01; momentum 0.9; Nesterov; weight decay 0.001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Evaluation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Softmax per segment; average probabilities by filename for clip-level vote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146" name="Picture 2">
            <a:extLst>
              <a:ext uri="{FF2B5EF4-FFF2-40B4-BE49-F238E27FC236}">
                <a16:creationId xmlns:a16="http://schemas.microsoft.com/office/drawing/2014/main" id="{6D8B3606-3B4D-72B8-AB36-768ADD156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7692" y="1556753"/>
            <a:ext cx="5464127" cy="2411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" name="Text 36">
            <a:extLst>
              <a:ext uri="{FF2B5EF4-FFF2-40B4-BE49-F238E27FC236}">
                <a16:creationId xmlns:a16="http://schemas.microsoft.com/office/drawing/2014/main" id="{75040A3D-A3DD-DE79-FE2D-DE328C7F20F2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1000" dirty="0"/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74AEBF92-4E48-053F-BD7A-6F0563C7AB0E}"/>
              </a:ext>
            </a:extLst>
          </p:cNvPr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3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from-scratch architecture: tests temporal modeling before importing external pretrained knowledge.</a:t>
            </a:r>
            <a:endParaRPr lang="en-US" sz="1130" dirty="0"/>
          </a:p>
        </p:txBody>
      </p:sp>
      <p:sp>
        <p:nvSpPr>
          <p:cNvPr id="84" name="Text 11">
            <a:extLst>
              <a:ext uri="{FF2B5EF4-FFF2-40B4-BE49-F238E27FC236}">
                <a16:creationId xmlns:a16="http://schemas.microsoft.com/office/drawing/2014/main" id="{90570715-2678-B8CB-A761-32B6960626D5}"/>
              </a:ext>
            </a:extLst>
          </p:cNvPr>
          <p:cNvSpPr/>
          <p:nvPr/>
        </p:nvSpPr>
        <p:spPr>
          <a:xfrm>
            <a:off x="777240" y="1325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00" dirty="0"/>
          </a:p>
        </p:txBody>
      </p:sp>
      <p:sp>
        <p:nvSpPr>
          <p:cNvPr id="85" name="Text 12">
            <a:extLst>
              <a:ext uri="{FF2B5EF4-FFF2-40B4-BE49-F238E27FC236}">
                <a16:creationId xmlns:a16="http://schemas.microsoft.com/office/drawing/2014/main" id="{94FC8E45-A82A-CF53-FF50-FEACCB11CE0C}"/>
              </a:ext>
            </a:extLst>
          </p:cNvPr>
          <p:cNvSpPr/>
          <p:nvPr/>
        </p:nvSpPr>
        <p:spPr>
          <a:xfrm>
            <a:off x="777240" y="1600200"/>
            <a:ext cx="595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GOES HERE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1: TRAINING FROM SCRATCH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LSTM extension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77240" y="1325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1600200"/>
            <a:ext cx="595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local spectrogram patterns to temporal sequence modeling.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7185983" y="4727447"/>
            <a:ext cx="192024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426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277423" y="4864607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426E9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56.8%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295711" y="5257799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5-fold clip-level accuracy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9289103" y="5029199"/>
            <a:ext cx="251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Best: 59.0%. Takeaway wording pending teammate confirmation.</a:t>
            </a:r>
            <a:endParaRPr lang="en-US" sz="850" dirty="0"/>
          </a:p>
        </p:txBody>
      </p:sp>
      <p:pic>
        <p:nvPicPr>
          <p:cNvPr id="38" name="Image 0" descr="/Users/andrew/Library/CloudStorage/OneDrive-CornellUniversity/Courses/SYSEN5888/ Project/DeepLearning5888Project/Plots and Data/LSTM/LSTM_Run8_CapacityMeanPool_long/curv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2320" y="1600200"/>
            <a:ext cx="4114800" cy="306324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3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from-scratch architecture: tests temporal modeling before importing external pretrained knowledge.</a:t>
            </a:r>
            <a:endParaRPr lang="en-US" sz="1130" dirty="0"/>
          </a:p>
        </p:txBody>
      </p:sp>
      <p:sp>
        <p:nvSpPr>
          <p:cNvPr id="41" name="Text 3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pic>
        <p:nvPicPr>
          <p:cNvPr id="49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21052E2F-76ED-2FFC-D206-D31C31D0D4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Shape 19">
            <a:extLst>
              <a:ext uri="{FF2B5EF4-FFF2-40B4-BE49-F238E27FC236}">
                <a16:creationId xmlns:a16="http://schemas.microsoft.com/office/drawing/2014/main" id="{07FAD0BE-4F31-699C-D5A9-12E056BF2C06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1" name="Text 20">
            <a:extLst>
              <a:ext uri="{FF2B5EF4-FFF2-40B4-BE49-F238E27FC236}">
                <a16:creationId xmlns:a16="http://schemas.microsoft.com/office/drawing/2014/main" id="{EE3E5F18-639F-9B03-B8B3-F152A7C1E928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52" name="Text 21">
            <a:extLst>
              <a:ext uri="{FF2B5EF4-FFF2-40B4-BE49-F238E27FC236}">
                <a16:creationId xmlns:a16="http://schemas.microsoft.com/office/drawing/2014/main" id="{27A93C74-65E1-2F1C-7E4E-BFF7DF063491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500" b="1" dirty="0"/>
          </a:p>
        </p:txBody>
      </p:sp>
      <p:sp>
        <p:nvSpPr>
          <p:cNvPr id="53" name="Shape 22">
            <a:extLst>
              <a:ext uri="{FF2B5EF4-FFF2-40B4-BE49-F238E27FC236}">
                <a16:creationId xmlns:a16="http://schemas.microsoft.com/office/drawing/2014/main" id="{5E856389-785C-EDDD-2E93-69A6E4437709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4" name="Text 23">
            <a:extLst>
              <a:ext uri="{FF2B5EF4-FFF2-40B4-BE49-F238E27FC236}">
                <a16:creationId xmlns:a16="http://schemas.microsoft.com/office/drawing/2014/main" id="{E70FD8BD-8D92-81E6-9C3C-AC93C8A0C1EE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55" name="Text 24">
            <a:extLst>
              <a:ext uri="{FF2B5EF4-FFF2-40B4-BE49-F238E27FC236}">
                <a16:creationId xmlns:a16="http://schemas.microsoft.com/office/drawing/2014/main" id="{C5EBDED2-597B-9227-B546-C4D2824C88F6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56" name="Shape 25">
            <a:extLst>
              <a:ext uri="{FF2B5EF4-FFF2-40B4-BE49-F238E27FC236}">
                <a16:creationId xmlns:a16="http://schemas.microsoft.com/office/drawing/2014/main" id="{C563647B-B7FA-7A82-4E25-D456384BC8F0}"/>
              </a:ext>
            </a:extLst>
          </p:cNvPr>
          <p:cNvSpPr/>
          <p:nvPr/>
        </p:nvSpPr>
        <p:spPr>
          <a:xfrm>
            <a:off x="9539181" y="757039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FDD7A5D5-2EF0-FA2E-CAED-E6DF2A85E002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1F3398B0-70FF-C5E6-5B81-8C74E3BDC7DE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F20D3218-9702-6A66-A7A5-78BBE25A8AE9}"/>
              </a:ext>
            </a:extLst>
          </p:cNvPr>
          <p:cNvSpPr/>
          <p:nvPr/>
        </p:nvSpPr>
        <p:spPr>
          <a:xfrm>
            <a:off x="737817" y="2104846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architecture</a:t>
            </a:r>
            <a:endParaRPr lang="en-US" sz="1020" dirty="0"/>
          </a:p>
        </p:txBody>
      </p:sp>
      <p:graphicFrame>
        <p:nvGraphicFramePr>
          <p:cNvPr id="64" name="Table 0">
            <a:extLst>
              <a:ext uri="{FF2B5EF4-FFF2-40B4-BE49-F238E27FC236}">
                <a16:creationId xmlns:a16="http://schemas.microsoft.com/office/drawing/2014/main" id="{FC8DB78C-642E-6F69-B208-159BD479B3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720342"/>
              </p:ext>
            </p:extLst>
          </p:nvPr>
        </p:nvGraphicFramePr>
        <p:xfrm>
          <a:off x="694944" y="2358423"/>
          <a:ext cx="4434165" cy="1713738"/>
        </p:xfrm>
        <a:graphic>
          <a:graphicData uri="http://schemas.openxmlformats.org/drawingml/2006/table">
            <a:tbl>
              <a:tblPr/>
              <a:tblGrid>
                <a:gridCol w="1028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5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Piczak log-mel + delta segment tensor, shape (B, 2, 60, T)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Reshape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(B, 2, 60, T) -&gt; (B, T, 120); one sequence step per time frame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Recurrent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1-layer bidirectional LSTM; hidden size 256; Xavier/orthogonal init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Pooling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Mean pooling over all time-step outputs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Dropout 0.3 -&gt; Linear 512-&gt;50 logits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CrossEntropyLoss; Adam lr 1e-3; weight decay 1e-4; cosine LR; grad clip 1.0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Evaluation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Clip-level probability voting; 60 epochs; batch size 64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 TECHNICAL ERA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6573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Era shift: transfer learning with pretrained CNN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13716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166420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 the representation elsewhere. Adapt it here.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2743200"/>
            <a:ext cx="2743200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97280" y="2971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audio datasets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97280" y="3246120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886200" y="3246120"/>
            <a:ext cx="1069848" cy="0"/>
          </a:xfrm>
          <a:prstGeom prst="line">
            <a:avLst/>
          </a:prstGeom>
          <a:noFill/>
          <a:ln w="1905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138928" y="2743200"/>
            <a:ext cx="2148840" cy="1005840"/>
          </a:xfrm>
          <a:prstGeom prst="rect">
            <a:avLst/>
          </a:prstGeom>
          <a:solidFill>
            <a:srgbClr val="FDFDFB"/>
          </a:solidFill>
          <a:ln w="1016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212080" y="3172968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Pretrained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CNN-style encoder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52360" y="3246120"/>
            <a:ext cx="1005840" cy="0"/>
          </a:xfrm>
          <a:prstGeom prst="line">
            <a:avLst/>
          </a:prstGeom>
          <a:noFill/>
          <a:ln w="1905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641080" y="2743200"/>
            <a:ext cx="1920240" cy="100584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14232" y="317296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fine-tuning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572000"/>
            <a:ext cx="950976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 is small for learning robust audio features from scratch.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 imports representations learned from much larger audio datasets.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era tests pretrained CNN-style audio models before transformer-based audio encoders.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  <p:pic>
        <p:nvPicPr>
          <p:cNvPr id="31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62E0AF86-B513-90EF-C7B7-DDB5A9E396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Shape 19">
            <a:extLst>
              <a:ext uri="{FF2B5EF4-FFF2-40B4-BE49-F238E27FC236}">
                <a16:creationId xmlns:a16="http://schemas.microsoft.com/office/drawing/2014/main" id="{260A39BB-675D-9A5C-9111-93699EA456EF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BA526180-DF64-53B3-1180-B6DBF5A9B1C8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91AA0ADC-A28C-7C05-372C-FD6A76EC5657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Piczak CNN | LSTM</a:t>
            </a:r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7BC609B8-2454-D1E2-FD78-ECFA4A2277B6}"/>
              </a:ext>
            </a:extLst>
          </p:cNvPr>
          <p:cNvSpPr/>
          <p:nvPr/>
        </p:nvSpPr>
        <p:spPr>
          <a:xfrm>
            <a:off x="7904546" y="750102"/>
            <a:ext cx="1809206" cy="295381"/>
          </a:xfrm>
          <a:prstGeom prst="chevron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5795C228-2271-C0A9-F5DA-A886FEE6BFCA}"/>
              </a:ext>
            </a:extLst>
          </p:cNvPr>
          <p:cNvSpPr/>
          <p:nvPr/>
        </p:nvSpPr>
        <p:spPr>
          <a:xfrm>
            <a:off x="7976392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9EEFE770-72AD-FDAB-7578-75687A89F7E1}"/>
              </a:ext>
            </a:extLst>
          </p:cNvPr>
          <p:cNvSpPr/>
          <p:nvPr/>
        </p:nvSpPr>
        <p:spPr>
          <a:xfrm>
            <a:off x="7997198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87FAA393-F71D-9400-5795-A3916A051E8B}"/>
              </a:ext>
            </a:extLst>
          </p:cNvPr>
          <p:cNvSpPr/>
          <p:nvPr/>
        </p:nvSpPr>
        <p:spPr>
          <a:xfrm>
            <a:off x="9539181" y="757039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180CCBB2-1146-638B-A7EE-280D19E1094A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40" name="Text 27">
            <a:extLst>
              <a:ext uri="{FF2B5EF4-FFF2-40B4-BE49-F238E27FC236}">
                <a16:creationId xmlns:a16="http://schemas.microsoft.com/office/drawing/2014/main" id="{3FEF8C9C-411D-2FBC-9DE3-A476A096BB75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2: PRETRAINED CNN MODELS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57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VGGish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31520" y="13075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159105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 earlier pretrained audio embeddings improve the relative to the </a:t>
            </a:r>
            <a:r>
              <a:rPr lang="en-US" sz="1850" b="1" dirty="0" err="1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Piczak</a:t>
            </a: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baseline?</a:t>
            </a:r>
            <a:endParaRPr lang="en-US" sz="1850" dirty="0"/>
          </a:p>
        </p:txBody>
      </p:sp>
      <p:pic>
        <p:nvPicPr>
          <p:cNvPr id="28" name="Image 0" descr="/Users/andrew/Library/CloudStorage/OneDrive-CornellUniversity/Courses/SYSEN5888/ Project/DeepLearning5888Project/Code/Transfer Learning/VGGish Results/VGGish_combined_training_test_metrics_1fold_5f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2932" y="1591056"/>
            <a:ext cx="5739517" cy="2411187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pic>
        <p:nvPicPr>
          <p:cNvPr id="39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70581EA3-7FD6-9274-5A7F-2276042D87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Shape 19">
            <a:extLst>
              <a:ext uri="{FF2B5EF4-FFF2-40B4-BE49-F238E27FC236}">
                <a16:creationId xmlns:a16="http://schemas.microsoft.com/office/drawing/2014/main" id="{F4B1D313-400F-C86F-F1BC-66831C991BF8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E1448172-5396-E3C6-4D40-8BDEEC0A707A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B54F4DD5-DC85-A01E-61D4-C388D677A0B4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Piczak CNN | LSTM</a:t>
            </a:r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E25D3238-A5D6-1BEE-AC6D-187287686F9C}"/>
              </a:ext>
            </a:extLst>
          </p:cNvPr>
          <p:cNvSpPr/>
          <p:nvPr/>
        </p:nvSpPr>
        <p:spPr>
          <a:xfrm>
            <a:off x="7904546" y="750102"/>
            <a:ext cx="1809206" cy="295381"/>
          </a:xfrm>
          <a:prstGeom prst="chevron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95E66961-629E-D6C7-A190-6EAAC2228176}"/>
              </a:ext>
            </a:extLst>
          </p:cNvPr>
          <p:cNvSpPr/>
          <p:nvPr/>
        </p:nvSpPr>
        <p:spPr>
          <a:xfrm>
            <a:off x="7976392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0289B8E7-D505-8143-3E78-9A71FD0CFFD8}"/>
              </a:ext>
            </a:extLst>
          </p:cNvPr>
          <p:cNvSpPr/>
          <p:nvPr/>
        </p:nvSpPr>
        <p:spPr>
          <a:xfrm>
            <a:off x="7997198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VGGish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YAMNet</a:t>
            </a:r>
          </a:p>
        </p:txBody>
      </p:sp>
      <p:sp>
        <p:nvSpPr>
          <p:cNvPr id="55" name="Shape 25">
            <a:extLst>
              <a:ext uri="{FF2B5EF4-FFF2-40B4-BE49-F238E27FC236}">
                <a16:creationId xmlns:a16="http://schemas.microsoft.com/office/drawing/2014/main" id="{9CB51AAC-4FCC-FE93-26E6-196325D69BD5}"/>
              </a:ext>
            </a:extLst>
          </p:cNvPr>
          <p:cNvSpPr/>
          <p:nvPr/>
        </p:nvSpPr>
        <p:spPr>
          <a:xfrm>
            <a:off x="9539181" y="757039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E0FD8DBC-AB01-E774-B34D-96709E6C3731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18261ED5-3C63-046F-BC20-333C41372F6E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sp>
        <p:nvSpPr>
          <p:cNvPr id="62" name="Text 13">
            <a:extLst>
              <a:ext uri="{FF2B5EF4-FFF2-40B4-BE49-F238E27FC236}">
                <a16:creationId xmlns:a16="http://schemas.microsoft.com/office/drawing/2014/main" id="{229E2658-112E-F719-49CE-9985BC24BC31}"/>
              </a:ext>
            </a:extLst>
          </p:cNvPr>
          <p:cNvSpPr/>
          <p:nvPr/>
        </p:nvSpPr>
        <p:spPr>
          <a:xfrm>
            <a:off x="749808" y="2121408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architecture</a:t>
            </a:r>
            <a:endParaRPr lang="en-US" sz="1020" dirty="0"/>
          </a:p>
        </p:txBody>
      </p:sp>
      <p:graphicFrame>
        <p:nvGraphicFramePr>
          <p:cNvPr id="63" name="Table 0">
            <a:extLst>
              <a:ext uri="{FF2B5EF4-FFF2-40B4-BE49-F238E27FC236}">
                <a16:creationId xmlns:a16="http://schemas.microsoft.com/office/drawing/2014/main" id="{67D2C704-0661-0B2F-A14F-6D045430F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448884"/>
              </p:ext>
            </p:extLst>
          </p:nvPr>
        </p:nvGraphicFramePr>
        <p:xfrm>
          <a:off x="694944" y="2359153"/>
          <a:ext cx="4443981" cy="1496568"/>
        </p:xfrm>
        <a:graphic>
          <a:graphicData uri="http://schemas.openxmlformats.org/drawingml/2006/table">
            <a:tbl>
              <a:tblPr/>
              <a:tblGrid>
                <a:gridCol w="11213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2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16 kHz waveform -&gt; VGGish log-mel examples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Encoder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Pretrained VGGish CNN embedding network; output 128-d vector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Linear 128-&gt;256; ReLU; Dropout 0.3; Linear 256-&gt;50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Frozen run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Freeze VGGish; train classifier only; Adam lr 1e-3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Fine-tuned run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Train VGGish + classifier; Adam lr 1e-4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Training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CrossEntropyLoss; batch size 32; 50 epochs; 5 official folds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4" name="Table 1">
            <a:extLst>
              <a:ext uri="{FF2B5EF4-FFF2-40B4-BE49-F238E27FC236}">
                <a16:creationId xmlns:a16="http://schemas.microsoft.com/office/drawing/2014/main" id="{D91EE508-A360-8F17-6E14-BE2189742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833763"/>
              </p:ext>
            </p:extLst>
          </p:nvPr>
        </p:nvGraphicFramePr>
        <p:xfrm>
          <a:off x="6141156" y="4226223"/>
          <a:ext cx="4389120" cy="749808"/>
        </p:xfrm>
        <a:graphic>
          <a:graphicData uri="http://schemas.openxmlformats.org/drawingml/2006/table">
            <a:tbl>
              <a:tblPr/>
              <a:tblGrid>
                <a:gridCol w="2106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11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</a:rPr>
                        <a:t>Variant</a:t>
                      </a:r>
                      <a:endParaRPr lang="en-US" sz="92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92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</a:rPr>
                        <a:t>Best</a:t>
                      </a:r>
                      <a:endParaRPr lang="en-US" sz="92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b="1" dirty="0">
                          <a:solidFill>
                            <a:srgbClr val="1F2528"/>
                          </a:solidFill>
                        </a:rPr>
                        <a:t>Frozen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56.45%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60.25%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b="1" dirty="0">
                          <a:solidFill>
                            <a:srgbClr val="1F2528"/>
                          </a:solidFill>
                        </a:rPr>
                        <a:t>Fine-tuned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53.15%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53.50%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7" name="Text 36">
            <a:extLst>
              <a:ext uri="{FF2B5EF4-FFF2-40B4-BE49-F238E27FC236}">
                <a16:creationId xmlns:a16="http://schemas.microsoft.com/office/drawing/2014/main" id="{7B2605E7-9EA7-2676-394D-83EB409E56B8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68" name="Text 37">
            <a:extLst>
              <a:ext uri="{FF2B5EF4-FFF2-40B4-BE49-F238E27FC236}">
                <a16:creationId xmlns:a16="http://schemas.microsoft.com/office/drawing/2014/main" id="{52A94FD0-6FBB-522B-5D0B-8FE8E3D8FA09}"/>
              </a:ext>
            </a:extLst>
          </p:cNvPr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Pretraining is not automatically enough; representation fit and optimization choices matter.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2: PRETRAINED CNN MODELS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YAMNet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31520" y="13075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19" y="1591056"/>
            <a:ext cx="51511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happens when the pretrained audio representation is a better fit?</a:t>
            </a:r>
            <a:endParaRPr lang="en-US" sz="1850" dirty="0"/>
          </a:p>
        </p:txBody>
      </p:sp>
      <p:sp>
        <p:nvSpPr>
          <p:cNvPr id="30" name="Shape 28"/>
          <p:cNvSpPr/>
          <p:nvPr/>
        </p:nvSpPr>
        <p:spPr>
          <a:xfrm>
            <a:off x="6591302" y="4233671"/>
            <a:ext cx="196596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82742" y="4370831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83.4%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6701030" y="4764023"/>
            <a:ext cx="1746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fine-tuned final 5-fold accuracy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8785862" y="456285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Best: 84.45%. First large jump in the current results.</a:t>
            </a:r>
            <a:endParaRPr lang="en-US" sz="850" dirty="0"/>
          </a:p>
        </p:txBody>
      </p:sp>
      <p:pic>
        <p:nvPicPr>
          <p:cNvPr id="34" name="Image 0" descr="/Users/andrew/Library/CloudStorage/OneDrive-CornellUniversity/Courses/SYSEN5888/ Project/DeepLearning5888Project/Code/Transfer Learning/YAMNet Results/YAMNet_combined_training_test_metrics_1fold_5f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09359" y="1591056"/>
            <a:ext cx="5442459" cy="2411188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pic>
        <p:nvPicPr>
          <p:cNvPr id="45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A6CF9356-F464-4F9F-22FC-0A0714780E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Shape 19">
            <a:extLst>
              <a:ext uri="{FF2B5EF4-FFF2-40B4-BE49-F238E27FC236}">
                <a16:creationId xmlns:a16="http://schemas.microsoft.com/office/drawing/2014/main" id="{9FB734A9-3F3D-6A1D-B198-4C7253BF63F8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7EEEC568-8D1D-A247-54D9-BD979C391F09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CC1A0317-BD8A-6DB5-06DF-98AE0644F807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Piczak CNN | LSTM</a:t>
            </a:r>
          </a:p>
        </p:txBody>
      </p:sp>
      <p:sp>
        <p:nvSpPr>
          <p:cNvPr id="58" name="Shape 22">
            <a:extLst>
              <a:ext uri="{FF2B5EF4-FFF2-40B4-BE49-F238E27FC236}">
                <a16:creationId xmlns:a16="http://schemas.microsoft.com/office/drawing/2014/main" id="{C64B0169-1E3C-B2D1-805B-689FC3168121}"/>
              </a:ext>
            </a:extLst>
          </p:cNvPr>
          <p:cNvSpPr/>
          <p:nvPr/>
        </p:nvSpPr>
        <p:spPr>
          <a:xfrm>
            <a:off x="7904546" y="750102"/>
            <a:ext cx="1809206" cy="295381"/>
          </a:xfrm>
          <a:prstGeom prst="chevron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23">
            <a:extLst>
              <a:ext uri="{FF2B5EF4-FFF2-40B4-BE49-F238E27FC236}">
                <a16:creationId xmlns:a16="http://schemas.microsoft.com/office/drawing/2014/main" id="{3A24B8D1-6B05-EFEA-E0CB-87488A54C727}"/>
              </a:ext>
            </a:extLst>
          </p:cNvPr>
          <p:cNvSpPr/>
          <p:nvPr/>
        </p:nvSpPr>
        <p:spPr>
          <a:xfrm>
            <a:off x="7976392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60" name="Text 24">
            <a:extLst>
              <a:ext uri="{FF2B5EF4-FFF2-40B4-BE49-F238E27FC236}">
                <a16:creationId xmlns:a16="http://schemas.microsoft.com/office/drawing/2014/main" id="{56E65613-9803-A5A5-221F-6E7A087FFDD7}"/>
              </a:ext>
            </a:extLst>
          </p:cNvPr>
          <p:cNvSpPr/>
          <p:nvPr/>
        </p:nvSpPr>
        <p:spPr>
          <a:xfrm>
            <a:off x="7997198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VGGish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YAMNet</a:t>
            </a:r>
          </a:p>
        </p:txBody>
      </p:sp>
      <p:sp>
        <p:nvSpPr>
          <p:cNvPr id="61" name="Shape 25">
            <a:extLst>
              <a:ext uri="{FF2B5EF4-FFF2-40B4-BE49-F238E27FC236}">
                <a16:creationId xmlns:a16="http://schemas.microsoft.com/office/drawing/2014/main" id="{301F467B-BC9F-4CC1-14BE-FC8E87423290}"/>
              </a:ext>
            </a:extLst>
          </p:cNvPr>
          <p:cNvSpPr/>
          <p:nvPr/>
        </p:nvSpPr>
        <p:spPr>
          <a:xfrm>
            <a:off x="9539181" y="757039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62" name="Text 26">
            <a:extLst>
              <a:ext uri="{FF2B5EF4-FFF2-40B4-BE49-F238E27FC236}">
                <a16:creationId xmlns:a16="http://schemas.microsoft.com/office/drawing/2014/main" id="{73701628-7466-B7E9-9E47-C696F80672F6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63" name="Text 27">
            <a:extLst>
              <a:ext uri="{FF2B5EF4-FFF2-40B4-BE49-F238E27FC236}">
                <a16:creationId xmlns:a16="http://schemas.microsoft.com/office/drawing/2014/main" id="{8A9215E1-DC92-3ED3-78F4-FF15A37D59B3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D65B3722-690B-6A70-D033-B267473F440F}"/>
              </a:ext>
            </a:extLst>
          </p:cNvPr>
          <p:cNvSpPr/>
          <p:nvPr/>
        </p:nvSpPr>
        <p:spPr>
          <a:xfrm>
            <a:off x="743752" y="2121408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YAMNet architecture</a:t>
            </a:r>
            <a:endParaRPr lang="en-US" sz="1020" dirty="0"/>
          </a:p>
        </p:txBody>
      </p:sp>
      <p:graphicFrame>
        <p:nvGraphicFramePr>
          <p:cNvPr id="69" name="Table 0">
            <a:extLst>
              <a:ext uri="{FF2B5EF4-FFF2-40B4-BE49-F238E27FC236}">
                <a16:creationId xmlns:a16="http://schemas.microsoft.com/office/drawing/2014/main" id="{46B5B267-118C-B356-F03A-B58B4EA427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157142"/>
              </p:ext>
            </p:extLst>
          </p:nvPr>
        </p:nvGraphicFramePr>
        <p:xfrm>
          <a:off x="694943" y="2359153"/>
          <a:ext cx="4434169" cy="1496568"/>
        </p:xfrm>
        <a:graphic>
          <a:graphicData uri="http://schemas.openxmlformats.org/drawingml/2006/table">
            <a:tbl>
              <a:tblPr/>
              <a:tblGrid>
                <a:gridCol w="11189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5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16 kHz mono waveform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Encoder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TF Hub YAMNet, AudioSet-pretrained; output 1024-d embedding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Linear 1024-&gt;256; ReLU; Dropout 0.3; Linear 256-&gt;50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Frozen run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Train classifier on fixed embeddings; Adam lr 1e-3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Classifier tune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YAMNet remains fixed; new classifier trained with Adam lr 1e-4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Training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CrossEntropyLoss; batch size 32; 50 epochs; 5 official folds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0" name="Text 36">
            <a:extLst>
              <a:ext uri="{FF2B5EF4-FFF2-40B4-BE49-F238E27FC236}">
                <a16:creationId xmlns:a16="http://schemas.microsoft.com/office/drawing/2014/main" id="{00621A5F-23F3-77A3-47FA-30F93A28A86D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71" name="Text 37">
            <a:extLst>
              <a:ext uri="{FF2B5EF4-FFF2-40B4-BE49-F238E27FC236}">
                <a16:creationId xmlns:a16="http://schemas.microsoft.com/office/drawing/2014/main" id="{41DEDCE1-BA55-0A8D-0CD7-DA8D8C454FDE}"/>
              </a:ext>
            </a:extLst>
          </p:cNvPr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 quality matters: a stronger domain-pretrained model moves the result well beyond the from-scratch range.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THIRD TECHNICAL ERA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742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Era shift: transfer learning with pretrained audio transformers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13716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166420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Pretrained representations plus broader context.</a:t>
            </a:r>
            <a:endParaRPr lang="en-US" sz="2400" dirty="0"/>
          </a:p>
        </p:txBody>
      </p:sp>
      <p:sp>
        <p:nvSpPr>
          <p:cNvPr id="481" name="Shape 479"/>
          <p:cNvSpPr/>
          <p:nvPr/>
        </p:nvSpPr>
        <p:spPr>
          <a:xfrm>
            <a:off x="960120" y="2889504"/>
            <a:ext cx="27432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Shape 480"/>
          <p:cNvSpPr/>
          <p:nvPr/>
        </p:nvSpPr>
        <p:spPr>
          <a:xfrm>
            <a:off x="4251960" y="2926080"/>
            <a:ext cx="1554480" cy="731520"/>
          </a:xfrm>
          <a:prstGeom prst="rect">
            <a:avLst/>
          </a:prstGeom>
          <a:solidFill>
            <a:srgbClr val="FDFDFB"/>
          </a:solidFill>
          <a:ln w="1016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3" name="Text 481"/>
          <p:cNvSpPr/>
          <p:nvPr/>
        </p:nvSpPr>
        <p:spPr>
          <a:xfrm>
            <a:off x="4325112" y="3218688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filters</a:t>
            </a:r>
            <a:endParaRPr lang="en-US" sz="1100" dirty="0"/>
          </a:p>
        </p:txBody>
      </p:sp>
      <p:sp>
        <p:nvSpPr>
          <p:cNvPr id="484" name="Shape 482"/>
          <p:cNvSpPr/>
          <p:nvPr/>
        </p:nvSpPr>
        <p:spPr>
          <a:xfrm>
            <a:off x="3703320" y="3429000"/>
            <a:ext cx="457200" cy="0"/>
          </a:xfrm>
          <a:prstGeom prst="line">
            <a:avLst/>
          </a:prstGeom>
          <a:noFill/>
          <a:ln w="1524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5" name="Shape 483"/>
          <p:cNvSpPr/>
          <p:nvPr/>
        </p:nvSpPr>
        <p:spPr>
          <a:xfrm>
            <a:off x="5916168" y="3429000"/>
            <a:ext cx="713232" cy="0"/>
          </a:xfrm>
          <a:prstGeom prst="line">
            <a:avLst/>
          </a:prstGeom>
          <a:noFill/>
          <a:ln w="1524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6" name="Shape 484"/>
          <p:cNvSpPr/>
          <p:nvPr/>
        </p:nvSpPr>
        <p:spPr>
          <a:xfrm>
            <a:off x="6812280" y="2926080"/>
            <a:ext cx="2057400" cy="1097280"/>
          </a:xfrm>
          <a:prstGeom prst="rect">
            <a:avLst/>
          </a:prstGeom>
          <a:solidFill>
            <a:srgbClr val="FFF9EA"/>
          </a:solidFill>
          <a:ln w="1016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7" name="Text 485"/>
          <p:cNvSpPr/>
          <p:nvPr/>
        </p:nvSpPr>
        <p:spPr>
          <a:xfrm>
            <a:off x="6885432" y="3401568"/>
            <a:ext cx="1911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 over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larger context</a:t>
            </a:r>
            <a:endParaRPr lang="en-US" sz="1100" dirty="0"/>
          </a:p>
        </p:txBody>
      </p:sp>
      <p:sp>
        <p:nvSpPr>
          <p:cNvPr id="488" name="Shape 486"/>
          <p:cNvSpPr/>
          <p:nvPr/>
        </p:nvSpPr>
        <p:spPr>
          <a:xfrm>
            <a:off x="9034272" y="3429000"/>
            <a:ext cx="612648" cy="0"/>
          </a:xfrm>
          <a:prstGeom prst="line">
            <a:avLst/>
          </a:prstGeom>
          <a:noFill/>
          <a:ln w="1524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9" name="Shape 487"/>
          <p:cNvSpPr/>
          <p:nvPr/>
        </p:nvSpPr>
        <p:spPr>
          <a:xfrm>
            <a:off x="9829800" y="2889504"/>
            <a:ext cx="1600200" cy="804672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0" name="Text 488"/>
          <p:cNvSpPr/>
          <p:nvPr/>
        </p:nvSpPr>
        <p:spPr>
          <a:xfrm>
            <a:off x="9902952" y="321868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adaptation</a:t>
            </a:r>
            <a:endParaRPr lang="en-US" sz="1100" dirty="0"/>
          </a:p>
        </p:txBody>
      </p:sp>
      <p:sp>
        <p:nvSpPr>
          <p:cNvPr id="491" name="Text 489"/>
          <p:cNvSpPr/>
          <p:nvPr/>
        </p:nvSpPr>
        <p:spPr>
          <a:xfrm>
            <a:off x="914400" y="4846320"/>
            <a:ext cx="9692640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Still transfer learning: the backbone starts with external audio knowledge.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period: attention and foundation-style encoders support broader context.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and BEATs represent two modern paths through the same idea.</a:t>
            </a:r>
            <a:endParaRPr lang="en-US" sz="1300" dirty="0"/>
          </a:p>
        </p:txBody>
      </p:sp>
      <p:sp>
        <p:nvSpPr>
          <p:cNvPr id="492" name="Text 490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 dirty="0"/>
          </a:p>
        </p:txBody>
      </p:sp>
      <p:pic>
        <p:nvPicPr>
          <p:cNvPr id="1026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39D6C283-413E-0506-7794-6C39F4D5F3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4" name="Shape 19">
            <a:extLst>
              <a:ext uri="{FF2B5EF4-FFF2-40B4-BE49-F238E27FC236}">
                <a16:creationId xmlns:a16="http://schemas.microsoft.com/office/drawing/2014/main" id="{532395DC-B8BE-A567-6C77-23D673F69D3A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1025" name="Text 20">
            <a:extLst>
              <a:ext uri="{FF2B5EF4-FFF2-40B4-BE49-F238E27FC236}">
                <a16:creationId xmlns:a16="http://schemas.microsoft.com/office/drawing/2014/main" id="{46F29E94-DAA7-594B-F1B5-B162A771F510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1027" name="Text 21">
            <a:extLst>
              <a:ext uri="{FF2B5EF4-FFF2-40B4-BE49-F238E27FC236}">
                <a16:creationId xmlns:a16="http://schemas.microsoft.com/office/drawing/2014/main" id="{4DD15F9C-9F30-72F8-AB1C-6DF18062F565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Piczak CNN | LSTM</a:t>
            </a:r>
          </a:p>
        </p:txBody>
      </p:sp>
      <p:sp>
        <p:nvSpPr>
          <p:cNvPr id="1028" name="Shape 22">
            <a:extLst>
              <a:ext uri="{FF2B5EF4-FFF2-40B4-BE49-F238E27FC236}">
                <a16:creationId xmlns:a16="http://schemas.microsoft.com/office/drawing/2014/main" id="{0FFCFA2E-643F-C304-312D-CB18C7EAFE99}"/>
              </a:ext>
            </a:extLst>
          </p:cNvPr>
          <p:cNvSpPr/>
          <p:nvPr/>
        </p:nvSpPr>
        <p:spPr>
          <a:xfrm>
            <a:off x="7878422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1029" name="Text 23">
            <a:extLst>
              <a:ext uri="{FF2B5EF4-FFF2-40B4-BE49-F238E27FC236}">
                <a16:creationId xmlns:a16="http://schemas.microsoft.com/office/drawing/2014/main" id="{883FE847-ED6A-94C4-7CB6-798FE9F765FC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1030" name="Text 24">
            <a:extLst>
              <a:ext uri="{FF2B5EF4-FFF2-40B4-BE49-F238E27FC236}">
                <a16:creationId xmlns:a16="http://schemas.microsoft.com/office/drawing/2014/main" id="{E4FC9C22-0E67-CB1F-ABFD-7115E5951C9B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1031" name="Shape 25">
            <a:extLst>
              <a:ext uri="{FF2B5EF4-FFF2-40B4-BE49-F238E27FC236}">
                <a16:creationId xmlns:a16="http://schemas.microsoft.com/office/drawing/2014/main" id="{D9C0B880-A0BC-DFC3-3BEE-6C0EBF99E8C1}"/>
              </a:ext>
            </a:extLst>
          </p:cNvPr>
          <p:cNvSpPr/>
          <p:nvPr/>
        </p:nvSpPr>
        <p:spPr>
          <a:xfrm>
            <a:off x="9545712" y="751395"/>
            <a:ext cx="1809205" cy="295381"/>
          </a:xfrm>
          <a:prstGeom prst="chevron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2" name="Text 26">
            <a:extLst>
              <a:ext uri="{FF2B5EF4-FFF2-40B4-BE49-F238E27FC236}">
                <a16:creationId xmlns:a16="http://schemas.microsoft.com/office/drawing/2014/main" id="{E1539D4A-2D0B-B540-7AC3-E6D04C8123E5}"/>
              </a:ext>
            </a:extLst>
          </p:cNvPr>
          <p:cNvSpPr/>
          <p:nvPr/>
        </p:nvSpPr>
        <p:spPr>
          <a:xfrm>
            <a:off x="9657604" y="829133"/>
            <a:ext cx="1697313" cy="694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</a:rPr>
              <a:t>Transfer learning: pretrained transformers</a:t>
            </a:r>
          </a:p>
        </p:txBody>
      </p:sp>
      <p:sp>
        <p:nvSpPr>
          <p:cNvPr id="1033" name="Text 27">
            <a:extLst>
              <a:ext uri="{FF2B5EF4-FFF2-40B4-BE49-F238E27FC236}">
                <a16:creationId xmlns:a16="http://schemas.microsoft.com/office/drawing/2014/main" id="{E21022D7-0680-77A1-7476-F4A2EA15C073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AST | BEATs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3: PRETRAINED AUDIO TRANSFORMERS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49808" y="13075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497" name="Shape 495"/>
          <p:cNvSpPr/>
          <p:nvPr/>
        </p:nvSpPr>
        <p:spPr>
          <a:xfrm>
            <a:off x="7612380" y="1806799"/>
            <a:ext cx="1565910" cy="141732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8" name="Shape 496"/>
          <p:cNvSpPr/>
          <p:nvPr/>
        </p:nvSpPr>
        <p:spPr>
          <a:xfrm>
            <a:off x="9418320" y="1806799"/>
            <a:ext cx="2423160" cy="1234440"/>
          </a:xfrm>
          <a:prstGeom prst="rect">
            <a:avLst/>
          </a:prstGeom>
          <a:solidFill>
            <a:srgbClr val="FFF9EA"/>
          </a:solidFill>
          <a:ln w="1397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9" name="Text 497"/>
          <p:cNvSpPr/>
          <p:nvPr/>
        </p:nvSpPr>
        <p:spPr>
          <a:xfrm>
            <a:off x="9665208" y="2099407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5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 over</a:t>
            </a:r>
            <a:endParaRPr lang="en-US" sz="14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45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spectrogram patches</a:t>
            </a:r>
            <a:endParaRPr lang="en-US" sz="1450" dirty="0"/>
          </a:p>
        </p:txBody>
      </p:sp>
      <p:sp>
        <p:nvSpPr>
          <p:cNvPr id="500" name="Shape 498"/>
          <p:cNvSpPr/>
          <p:nvPr/>
        </p:nvSpPr>
        <p:spPr>
          <a:xfrm>
            <a:off x="7539228" y="4727447"/>
            <a:ext cx="214884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Text 499"/>
          <p:cNvSpPr/>
          <p:nvPr/>
        </p:nvSpPr>
        <p:spPr>
          <a:xfrm>
            <a:off x="7630668" y="4864607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B65D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95.25%</a:t>
            </a:r>
            <a:endParaRPr lang="en-US" sz="2100" dirty="0"/>
          </a:p>
        </p:txBody>
      </p:sp>
      <p:sp>
        <p:nvSpPr>
          <p:cNvPr id="502" name="Text 500"/>
          <p:cNvSpPr/>
          <p:nvPr/>
        </p:nvSpPr>
        <p:spPr>
          <a:xfrm>
            <a:off x="7648956" y="5257799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5-fold accuracy</a:t>
            </a:r>
            <a:endParaRPr lang="en-US" sz="780" dirty="0"/>
          </a:p>
        </p:txBody>
      </p:sp>
      <p:sp>
        <p:nvSpPr>
          <p:cNvPr id="503" name="Text 501"/>
          <p:cNvSpPr/>
          <p:nvPr/>
        </p:nvSpPr>
        <p:spPr>
          <a:xfrm>
            <a:off x="7612380" y="5843015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Best: 95.65%. Full backbone fine-tuned, LR = 1e-5.</a:t>
            </a:r>
            <a:endParaRPr lang="en-US" sz="850" dirty="0"/>
          </a:p>
        </p:txBody>
      </p:sp>
      <p:sp>
        <p:nvSpPr>
          <p:cNvPr id="506" name="Text 504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pic>
        <p:nvPicPr>
          <p:cNvPr id="514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66E1373B-4473-1B8F-9EF5-AB098BB192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4" name="Shape 19">
            <a:extLst>
              <a:ext uri="{FF2B5EF4-FFF2-40B4-BE49-F238E27FC236}">
                <a16:creationId xmlns:a16="http://schemas.microsoft.com/office/drawing/2014/main" id="{EA84B82C-A024-6332-D623-A3FB2DD32906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25" name="Text 20">
            <a:extLst>
              <a:ext uri="{FF2B5EF4-FFF2-40B4-BE49-F238E27FC236}">
                <a16:creationId xmlns:a16="http://schemas.microsoft.com/office/drawing/2014/main" id="{9664A209-9962-53C9-9ABD-51131E6509EA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526" name="Text 21">
            <a:extLst>
              <a:ext uri="{FF2B5EF4-FFF2-40B4-BE49-F238E27FC236}">
                <a16:creationId xmlns:a16="http://schemas.microsoft.com/office/drawing/2014/main" id="{7C935940-32D2-3959-FF65-3FBED79D0C9D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Piczak CNN | LSTM</a:t>
            </a:r>
          </a:p>
        </p:txBody>
      </p:sp>
      <p:sp>
        <p:nvSpPr>
          <p:cNvPr id="527" name="Shape 22">
            <a:extLst>
              <a:ext uri="{FF2B5EF4-FFF2-40B4-BE49-F238E27FC236}">
                <a16:creationId xmlns:a16="http://schemas.microsoft.com/office/drawing/2014/main" id="{27739582-364F-6CF0-6754-13551DFD336B}"/>
              </a:ext>
            </a:extLst>
          </p:cNvPr>
          <p:cNvSpPr/>
          <p:nvPr/>
        </p:nvSpPr>
        <p:spPr>
          <a:xfrm>
            <a:off x="7878422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28" name="Text 23">
            <a:extLst>
              <a:ext uri="{FF2B5EF4-FFF2-40B4-BE49-F238E27FC236}">
                <a16:creationId xmlns:a16="http://schemas.microsoft.com/office/drawing/2014/main" id="{B23BCE2D-F6F8-4E35-1F47-8FCF2C9CF27C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529" name="Text 24">
            <a:extLst>
              <a:ext uri="{FF2B5EF4-FFF2-40B4-BE49-F238E27FC236}">
                <a16:creationId xmlns:a16="http://schemas.microsoft.com/office/drawing/2014/main" id="{F4303981-6AA3-F749-25E1-752EBEE0BCBB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530" name="Shape 25">
            <a:extLst>
              <a:ext uri="{FF2B5EF4-FFF2-40B4-BE49-F238E27FC236}">
                <a16:creationId xmlns:a16="http://schemas.microsoft.com/office/drawing/2014/main" id="{67BB53A9-7DED-6D9B-050E-CCD68553E76D}"/>
              </a:ext>
            </a:extLst>
          </p:cNvPr>
          <p:cNvSpPr/>
          <p:nvPr/>
        </p:nvSpPr>
        <p:spPr>
          <a:xfrm>
            <a:off x="9545712" y="751395"/>
            <a:ext cx="1809205" cy="295381"/>
          </a:xfrm>
          <a:prstGeom prst="chevron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1" name="Text 26">
            <a:extLst>
              <a:ext uri="{FF2B5EF4-FFF2-40B4-BE49-F238E27FC236}">
                <a16:creationId xmlns:a16="http://schemas.microsoft.com/office/drawing/2014/main" id="{82BCA07B-DA7D-1DE4-7EF9-46D0C78A0596}"/>
              </a:ext>
            </a:extLst>
          </p:cNvPr>
          <p:cNvSpPr/>
          <p:nvPr/>
        </p:nvSpPr>
        <p:spPr>
          <a:xfrm>
            <a:off x="9657604" y="829133"/>
            <a:ext cx="1697313" cy="694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</a:rPr>
              <a:t>Transfer learning: pretrained transformers</a:t>
            </a:r>
          </a:p>
        </p:txBody>
      </p:sp>
      <p:sp>
        <p:nvSpPr>
          <p:cNvPr id="532" name="Text 27">
            <a:extLst>
              <a:ext uri="{FF2B5EF4-FFF2-40B4-BE49-F238E27FC236}">
                <a16:creationId xmlns:a16="http://schemas.microsoft.com/office/drawing/2014/main" id="{BBBE9E45-A46E-44BE-5152-87488B0E2E95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AST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BEATs</a:t>
            </a:r>
          </a:p>
        </p:txBody>
      </p:sp>
      <p:sp>
        <p:nvSpPr>
          <p:cNvPr id="535" name="Text 11">
            <a:extLst>
              <a:ext uri="{FF2B5EF4-FFF2-40B4-BE49-F238E27FC236}">
                <a16:creationId xmlns:a16="http://schemas.microsoft.com/office/drawing/2014/main" id="{65346068-9775-A8DE-97FE-80418CF3445C}"/>
              </a:ext>
            </a:extLst>
          </p:cNvPr>
          <p:cNvSpPr/>
          <p:nvPr/>
        </p:nvSpPr>
        <p:spPr>
          <a:xfrm>
            <a:off x="749808" y="2119952"/>
            <a:ext cx="43975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architecture</a:t>
            </a:r>
            <a:endParaRPr lang="en-US" sz="1020" dirty="0"/>
          </a:p>
        </p:txBody>
      </p:sp>
      <p:graphicFrame>
        <p:nvGraphicFramePr>
          <p:cNvPr id="536" name="Table 0">
            <a:extLst>
              <a:ext uri="{FF2B5EF4-FFF2-40B4-BE49-F238E27FC236}">
                <a16:creationId xmlns:a16="http://schemas.microsoft.com/office/drawing/2014/main" id="{50471D43-891A-FB8C-AFDF-F2B8F1D29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796216"/>
              </p:ext>
            </p:extLst>
          </p:nvPr>
        </p:nvGraphicFramePr>
        <p:xfrm>
          <a:off x="694943" y="2353021"/>
          <a:ext cx="4434167" cy="1713738"/>
        </p:xfrm>
        <a:graphic>
          <a:graphicData uri="http://schemas.openxmlformats.org/drawingml/2006/table">
            <a:tbl>
              <a:tblPr/>
              <a:tblGrid>
                <a:gridCol w="1081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26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Full ESC-50 clip resampled to 16 kHz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Feature extractor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AutoFeatureExtractor builds spectrogram-like transformer inputs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Backbone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MIT/ast-finetuned-audioset-10-10-0.4593, AudioSet-pretrained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Classifier replaced/reinitialized for 50 ESC-50 labels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Fine-tuning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freeze_backbone=False; full backbone adapts to ESC-50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Model cross-entropy loss; AdamW lr 1e-5; weight decay 1e-4; batch 8; 10 epochs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Validation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5 official folds; final mean test accuracy 95.25%, best 95.65%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39" name="Text 36">
            <a:extLst>
              <a:ext uri="{FF2B5EF4-FFF2-40B4-BE49-F238E27FC236}">
                <a16:creationId xmlns:a16="http://schemas.microsoft.com/office/drawing/2014/main" id="{55F519E4-6C4D-A1F7-18E9-D32F2A0F05FB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540" name="Text 37">
            <a:extLst>
              <a:ext uri="{FF2B5EF4-FFF2-40B4-BE49-F238E27FC236}">
                <a16:creationId xmlns:a16="http://schemas.microsoft.com/office/drawing/2014/main" id="{BAEF7B14-EF19-5AFE-8B0A-87BD5E18E031}"/>
              </a:ext>
            </a:extLst>
          </p:cNvPr>
          <p:cNvSpPr/>
          <p:nvPr/>
        </p:nvSpPr>
        <p:spPr>
          <a:xfrm>
            <a:off x="731519" y="4727447"/>
            <a:ext cx="5808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keeps a spectrogram-like representation but replaces the from-scratch CNN with a pretrained transformer backbone.</a:t>
            </a:r>
            <a:endParaRPr lang="en-US" sz="1200" dirty="0"/>
          </a:p>
        </p:txBody>
      </p:sp>
      <p:sp>
        <p:nvSpPr>
          <p:cNvPr id="541" name="Text 12">
            <a:extLst>
              <a:ext uri="{FF2B5EF4-FFF2-40B4-BE49-F238E27FC236}">
                <a16:creationId xmlns:a16="http://schemas.microsoft.com/office/drawing/2014/main" id="{E8AFA8E4-D244-0211-AE96-2D294E6D5010}"/>
              </a:ext>
            </a:extLst>
          </p:cNvPr>
          <p:cNvSpPr/>
          <p:nvPr/>
        </p:nvSpPr>
        <p:spPr>
          <a:xfrm>
            <a:off x="731519" y="1591056"/>
            <a:ext cx="51511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Highlight differences here…</a:t>
            </a:r>
            <a:endParaRPr lang="en-US" sz="1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3: PRETRAINED AUDIO TRANSFORMERS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BEATs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867144" y="1726381"/>
            <a:ext cx="4983480" cy="1417320"/>
          </a:xfrm>
          <a:prstGeom prst="rect">
            <a:avLst/>
          </a:prstGeom>
          <a:solidFill>
            <a:srgbClr val="FFF9EA"/>
          </a:solidFill>
          <a:ln w="1397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095744" y="2018989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Foundation-style audio representation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187184" y="2439613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adapts a large pretrained audio encoder rather than learning the representation from ESC-50 alone.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7616467" y="4628860"/>
            <a:ext cx="214884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707907" y="476602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B65D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94.40%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726195" y="51592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5-fold accuracy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7689619" y="57444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Best: 95.55%. Mean training time in current summary: 152.37 sec.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pic>
        <p:nvPicPr>
          <p:cNvPr id="46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2D878DAD-7F25-C48B-5658-195EF7E310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Shape 19">
            <a:extLst>
              <a:ext uri="{FF2B5EF4-FFF2-40B4-BE49-F238E27FC236}">
                <a16:creationId xmlns:a16="http://schemas.microsoft.com/office/drawing/2014/main" id="{3665F116-AFCF-F7E1-5772-416615E9F853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C734469-A669-6683-48F4-824945FA0ED4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561425C1-21D0-6844-10A1-377BC2672A8F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Piczak CNN | LSTM</a:t>
            </a:r>
          </a:p>
        </p:txBody>
      </p:sp>
      <p:sp>
        <p:nvSpPr>
          <p:cNvPr id="50" name="Shape 22">
            <a:extLst>
              <a:ext uri="{FF2B5EF4-FFF2-40B4-BE49-F238E27FC236}">
                <a16:creationId xmlns:a16="http://schemas.microsoft.com/office/drawing/2014/main" id="{A6F8648F-12C5-37D0-1392-4013B3BF8C9E}"/>
              </a:ext>
            </a:extLst>
          </p:cNvPr>
          <p:cNvSpPr/>
          <p:nvPr/>
        </p:nvSpPr>
        <p:spPr>
          <a:xfrm>
            <a:off x="7878422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E4580DC3-1F62-E190-08B0-E85996366615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1082E3C5-8EE7-B94B-BA72-BD27A91F024A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D28C6417-C4A9-74E3-791C-773038E809C4}"/>
              </a:ext>
            </a:extLst>
          </p:cNvPr>
          <p:cNvSpPr/>
          <p:nvPr/>
        </p:nvSpPr>
        <p:spPr>
          <a:xfrm>
            <a:off x="9545712" y="751395"/>
            <a:ext cx="1809205" cy="295381"/>
          </a:xfrm>
          <a:prstGeom prst="chevron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29389361-7121-5932-E213-7267E75DA0C7}"/>
              </a:ext>
            </a:extLst>
          </p:cNvPr>
          <p:cNvSpPr/>
          <p:nvPr/>
        </p:nvSpPr>
        <p:spPr>
          <a:xfrm>
            <a:off x="9657604" y="829133"/>
            <a:ext cx="1697313" cy="694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</a:rPr>
              <a:t>Transfer learning: pretrained transformers</a:t>
            </a:r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C846D21F-8F14-C3B0-94E7-F76C9881E4FA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AST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BEATs</a:t>
            </a:r>
          </a:p>
        </p:txBody>
      </p:sp>
      <p:graphicFrame>
        <p:nvGraphicFramePr>
          <p:cNvPr id="58" name="Table 0">
            <a:extLst>
              <a:ext uri="{FF2B5EF4-FFF2-40B4-BE49-F238E27FC236}">
                <a16:creationId xmlns:a16="http://schemas.microsoft.com/office/drawing/2014/main" id="{AD3FB0A5-675F-2906-07A0-4316A5F9A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06533"/>
              </p:ext>
            </p:extLst>
          </p:nvPr>
        </p:nvGraphicFramePr>
        <p:xfrm>
          <a:off x="694943" y="2359150"/>
          <a:ext cx="4434166" cy="1872996"/>
        </p:xfrm>
        <a:graphic>
          <a:graphicData uri="http://schemas.openxmlformats.org/drawingml/2006/table">
            <a:tbl>
              <a:tblPr/>
              <a:tblGrid>
                <a:gridCol w="1081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26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Full 5-s mono waveform, resampled to 16 kHz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Backbone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BEATs_iter3_plus_AS2M checkpoint, pretrained on large audio data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Features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BEATs.extract_features returns frame-level transformer features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Pooling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Mean pooling over time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LayerNorm hidden_dim; Dropout 0.2; Linear hidden_dim-&gt;50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Fine-tuning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freeze_backbone=False; full backbone adapts to ESC-50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CrossEntropyLoss; AdamW lr 1e-5; weight decay 1e-4; grad clip 1.0; batch 4; 10 epochs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Validation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5 official folds; final 94.40%, best 95.55%; mean training time 152.37 sec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9" name="Text 11">
            <a:extLst>
              <a:ext uri="{FF2B5EF4-FFF2-40B4-BE49-F238E27FC236}">
                <a16:creationId xmlns:a16="http://schemas.microsoft.com/office/drawing/2014/main" id="{A27DAD75-6848-9FBE-086E-6507CC50E58F}"/>
              </a:ext>
            </a:extLst>
          </p:cNvPr>
          <p:cNvSpPr/>
          <p:nvPr/>
        </p:nvSpPr>
        <p:spPr>
          <a:xfrm>
            <a:off x="743207" y="2108867"/>
            <a:ext cx="5623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BEATs architecture</a:t>
            </a:r>
            <a:endParaRPr lang="en-US" sz="1020" dirty="0"/>
          </a:p>
        </p:txBody>
      </p:sp>
      <p:sp>
        <p:nvSpPr>
          <p:cNvPr id="60" name="Text 11">
            <a:extLst>
              <a:ext uri="{FF2B5EF4-FFF2-40B4-BE49-F238E27FC236}">
                <a16:creationId xmlns:a16="http://schemas.microsoft.com/office/drawing/2014/main" id="{489E7F2E-AC5B-3316-762B-E012F6F938A7}"/>
              </a:ext>
            </a:extLst>
          </p:cNvPr>
          <p:cNvSpPr/>
          <p:nvPr/>
        </p:nvSpPr>
        <p:spPr>
          <a:xfrm>
            <a:off x="749808" y="13075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940870A8-F300-5CC6-6058-AD17DFB1DFA1}"/>
              </a:ext>
            </a:extLst>
          </p:cNvPr>
          <p:cNvSpPr/>
          <p:nvPr/>
        </p:nvSpPr>
        <p:spPr>
          <a:xfrm>
            <a:off x="731519" y="1591056"/>
            <a:ext cx="51511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Highlight differences here…</a:t>
            </a:r>
            <a:endParaRPr lang="en-US" sz="1850" dirty="0"/>
          </a:p>
        </p:txBody>
      </p:sp>
      <p:sp>
        <p:nvSpPr>
          <p:cNvPr id="62" name="Text 36">
            <a:extLst>
              <a:ext uri="{FF2B5EF4-FFF2-40B4-BE49-F238E27FC236}">
                <a16:creationId xmlns:a16="http://schemas.microsoft.com/office/drawing/2014/main" id="{57A90D94-52F6-125D-8BB8-4584F414B59D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63" name="Text 37">
            <a:extLst>
              <a:ext uri="{FF2B5EF4-FFF2-40B4-BE49-F238E27FC236}">
                <a16:creationId xmlns:a16="http://schemas.microsoft.com/office/drawing/2014/main" id="{EAC98490-E25B-059A-96EF-65A7D57E1CB2}"/>
              </a:ext>
            </a:extLst>
          </p:cNvPr>
          <p:cNvSpPr/>
          <p:nvPr/>
        </p:nvSpPr>
        <p:spPr>
          <a:xfrm>
            <a:off x="731519" y="4727447"/>
            <a:ext cx="5808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BEATs confirms that the modern leap is representation learning at scale, not only the presence of attention.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takeaway and lessons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2618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biggest shift was where the model learned its audio knowledge.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92024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reference</a:t>
            </a:r>
            <a:endParaRPr lang="en-US" sz="840" dirty="0"/>
          </a:p>
        </p:txBody>
      </p:sp>
      <p:sp>
        <p:nvSpPr>
          <p:cNvPr id="7" name="Shape 5"/>
          <p:cNvSpPr/>
          <p:nvPr/>
        </p:nvSpPr>
        <p:spPr>
          <a:xfrm>
            <a:off x="3355848" y="202082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355848" y="1938528"/>
            <a:ext cx="945490" cy="155448"/>
          </a:xfrm>
          <a:prstGeom prst="rect">
            <a:avLst/>
          </a:prstGeom>
          <a:solidFill>
            <a:srgbClr val="BFC6C8"/>
          </a:solidFill>
          <a:ln w="12700">
            <a:solidFill>
              <a:srgbClr val="BFC6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92778" y="192024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749808" y="224028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published LP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3355848" y="234086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55848" y="2258568"/>
            <a:ext cx="1386002" cy="155448"/>
          </a:xfrm>
          <a:prstGeom prst="rect">
            <a:avLst/>
          </a:prstGeom>
          <a:solidFill>
            <a:srgbClr val="426E9E"/>
          </a:solidFill>
          <a:ln w="12700">
            <a:solidFill>
              <a:srgbClr val="426E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33290" y="22402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64.5%</a:t>
            </a:r>
            <a:endParaRPr lang="en-US" sz="760" dirty="0"/>
          </a:p>
        </p:txBody>
      </p:sp>
      <p:sp>
        <p:nvSpPr>
          <p:cNvPr id="14" name="Text 12"/>
          <p:cNvSpPr/>
          <p:nvPr/>
        </p:nvSpPr>
        <p:spPr>
          <a:xfrm>
            <a:off x="749808" y="256032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long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3355848" y="266090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55848" y="2578608"/>
            <a:ext cx="1220541" cy="155448"/>
          </a:xfrm>
          <a:prstGeom prst="rect">
            <a:avLst/>
          </a:prstGeom>
          <a:solidFill>
            <a:srgbClr val="426E9E"/>
          </a:solidFill>
          <a:ln w="12700">
            <a:solidFill>
              <a:srgbClr val="426E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7829" y="256032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56.8%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749808" y="288036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frozen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3355848" y="298094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355848" y="2898648"/>
            <a:ext cx="1213020" cy="155448"/>
          </a:xfrm>
          <a:prstGeom prst="rect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60308" y="288036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56.5%</a:t>
            </a:r>
            <a:endParaRPr lang="en-US" sz="760" dirty="0"/>
          </a:p>
        </p:txBody>
      </p:sp>
      <p:sp>
        <p:nvSpPr>
          <p:cNvPr id="22" name="Text 20"/>
          <p:cNvSpPr/>
          <p:nvPr/>
        </p:nvSpPr>
        <p:spPr>
          <a:xfrm>
            <a:off x="749808" y="320040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YAMNet fine-tuned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3355848" y="330098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355848" y="3218688"/>
            <a:ext cx="1792133" cy="155448"/>
          </a:xfrm>
          <a:prstGeom prst="rect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239421" y="320040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83.4%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749808" y="352044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BEATs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3355848" y="362102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355848" y="3538728"/>
            <a:ext cx="2028505" cy="155448"/>
          </a:xfrm>
          <a:prstGeom prst="rect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75793" y="352044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94.4%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749808" y="384048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3355848" y="394106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355848" y="3858768"/>
            <a:ext cx="2046770" cy="155448"/>
          </a:xfrm>
          <a:prstGeom prst="rect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494058" y="38404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95.3%</a:t>
            </a:r>
            <a:endParaRPr lang="en-US" sz="760" dirty="0"/>
          </a:p>
        </p:txBody>
      </p:sp>
      <p:sp>
        <p:nvSpPr>
          <p:cNvPr id="34" name="Text 32"/>
          <p:cNvSpPr/>
          <p:nvPr/>
        </p:nvSpPr>
        <p:spPr>
          <a:xfrm>
            <a:off x="6537960" y="13258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b="1" dirty="0">
                <a:solidFill>
                  <a:srgbClr val="17677D"/>
                </a:solidFill>
                <a:latin typeface="Aptos" pitchFamily="34" charset="0"/>
              </a:rPr>
              <a:t>Lessons learned</a:t>
            </a:r>
          </a:p>
        </p:txBody>
      </p:sp>
      <p:sp>
        <p:nvSpPr>
          <p:cNvPr id="35" name="Shape 33"/>
          <p:cNvSpPr/>
          <p:nvPr/>
        </p:nvSpPr>
        <p:spPr>
          <a:xfrm>
            <a:off x="6537960" y="1737360"/>
            <a:ext cx="4754880" cy="914400"/>
          </a:xfrm>
          <a:prstGeom prst="rect">
            <a:avLst/>
          </a:prstGeom>
          <a:solidFill>
            <a:srgbClr val="FFFFFF"/>
          </a:solidFill>
          <a:ln w="12065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702552" y="1865376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4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went well</a:t>
            </a:r>
            <a:endParaRPr lang="en-US" sz="1140" dirty="0"/>
          </a:p>
        </p:txBody>
      </p:sp>
      <p:sp>
        <p:nvSpPr>
          <p:cNvPr id="37" name="Text 35"/>
          <p:cNvSpPr/>
          <p:nvPr/>
        </p:nvSpPr>
        <p:spPr>
          <a:xfrm>
            <a:off x="6702552" y="213055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9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 gave a clean benchmark; transfer learning created a clear contrast; AST/BEATs provided strong modern endpoints.</a:t>
            </a:r>
            <a:endParaRPr lang="en-US" sz="890" dirty="0"/>
          </a:p>
        </p:txBody>
      </p:sp>
      <p:sp>
        <p:nvSpPr>
          <p:cNvPr id="38" name="Shape 36"/>
          <p:cNvSpPr/>
          <p:nvPr/>
        </p:nvSpPr>
        <p:spPr>
          <a:xfrm>
            <a:off x="6537960" y="2944368"/>
            <a:ext cx="4754880" cy="914400"/>
          </a:xfrm>
          <a:prstGeom prst="rect">
            <a:avLst/>
          </a:prstGeom>
          <a:solidFill>
            <a:srgbClr val="FFFFFF"/>
          </a:solidFill>
          <a:ln w="12065">
            <a:solidFill>
              <a:srgbClr val="D6A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702552" y="30723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40" b="1" dirty="0">
                <a:solidFill>
                  <a:srgbClr val="D6A3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did not</a:t>
            </a:r>
            <a:endParaRPr lang="en-US" sz="1140" dirty="0"/>
          </a:p>
        </p:txBody>
      </p:sp>
      <p:sp>
        <p:nvSpPr>
          <p:cNvPr id="40" name="Text 38"/>
          <p:cNvSpPr/>
          <p:nvPr/>
        </p:nvSpPr>
        <p:spPr>
          <a:xfrm>
            <a:off x="6702552" y="333756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9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replication required careful protocol matching; runtime and cost are hard without controlled hardware.</a:t>
            </a:r>
            <a:endParaRPr lang="en-US" sz="890" dirty="0"/>
          </a:p>
        </p:txBody>
      </p:sp>
      <p:sp>
        <p:nvSpPr>
          <p:cNvPr id="41" name="Shape 39"/>
          <p:cNvSpPr/>
          <p:nvPr/>
        </p:nvSpPr>
        <p:spPr>
          <a:xfrm>
            <a:off x="6537960" y="4151376"/>
            <a:ext cx="4754880" cy="914400"/>
          </a:xfrm>
          <a:prstGeom prst="rect">
            <a:avLst/>
          </a:prstGeom>
          <a:solidFill>
            <a:srgbClr val="FFFFFF"/>
          </a:solidFill>
          <a:ln w="12065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02552" y="427939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4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would change</a:t>
            </a:r>
            <a:endParaRPr lang="en-US" sz="1140" dirty="0"/>
          </a:p>
        </p:txBody>
      </p:sp>
      <p:sp>
        <p:nvSpPr>
          <p:cNvPr id="43" name="Text 41"/>
          <p:cNvSpPr/>
          <p:nvPr/>
        </p:nvSpPr>
        <p:spPr>
          <a:xfrm>
            <a:off x="6702552" y="454456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9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 evaluation protocol first; time all models on the same hardware; use fewer variants with deeper analysis.</a:t>
            </a:r>
            <a:endParaRPr lang="en-US" sz="890" dirty="0"/>
          </a:p>
        </p:txBody>
      </p:sp>
      <p:sp>
        <p:nvSpPr>
          <p:cNvPr id="45" name="Text 43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50" dirty="0"/>
          </a:p>
        </p:txBody>
      </p:sp>
      <p:pic>
        <p:nvPicPr>
          <p:cNvPr id="46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5F07FE3F-FF4E-2C50-944B-FFF4C9594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2000</Words>
  <Application>Microsoft Macintosh PowerPoint</Application>
  <PresentationFormat>Widescreen</PresentationFormat>
  <Paragraphs>383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Cornell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AI Acceleration with ESC-50</dc:title>
  <dc:subject>Environmental sound classification final project</dc:subject>
  <dc:creator>SYSEN 5888 Team</dc:creator>
  <cp:lastModifiedBy>Andrew Littlefield</cp:lastModifiedBy>
  <cp:revision>2</cp:revision>
  <dcterms:created xsi:type="dcterms:W3CDTF">2026-04-28T06:03:37Z</dcterms:created>
  <dcterms:modified xsi:type="dcterms:W3CDTF">2026-04-28T17:39:55Z</dcterms:modified>
</cp:coreProperties>
</file>