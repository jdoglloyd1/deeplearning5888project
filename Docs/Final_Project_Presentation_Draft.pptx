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3" r:id="rId2"/>
    <p:sldId id="256" r:id="rId3"/>
    <p:sldId id="257" r:id="rId4"/>
    <p:sldId id="258" r:id="rId5"/>
    <p:sldId id="259" r:id="rId6"/>
    <p:sldId id="260" r:id="rId7"/>
    <p:sldId id="271" r:id="rId8"/>
    <p:sldId id="261" r:id="rId9"/>
    <p:sldId id="270" r:id="rId10"/>
    <p:sldId id="262" r:id="rId11"/>
    <p:sldId id="263" r:id="rId12"/>
    <p:sldId id="264" r:id="rId13"/>
    <p:sldId id="265" r:id="rId14"/>
    <p:sldId id="266" r:id="rId15"/>
    <p:sldId id="267" r:id="rId16"/>
    <p:sldId id="268"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279"/>
    <p:restoredTop sz="76608"/>
  </p:normalViewPr>
  <p:slideViewPr>
    <p:cSldViewPr snapToGrid="0" snapToObjects="1">
      <p:cViewPr varScale="1">
        <p:scale>
          <a:sx n="122" d="100"/>
          <a:sy n="122" d="100"/>
        </p:scale>
        <p:origin x="4614" y="96"/>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 which presented manageable data set to run our multiple different models against.</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None/>
            </a:pPr>
            <a:r>
              <a:rPr lang="en-US" sz="1800" b="0" i="0" u="none" strike="noStrike" dirty="0">
                <a:solidFill>
                  <a:srgbClr val="000000"/>
                </a:solidFill>
                <a:effectLst/>
                <a:latin typeface="Arial" panose="020B0604020202020204" pitchFamily="34" charset="0"/>
              </a:rPr>
              <a:t>In this block we are looking at neural network models that rely solely on the data set for training. That means it has to first learn the features of the audio clips themselves, the acoustic patterns in the </a:t>
            </a:r>
            <a:r>
              <a:rPr lang="en-US" sz="1800" b="0" i="0" u="none" strike="noStrike" dirty="0" err="1">
                <a:solidFill>
                  <a:srgbClr val="000000"/>
                </a:solidFill>
                <a:effectLst/>
                <a:latin typeface="Arial" panose="020B0604020202020204" pitchFamily="34" charset="0"/>
              </a:rPr>
              <a:t>spectogram</a:t>
            </a:r>
            <a:r>
              <a:rPr lang="en-US" sz="1800" b="0" i="0" u="none" strike="noStrike" dirty="0">
                <a:solidFill>
                  <a:srgbClr val="000000"/>
                </a:solidFill>
                <a:effectLst/>
                <a:latin typeface="Arial" panose="020B0604020202020204" pitchFamily="34" charset="0"/>
              </a:rPr>
              <a:t> that would help distinguish classes - short bursts of sound like a dog bark, repetitive textures like a bird chirp, or changes over time.  Then it has to learn the classifier, meaning mapping those patterns to the labels from ESC-50.</a:t>
            </a:r>
            <a:endParaRPr lang="en-US" dirty="0">
              <a:effectLst/>
            </a:endParaRPr>
          </a:p>
          <a:p>
            <a:pPr rtl="0"/>
            <a:br>
              <a:rPr lang="en-US" sz="1800" b="0" i="0" u="none" strike="noStrike" dirty="0">
                <a:solidFill>
                  <a:srgbClr val="000000"/>
                </a:solidFill>
                <a:effectLst/>
                <a:latin typeface="Arial" panose="020B0604020202020204" pitchFamily="34" charset="0"/>
              </a:rPr>
            </a:br>
            <a:r>
              <a:rPr lang="en-US" sz="1800" b="0" i="0" u="none" strike="noStrike" dirty="0">
                <a:solidFill>
                  <a:srgbClr val="000000"/>
                </a:solidFill>
                <a:effectLst/>
                <a:latin typeface="Arial" panose="020B0604020202020204" pitchFamily="34" charset="0"/>
              </a:rPr>
              <a:t>Here we look at first recreating </a:t>
            </a:r>
            <a:r>
              <a:rPr lang="en-US" sz="1800" b="0" i="0" u="none" strike="noStrike" dirty="0" err="1">
                <a:solidFill>
                  <a:srgbClr val="000000"/>
                </a:solidFill>
                <a:effectLst/>
                <a:latin typeface="Arial" panose="020B0604020202020204" pitchFamily="34" charset="0"/>
              </a:rPr>
              <a:t>Piczak’s</a:t>
            </a:r>
            <a:r>
              <a:rPr lang="en-US" sz="1800" b="0" i="0" u="none" strike="noStrike" dirty="0">
                <a:solidFill>
                  <a:srgbClr val="000000"/>
                </a:solidFill>
                <a:effectLst/>
                <a:latin typeface="Arial" panose="020B0604020202020204" pitchFamily="34" charset="0"/>
              </a:rPr>
              <a:t> model to build our baseline, then we run a series of CNN variations before introducing an LSTM extension.</a:t>
            </a:r>
            <a:endParaRPr lang="en-US" dirty="0">
              <a:effectLst/>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200"/>
              </a:spcBef>
              <a:spcAft>
                <a:spcPts val="1200"/>
              </a:spcAft>
              <a:buNone/>
            </a:pPr>
            <a:r>
              <a:rPr lang="en-US" sz="1800" b="0" i="0" u="none" strike="noStrike" dirty="0">
                <a:solidFill>
                  <a:srgbClr val="000000"/>
                </a:solidFill>
                <a:effectLst/>
                <a:latin typeface="Arial" panose="020B0604020202020204" pitchFamily="34" charset="0"/>
              </a:rPr>
              <a:t>Our results did not show the smooth chronological improvement we initially expected. Instead, the central lesson was that model fit mattered more than model age</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CNNs were a strong baseline because spectrogram audio naturally aligns with convolutional feature learning.</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Hyperparameter tuning and added architecture complexity helped only a small amount when the model still had to learn from ESC-50 alone, the results aligning to the importance of model selection when also looking at the impacts of the LSTM.</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The major gains appeared when the model brought in prior audio knowledge from large-scale pretraining.</a:t>
            </a:r>
            <a:endParaRPr lang="en-US" dirty="0">
              <a:effectLst/>
            </a:endParaRPr>
          </a:p>
          <a:p>
            <a:pPr rtl="0">
              <a:spcBef>
                <a:spcPts val="1200"/>
              </a:spcBef>
              <a:spcAft>
                <a:spcPts val="1200"/>
              </a:spcAft>
              <a:buNone/>
            </a:pPr>
            <a:br>
              <a:rPr lang="en-US" dirty="0"/>
            </a:br>
            <a:r>
              <a:rPr lang="en-US" sz="1800" b="0" i="0" u="none" strike="noStrike" dirty="0">
                <a:solidFill>
                  <a:srgbClr val="000000"/>
                </a:solidFill>
                <a:effectLst/>
                <a:latin typeface="Arial" panose="020B0604020202020204" pitchFamily="34" charset="0"/>
              </a:rPr>
              <a:t>What went well was the dataset choice: ESC-50 gave us a compact, clean, repeatable benchmark.</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What did not go well was reproducibility and comparison discipline. A 2015 baseline was harder to recreate than expected, and small choices like voting, folds, and final-versus-best accuracy changed the story.</a:t>
            </a:r>
            <a:endParaRPr lang="en-US" dirty="0">
              <a:effectLst/>
            </a:endParaRPr>
          </a:p>
          <a:p>
            <a:pPr rtl="0">
              <a:spcBef>
                <a:spcPts val="1200"/>
              </a:spcBef>
              <a:spcAft>
                <a:spcPts val="1200"/>
              </a:spcAft>
            </a:pPr>
            <a:r>
              <a:rPr lang="en-US" sz="1800" b="0" i="0" u="none" strike="noStrike" dirty="0">
                <a:solidFill>
                  <a:srgbClr val="000000"/>
                </a:solidFill>
                <a:effectLst/>
                <a:latin typeface="Arial" panose="020B0604020202020204" pitchFamily="34" charset="0"/>
              </a:rPr>
              <a:t>If we repeated this project, we would lock the evaluation protocol earlier, run fewer variants more deeply, include a classical non-neural baseline, and add runtime or cost as a second performance dimension.</a:t>
            </a:r>
            <a:endParaRPr lang="en-US" dirty="0">
              <a:effectLst/>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academicjobsonline.org/ajo/Cornell/Systems%20Engineerin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Users/andrew/Desktop/CU/CornellUniversity.jpg"/>
          <p:cNvPicPr>
            <a:picLocks noChangeAspect="1"/>
          </p:cNvPicPr>
          <p:nvPr/>
        </p:nvPicPr>
        <p:blipFill>
          <a:blip r:embed="rId3">
            <a:alphaModFix amt="62000"/>
          </a:blip>
          <a:srcRect/>
          <a:stretch/>
        </p:blipFill>
        <p:spPr>
          <a:xfrm>
            <a:off x="0" y="0"/>
            <a:ext cx="12191695" cy="6858000"/>
          </a:xfrm>
          <a:prstGeom prst="rect">
            <a:avLst/>
          </a:prstGeom>
        </p:spPr>
      </p:pic>
      <p:sp>
        <p:nvSpPr>
          <p:cNvPr id="3" name="Shape 0"/>
          <p:cNvSpPr/>
          <p:nvPr/>
        </p:nvSpPr>
        <p:spPr>
          <a:xfrm>
            <a:off x="305" y="0"/>
            <a:ext cx="12191695" cy="6858000"/>
          </a:xfrm>
          <a:prstGeom prst="rect">
            <a:avLst/>
          </a:prstGeom>
          <a:solidFill>
            <a:srgbClr val="F2F0EA">
              <a:alpha val="82000"/>
            </a:srgbClr>
          </a:solidFill>
          <a:ln w="12700">
            <a:solidFill>
              <a:srgbClr val="F2F0EA">
                <a:alpha val="0"/>
              </a:srgbClr>
            </a:solidFill>
            <a:prstDash val="solid"/>
          </a:ln>
        </p:spPr>
        <p:txBody>
          <a:bodyPr/>
          <a:lstStyle/>
          <a:p>
            <a:endParaRPr lang="en-US" dirty="0">
              <a:hlinkClick r:id="rId4"/>
            </a:endParaRPr>
          </a:p>
          <a:p>
            <a:endParaRPr lang="en-US" dirty="0"/>
          </a:p>
        </p:txBody>
      </p:sp>
      <p:sp>
        <p:nvSpPr>
          <p:cNvPr id="5" name="Text 2"/>
          <p:cNvSpPr/>
          <p:nvPr/>
        </p:nvSpPr>
        <p:spPr>
          <a:xfrm>
            <a:off x="1078991" y="2157984"/>
            <a:ext cx="10416317" cy="1325880"/>
          </a:xfrm>
          <a:prstGeom prst="rect">
            <a:avLst/>
          </a:prstGeom>
          <a:noFill/>
          <a:ln/>
        </p:spPr>
        <p:txBody>
          <a:bodyPr wrap="square" lIns="0" tIns="0" rIns="0" bIns="0" rtlCol="0" anchor="t">
            <a:normAutofit/>
          </a:bodyPr>
          <a:lstStyle/>
          <a:p>
            <a:pPr marL="0" indent="0" algn="l">
              <a:lnSpc>
                <a:spcPct val="88000"/>
              </a:lnSpc>
              <a:buNone/>
            </a:pPr>
            <a:r>
              <a:rPr lang="en-US" sz="4000" b="1" dirty="0">
                <a:solidFill>
                  <a:schemeClr val="tx1">
                    <a:lumMod val="75000"/>
                    <a:lumOff val="25000"/>
                  </a:schemeClr>
                </a:solidFill>
                <a:latin typeface="Aptos Display" pitchFamily="34" charset="0"/>
                <a:ea typeface="Aptos Display" pitchFamily="34" charset="-122"/>
                <a:cs typeface="Aptos Display" pitchFamily="34" charset="-120"/>
              </a:rPr>
              <a:t>SYSEN 5888</a:t>
            </a:r>
          </a:p>
          <a:p>
            <a:pPr marL="0" indent="0" algn="l">
              <a:lnSpc>
                <a:spcPct val="88000"/>
              </a:lnSpc>
              <a:buNone/>
            </a:pPr>
            <a:r>
              <a:rPr lang="en-US" sz="4800" b="1" dirty="0">
                <a:solidFill>
                  <a:srgbClr val="B31B1B"/>
                </a:solidFill>
                <a:latin typeface="Aptos Display" pitchFamily="34" charset="0"/>
                <a:ea typeface="Aptos Display" pitchFamily="34" charset="-122"/>
                <a:cs typeface="Aptos Display" pitchFamily="34" charset="-120"/>
              </a:rPr>
              <a:t>Measuring AI Acceleration Over Time</a:t>
            </a:r>
            <a:endParaRPr lang="en-US" sz="4800" dirty="0"/>
          </a:p>
        </p:txBody>
      </p:sp>
      <p:sp>
        <p:nvSpPr>
          <p:cNvPr id="6" name="Text 3"/>
          <p:cNvSpPr/>
          <p:nvPr/>
        </p:nvSpPr>
        <p:spPr>
          <a:xfrm>
            <a:off x="1078991" y="3594492"/>
            <a:ext cx="7909560" cy="1325879"/>
          </a:xfrm>
          <a:prstGeom prst="rect">
            <a:avLst/>
          </a:prstGeom>
          <a:noFill/>
          <a:ln/>
        </p:spPr>
        <p:txBody>
          <a:bodyPr wrap="square" lIns="0" tIns="0" rIns="0" bIns="0" rtlCol="0" anchor="t">
            <a:normAutofit/>
          </a:bodyPr>
          <a:lstStyle/>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Amine Amirouche (BAA93)</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Andrew Littlefield (DAL352)</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Angela Li (YL3937)</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Jack Bush (JLB662)</a:t>
            </a:r>
          </a:p>
          <a:p>
            <a:pPr marL="0" indent="0" algn="l">
              <a:lnSpc>
                <a:spcPct val="88000"/>
              </a:lnSpc>
              <a:buNone/>
            </a:pPr>
            <a:r>
              <a:rPr lang="en-US" dirty="0">
                <a:solidFill>
                  <a:schemeClr val="tx1">
                    <a:lumMod val="75000"/>
                    <a:lumOff val="25000"/>
                  </a:schemeClr>
                </a:solidFill>
                <a:latin typeface="Aptos" pitchFamily="34" charset="0"/>
              </a:rPr>
              <a:t>Jonathan Lloyd (JLS384)</a:t>
            </a:r>
            <a:endParaRPr lang="en-US" dirty="0">
              <a:solidFill>
                <a:schemeClr val="tx1">
                  <a:lumMod val="75000"/>
                  <a:lumOff val="25000"/>
                </a:schemeClr>
              </a:solidFill>
            </a:endParaRPr>
          </a:p>
        </p:txBody>
      </p:sp>
      <p:sp>
        <p:nvSpPr>
          <p:cNvPr id="7" name="Text 4"/>
          <p:cNvSpPr/>
          <p:nvPr/>
        </p:nvSpPr>
        <p:spPr>
          <a:xfrm>
            <a:off x="1078991" y="4990354"/>
            <a:ext cx="7315200" cy="274320"/>
          </a:xfrm>
          <a:prstGeom prst="rect">
            <a:avLst/>
          </a:prstGeom>
          <a:noFill/>
          <a:ln/>
        </p:spPr>
        <p:txBody>
          <a:bodyPr wrap="square" lIns="0" tIns="0" rIns="0" bIns="0" rtlCol="0" anchor="t">
            <a:normAutofit/>
          </a:bodyPr>
          <a:lstStyle/>
          <a:p>
            <a:pPr marL="0" indent="0" algn="l">
              <a:lnSpc>
                <a:spcPct val="88000"/>
              </a:lnSpc>
              <a:buNone/>
            </a:pPr>
            <a:r>
              <a:rPr lang="en-US" b="1" dirty="0">
                <a:solidFill>
                  <a:schemeClr val="tx1">
                    <a:lumMod val="75000"/>
                    <a:lumOff val="25000"/>
                  </a:schemeClr>
                </a:solidFill>
                <a:latin typeface="Aptos" pitchFamily="34" charset="0"/>
                <a:ea typeface="Aptos" pitchFamily="34" charset="-122"/>
                <a:cs typeface="Aptos" pitchFamily="34" charset="-120"/>
              </a:rPr>
              <a:t>4 May 2026</a:t>
            </a:r>
            <a:endParaRPr lang="en-US" b="1" dirty="0">
              <a:solidFill>
                <a:schemeClr val="tx1">
                  <a:lumMod val="75000"/>
                  <a:lumOff val="25000"/>
                </a:schemeClr>
              </a:solidFill>
            </a:endParaRPr>
          </a:p>
        </p:txBody>
      </p:sp>
      <p:pic>
        <p:nvPicPr>
          <p:cNvPr id="1028" name="Picture 4">
            <a:extLst>
              <a:ext uri="{FF2B5EF4-FFF2-40B4-BE49-F238E27FC236}">
                <a16:creationId xmlns:a16="http://schemas.microsoft.com/office/drawing/2014/main" id="{B9554E79-58B1-EE7B-4384-C821622D3B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9700" y="157514"/>
            <a:ext cx="3896972" cy="9176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red circle with a shield and text&#10;&#10;AI-generated content may be incorrect.">
            <a:extLst>
              <a:ext uri="{FF2B5EF4-FFF2-40B4-BE49-F238E27FC236}">
                <a16:creationId xmlns:a16="http://schemas.microsoft.com/office/drawing/2014/main" id="{64FD0950-08F2-4703-2551-0499DAB85518}"/>
              </a:ext>
            </a:extLst>
          </p:cNvPr>
          <p:cNvPicPr>
            <a:picLocks noChangeAspect="1"/>
          </p:cNvPicPr>
          <p:nvPr/>
        </p:nvPicPr>
        <p:blipFill>
          <a:blip r:embed="rId6"/>
          <a:srcRect l="30015" t="10691" r="28666" b="10859"/>
          <a:stretch/>
        </p:blipFill>
        <p:spPr>
          <a:xfrm>
            <a:off x="6827711" y="118200"/>
            <a:ext cx="1000539" cy="996282"/>
          </a:xfrm>
          <a:prstGeom prst="rect">
            <a:avLst/>
          </a:prstGeom>
        </p:spPr>
      </p:pic>
      <p:cxnSp>
        <p:nvCxnSpPr>
          <p:cNvPr id="12" name="Straight Connector 11">
            <a:extLst>
              <a:ext uri="{FF2B5EF4-FFF2-40B4-BE49-F238E27FC236}">
                <a16:creationId xmlns:a16="http://schemas.microsoft.com/office/drawing/2014/main" id="{9E34265B-5AC7-AD92-C855-B1C880CBF117}"/>
              </a:ext>
            </a:extLst>
          </p:cNvPr>
          <p:cNvCxnSpPr/>
          <p:nvPr/>
        </p:nvCxnSpPr>
        <p:spPr>
          <a:xfrm>
            <a:off x="7964677" y="157514"/>
            <a:ext cx="0" cy="91765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2" y="3657600"/>
            <a:ext cx="11571083"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416296"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31520" y="2377916"/>
            <a:ext cx="2926080" cy="182880"/>
          </a:xfrm>
          <a:prstGeom prst="rect">
            <a:avLst/>
          </a:prstGeom>
          <a:noFill/>
          <a:ln>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4227911563"/>
              </p:ext>
            </p:extLst>
          </p:nvPr>
        </p:nvGraphicFramePr>
        <p:xfrm>
          <a:off x="743871" y="2655680"/>
          <a:ext cx="4385222" cy="1821180"/>
        </p:xfrm>
        <a:graphic>
          <a:graphicData uri="http://schemas.openxmlformats.org/drawingml/2006/table">
            <a:tbl>
              <a:tblPr/>
              <a:tblGrid>
                <a:gridCol w="1046558">
                  <a:extLst>
                    <a:ext uri="{9D8B030D-6E8A-4147-A177-3AD203B41FA5}">
                      <a16:colId xmlns:a16="http://schemas.microsoft.com/office/drawing/2014/main" val="20000"/>
                    </a:ext>
                  </a:extLst>
                </a:gridCol>
                <a:gridCol w="3338664">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reproduced baseline is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a:t>
            </a:r>
          </a:p>
        </p:txBody>
      </p:sp>
      <p:sp>
        <p:nvSpPr>
          <p:cNvPr id="84" name="Text 11">
            <a:extLst>
              <a:ext uri="{FF2B5EF4-FFF2-40B4-BE49-F238E27FC236}">
                <a16:creationId xmlns:a16="http://schemas.microsoft.com/office/drawing/2014/main" id="{90570715-2678-B8CB-A761-32B6960626D5}"/>
              </a:ext>
            </a:extLst>
          </p:cNvPr>
          <p:cNvSpPr/>
          <p:nvPr/>
        </p:nvSpPr>
        <p:spPr>
          <a:xfrm>
            <a:off x="731520" y="1304947"/>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31521" y="1600200"/>
            <a:ext cx="5059680" cy="658846"/>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31520" y="1307591"/>
            <a:ext cx="1097280" cy="164592"/>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31520" y="1601916"/>
            <a:ext cx="5285232" cy="457200"/>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20" name="Text 18"/>
          <p:cNvSpPr/>
          <p:nvPr/>
        </p:nvSpPr>
        <p:spPr>
          <a:xfrm>
            <a:off x="731520" y="2381772"/>
            <a:ext cx="1627632" cy="164592"/>
          </a:xfrm>
          <a:prstGeom prst="rect">
            <a:avLst/>
          </a:prstGeom>
          <a:noFill/>
          <a:ln>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sp>
        <p:nvSpPr>
          <p:cNvPr id="22" name="Text 19"/>
          <p:cNvSpPr/>
          <p:nvPr/>
        </p:nvSpPr>
        <p:spPr>
          <a:xfrm>
            <a:off x="731520" y="4650734"/>
            <a:ext cx="100227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31520" y="4893150"/>
            <a:ext cx="5133821" cy="128148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relative to </a:t>
            </a:r>
            <a:r>
              <a:rPr lang="en-US" sz="1200" dirty="0" err="1">
                <a:solidFill>
                  <a:srgbClr val="1F2528"/>
                </a:solidFill>
                <a:latin typeface="Aptos" pitchFamily="34" charset="0"/>
                <a:ea typeface="Aptos" pitchFamily="34" charset="-122"/>
                <a:cs typeface="Aptos" pitchFamily="34" charset="-120"/>
              </a:rPr>
              <a:t>Piczak's</a:t>
            </a:r>
            <a:r>
              <a:rPr lang="en-US" sz="1200" dirty="0">
                <a:solidFill>
                  <a:srgbClr val="1F2528"/>
                </a:solidFill>
                <a:latin typeface="Aptos" pitchFamily="34" charset="0"/>
                <a:ea typeface="Aptos" pitchFamily="34" charset="-122"/>
                <a:cs typeface="Aptos" pitchFamily="34" charset="-120"/>
              </a:rPr>
              <a:t> 64.5% LP baseline. </a:t>
            </a:r>
          </a:p>
          <a:p>
            <a:pPr marL="0" indent="0" algn="l">
              <a:lnSpc>
                <a:spcPct val="90000"/>
              </a:lnSpc>
              <a:buNone/>
            </a:pPr>
            <a:endParaRPr lang="en-US" sz="1200" dirty="0">
              <a:solidFill>
                <a:srgbClr val="1F2528"/>
              </a:solidFill>
              <a:latin typeface="Aptos" pitchFamily="34" charset="0"/>
              <a:ea typeface="Aptos" pitchFamily="34" charset="-122"/>
              <a:cs typeface="Aptos" pitchFamily="34" charset="-120"/>
            </a:endParaRPr>
          </a:p>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Resulted in a measurable improvement,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a step-change improvement</a:t>
            </a:r>
            <a:endParaRPr lang="en-US" sz="120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60360" y="1411800"/>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pSp>
        <p:nvGrpSpPr>
          <p:cNvPr id="5" name="Group 4">
            <a:extLst>
              <a:ext uri="{FF2B5EF4-FFF2-40B4-BE49-F238E27FC236}">
                <a16:creationId xmlns:a16="http://schemas.microsoft.com/office/drawing/2014/main" id="{B7A61841-D52D-B6ED-BE68-D3F4238C713B}"/>
              </a:ext>
            </a:extLst>
          </p:cNvPr>
          <p:cNvGrpSpPr/>
          <p:nvPr/>
        </p:nvGrpSpPr>
        <p:grpSpPr>
          <a:xfrm>
            <a:off x="8993248" y="5363330"/>
            <a:ext cx="1920240" cy="772294"/>
            <a:chOff x="9328755" y="4704960"/>
            <a:chExt cx="1920240" cy="772294"/>
          </a:xfrm>
        </p:grpSpPr>
        <p:sp>
          <p:nvSpPr>
            <p:cNvPr id="6" name="Shape 32">
              <a:extLst>
                <a:ext uri="{FF2B5EF4-FFF2-40B4-BE49-F238E27FC236}">
                  <a16:creationId xmlns:a16="http://schemas.microsoft.com/office/drawing/2014/main" id="{D34D283E-8F3F-58DC-D8B0-040877B49717}"/>
                </a:ext>
              </a:extLst>
            </p:cNvPr>
            <p:cNvSpPr/>
            <p:nvPr/>
          </p:nvSpPr>
          <p:spPr>
            <a:xfrm>
              <a:off x="9328755" y="4704960"/>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7" name="Text 33">
              <a:extLst>
                <a:ext uri="{FF2B5EF4-FFF2-40B4-BE49-F238E27FC236}">
                  <a16:creationId xmlns:a16="http://schemas.microsoft.com/office/drawing/2014/main" id="{05EBC001-8BA1-01F3-9C9D-2CBA1E2632EA}"/>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67.9%</a:t>
              </a:r>
              <a:endParaRPr lang="en-US" sz="2100" dirty="0"/>
            </a:p>
          </p:txBody>
        </p:sp>
        <p:sp>
          <p:nvSpPr>
            <p:cNvPr id="8" name="Text 34">
              <a:extLst>
                <a:ext uri="{FF2B5EF4-FFF2-40B4-BE49-F238E27FC236}">
                  <a16:creationId xmlns:a16="http://schemas.microsoft.com/office/drawing/2014/main" id="{D075690B-04D5-1C0A-A05B-39A0811D8E67}"/>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best 5-fold clip-level accuracy</a:t>
              </a:r>
              <a:endParaRPr lang="en-US" sz="780" dirty="0"/>
            </a:p>
          </p:txBody>
        </p:sp>
      </p:grpSp>
      <p:sp>
        <p:nvSpPr>
          <p:cNvPr id="13" name="Shape 48">
            <a:extLst>
              <a:ext uri="{FF2B5EF4-FFF2-40B4-BE49-F238E27FC236}">
                <a16:creationId xmlns:a16="http://schemas.microsoft.com/office/drawing/2014/main" id="{F0ED0800-8F54-1D75-841E-B4777E72BD3D}"/>
              </a:ext>
            </a:extLst>
          </p:cNvPr>
          <p:cNvSpPr/>
          <p:nvPr/>
        </p:nvSpPr>
        <p:spPr>
          <a:xfrm>
            <a:off x="6871840" y="5363330"/>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37" name="Text 49">
            <a:extLst>
              <a:ext uri="{FF2B5EF4-FFF2-40B4-BE49-F238E27FC236}">
                <a16:creationId xmlns:a16="http://schemas.microsoft.com/office/drawing/2014/main" id="{3CB76337-AD7A-110B-1F98-C1EF005752F5}"/>
              </a:ext>
            </a:extLst>
          </p:cNvPr>
          <p:cNvSpPr/>
          <p:nvPr/>
        </p:nvSpPr>
        <p:spPr>
          <a:xfrm>
            <a:off x="6963280" y="5500490"/>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38" name="Text 50">
            <a:extLst>
              <a:ext uri="{FF2B5EF4-FFF2-40B4-BE49-F238E27FC236}">
                <a16:creationId xmlns:a16="http://schemas.microsoft.com/office/drawing/2014/main" id="{47B0723B-AE1A-E10C-ED1C-FAB1AFE23E00}"/>
              </a:ext>
            </a:extLst>
          </p:cNvPr>
          <p:cNvSpPr/>
          <p:nvPr/>
        </p:nvSpPr>
        <p:spPr>
          <a:xfrm>
            <a:off x="6981568" y="5893682"/>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aphicFrame>
        <p:nvGraphicFramePr>
          <p:cNvPr id="39" name="Table 0">
            <a:extLst>
              <a:ext uri="{FF2B5EF4-FFF2-40B4-BE49-F238E27FC236}">
                <a16:creationId xmlns:a16="http://schemas.microsoft.com/office/drawing/2014/main" id="{101D0C41-7C7A-4370-08A2-E926EFE3F6F4}"/>
              </a:ext>
            </a:extLst>
          </p:cNvPr>
          <p:cNvGraphicFramePr>
            <a:graphicFrameLocks noGrp="1"/>
          </p:cNvGraphicFramePr>
          <p:nvPr>
            <p:extLst>
              <p:ext uri="{D42A27DB-BD31-4B8C-83A1-F6EECF244321}">
                <p14:modId xmlns:p14="http://schemas.microsoft.com/office/powerpoint/2010/main" val="3406380302"/>
              </p:ext>
            </p:extLst>
          </p:nvPr>
        </p:nvGraphicFramePr>
        <p:xfrm>
          <a:off x="731520" y="2655678"/>
          <a:ext cx="5115532" cy="1386496"/>
        </p:xfrm>
        <a:graphic>
          <a:graphicData uri="http://schemas.openxmlformats.org/drawingml/2006/table">
            <a:tbl>
              <a:tblPr/>
              <a:tblGrid>
                <a:gridCol w="978580">
                  <a:extLst>
                    <a:ext uri="{9D8B030D-6E8A-4147-A177-3AD203B41FA5}">
                      <a16:colId xmlns:a16="http://schemas.microsoft.com/office/drawing/2014/main" val="20000"/>
                    </a:ext>
                  </a:extLst>
                </a:gridCol>
                <a:gridCol w="2674648">
                  <a:extLst>
                    <a:ext uri="{9D8B030D-6E8A-4147-A177-3AD203B41FA5}">
                      <a16:colId xmlns:a16="http://schemas.microsoft.com/office/drawing/2014/main" val="20001"/>
                    </a:ext>
                  </a:extLst>
                </a:gridCol>
                <a:gridCol w="1462304">
                  <a:extLst>
                    <a:ext uri="{9D8B030D-6E8A-4147-A177-3AD203B41FA5}">
                      <a16:colId xmlns:a16="http://schemas.microsoft.com/office/drawing/2014/main" val="35711274"/>
                    </a:ext>
                  </a:extLst>
                </a:gridCol>
              </a:tblGrid>
              <a:tr h="145187">
                <a:tc>
                  <a:txBody>
                    <a:bodyPr/>
                    <a:lstStyle/>
                    <a:p>
                      <a:pPr marL="0" indent="0" algn="l" defTabSz="914400" rtl="0" eaLnBrk="1" latinLnBrk="0" hangingPunct="1">
                        <a:buNone/>
                      </a:pPr>
                      <a:r>
                        <a:rPr lang="en-US" sz="1030" b="1" kern="1200" dirty="0">
                          <a:solidFill>
                            <a:srgbClr val="FFFFFF"/>
                          </a:solidFill>
                          <a:latin typeface="+mn-lt"/>
                          <a:ea typeface="+mn-ea"/>
                          <a:cs typeface="+mn-cs"/>
                        </a:rPr>
                        <a:t>Dimension</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Conditions</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Best observed</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6" name="Shape 25">
            <a:extLst>
              <a:ext uri="{FF2B5EF4-FFF2-40B4-BE49-F238E27FC236}">
                <a16:creationId xmlns:a16="http://schemas.microsoft.com/office/drawing/2014/main" id="{26AD7A7F-B718-877D-5D6D-64139BB2D9C3}"/>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21052E2F-76ED-2FFC-D206-D31C31D0D4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07FAD0BE-4F31-699C-D5A9-12E056BF2C06}"/>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EE3E5F18-639F-9B03-B8B3-F152A7C1E92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27A93C74-65E1-2F1C-7E4E-BFF7DF063491}"/>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5E856389-785C-EDDD-2E93-69A6E443770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E70FD8BD-8D92-81E6-9C3C-AC93C8A0C1EE}"/>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C5EBDED2-597B-9227-B546-C4D2824C88F6}"/>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7" name="Text 26">
            <a:extLst>
              <a:ext uri="{FF2B5EF4-FFF2-40B4-BE49-F238E27FC236}">
                <a16:creationId xmlns:a16="http://schemas.microsoft.com/office/drawing/2014/main" id="{FDD7A5D5-2EF0-FA2E-CAED-E6DF2A85E002}"/>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1F3398B0-70FF-C5E6-5B81-8C74E3BDC7D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95D35998-729C-C512-7B25-183F08D4C5A5}"/>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B5C49A20-5BE9-158D-D657-66FBE59336B5}"/>
              </a:ext>
            </a:extLst>
          </p:cNvPr>
          <p:cNvSpPr/>
          <p:nvPr/>
        </p:nvSpPr>
        <p:spPr>
          <a:xfrm>
            <a:off x="737816" y="1600200"/>
            <a:ext cx="4730655" cy="411480"/>
          </a:xfrm>
          <a:prstGeom prst="rect">
            <a:avLst/>
          </a:prstGeom>
          <a:noFill/>
          <a:ln>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5504F900-04E2-A0C8-2727-E8C606D82368}"/>
              </a:ext>
            </a:extLst>
          </p:cNvPr>
          <p:cNvGrpSpPr/>
          <p:nvPr/>
        </p:nvGrpSpPr>
        <p:grpSpPr>
          <a:xfrm>
            <a:off x="8720101" y="4812128"/>
            <a:ext cx="1920240" cy="772294"/>
            <a:chOff x="9328755" y="4727446"/>
            <a:chExt cx="1920240" cy="772294"/>
          </a:xfrm>
        </p:grpSpPr>
        <p:sp>
          <p:nvSpPr>
            <p:cNvPr id="8" name="Shape 32">
              <a:extLst>
                <a:ext uri="{FF2B5EF4-FFF2-40B4-BE49-F238E27FC236}">
                  <a16:creationId xmlns:a16="http://schemas.microsoft.com/office/drawing/2014/main" id="{FF8E2337-52F1-8783-827C-7F1008D8C855}"/>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C5DFBC2B-9662-68E1-8AB0-4FD4ED093D9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18C1C5EA-9BD1-DCE8-3929-401367F5AC9C}"/>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12442A1A-0ADC-E00E-8F65-04BE871CCA8C}"/>
              </a:ext>
            </a:extLst>
          </p:cNvPr>
          <p:cNvPicPr>
            <a:picLocks noChangeAspect="1"/>
          </p:cNvPicPr>
          <p:nvPr/>
        </p:nvPicPr>
        <p:blipFill>
          <a:blip r:embed="rId4"/>
          <a:srcRect/>
          <a:stretch/>
        </p:blipFill>
        <p:spPr>
          <a:xfrm>
            <a:off x="5763893" y="1600200"/>
            <a:ext cx="5530488" cy="3063240"/>
          </a:xfrm>
          <a:prstGeom prst="rect">
            <a:avLst/>
          </a:prstGeom>
        </p:spPr>
      </p:pic>
      <p:sp>
        <p:nvSpPr>
          <p:cNvPr id="15" name="Text 36">
            <a:extLst>
              <a:ext uri="{FF2B5EF4-FFF2-40B4-BE49-F238E27FC236}">
                <a16:creationId xmlns:a16="http://schemas.microsoft.com/office/drawing/2014/main" id="{69F3321B-6ECD-9FCA-AC23-97AFA70A1559}"/>
              </a:ext>
            </a:extLst>
          </p:cNvPr>
          <p:cNvSpPr/>
          <p:nvPr/>
        </p:nvSpPr>
        <p:spPr>
          <a:xfrm>
            <a:off x="737816" y="544512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0A2D3FFE-A0F9-5698-47B0-895FD95E89EB}"/>
              </a:ext>
            </a:extLst>
          </p:cNvPr>
          <p:cNvSpPr/>
          <p:nvPr/>
        </p:nvSpPr>
        <p:spPr>
          <a:xfrm>
            <a:off x="737816" y="5628000"/>
            <a:ext cx="4727617" cy="996734"/>
          </a:xfrm>
          <a:prstGeom prst="rect">
            <a:avLst/>
          </a:prstGeom>
          <a:noFill/>
          <a:ln/>
        </p:spPr>
        <p:txBody>
          <a:bodyPr wrap="square" lIns="0" tIns="0" rIns="0" bIns="0" rtlCol="0" anchor="t">
            <a:normAutofit lnSpcReduction="10000"/>
          </a:bodyPr>
          <a:lstStyle/>
          <a:p>
            <a:pPr marL="0" indent="0" algn="l">
              <a:lnSpc>
                <a:spcPct val="90000"/>
              </a:lnSpc>
              <a:buNone/>
            </a:pPr>
            <a:r>
              <a:rPr lang="en-US" sz="1130" dirty="0">
                <a:solidFill>
                  <a:srgbClr val="1F2528"/>
                </a:solidFill>
                <a:latin typeface="Aptos" pitchFamily="34" charset="0"/>
                <a:ea typeface="Aptos" pitchFamily="34" charset="-122"/>
                <a:cs typeface="Aptos" pitchFamily="34" charset="-120"/>
              </a:rPr>
              <a:t>LSTM architectures performed </a:t>
            </a:r>
            <a:r>
              <a:rPr lang="en-US" sz="1130" b="1" dirty="0">
                <a:solidFill>
                  <a:srgbClr val="1F2528"/>
                </a:solidFill>
                <a:latin typeface="Aptos" pitchFamily="34" charset="0"/>
                <a:ea typeface="Aptos" pitchFamily="34" charset="-122"/>
                <a:cs typeface="Aptos" pitchFamily="34" charset="-120"/>
              </a:rPr>
              <a:t>worse</a:t>
            </a:r>
            <a:r>
              <a:rPr lang="en-US" sz="1130" dirty="0">
                <a:solidFill>
                  <a:srgbClr val="1F2528"/>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t>Some reasons may include:</a:t>
            </a:r>
          </a:p>
          <a:p>
            <a:pPr marL="171450" indent="-171450" algn="l">
              <a:lnSpc>
                <a:spcPct val="90000"/>
              </a:lnSpc>
              <a:buFont typeface="Arial" panose="020B0604020202020204" pitchFamily="34" charset="0"/>
              <a:buChar char="•"/>
            </a:pPr>
            <a:r>
              <a:rPr lang="en-US" sz="1130" dirty="0"/>
              <a:t>CNNs are inherently designed for 2D time-frequency patterns like audio clips</a:t>
            </a:r>
          </a:p>
          <a:p>
            <a:pPr marL="171450" indent="-171450" algn="l">
              <a:lnSpc>
                <a:spcPct val="90000"/>
              </a:lnSpc>
              <a:buFont typeface="Arial" panose="020B0604020202020204" pitchFamily="34" charset="0"/>
              <a:buChar char="•"/>
            </a:pPr>
            <a:r>
              <a:rPr lang="en-US" sz="1130" dirty="0"/>
              <a:t>Dataset not large enough for LSTM</a:t>
            </a:r>
          </a:p>
          <a:p>
            <a:pPr marL="171450" indent="-171450" algn="l">
              <a:lnSpc>
                <a:spcPct val="90000"/>
              </a:lnSpc>
              <a:buFont typeface="Arial" panose="020B0604020202020204" pitchFamily="34" charset="0"/>
              <a:buChar char="•"/>
            </a:pPr>
            <a:r>
              <a:rPr lang="en-US" sz="1130" dirty="0"/>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029A96BE-9D4F-9DAB-9A10-46F742A52D8E}"/>
              </a:ext>
            </a:extLst>
          </p:cNvPr>
          <p:cNvSpPr/>
          <p:nvPr/>
        </p:nvSpPr>
        <p:spPr>
          <a:xfrm>
            <a:off x="737816" y="2051104"/>
            <a:ext cx="4651038"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9A2E0087-A62C-C1EB-8E35-CF64515AB1E0}"/>
              </a:ext>
            </a:extLst>
          </p:cNvPr>
          <p:cNvGraphicFramePr>
            <a:graphicFrameLocks noGrp="1"/>
          </p:cNvGraphicFramePr>
          <p:nvPr>
            <p:extLst>
              <p:ext uri="{D42A27DB-BD31-4B8C-83A1-F6EECF244321}">
                <p14:modId xmlns:p14="http://schemas.microsoft.com/office/powerpoint/2010/main" val="4276692088"/>
              </p:ext>
            </p:extLst>
          </p:nvPr>
        </p:nvGraphicFramePr>
        <p:xfrm>
          <a:off x="737817" y="2220705"/>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3" name="Table 22">
            <a:extLst>
              <a:ext uri="{FF2B5EF4-FFF2-40B4-BE49-F238E27FC236}">
                <a16:creationId xmlns:a16="http://schemas.microsoft.com/office/drawing/2014/main" id="{5834280A-C1C7-08BD-15D1-C5A9597C1C5E}"/>
              </a:ext>
            </a:extLst>
          </p:cNvPr>
          <p:cNvGraphicFramePr>
            <a:graphicFrameLocks noGrp="1"/>
          </p:cNvGraphicFramePr>
          <p:nvPr>
            <p:extLst>
              <p:ext uri="{D42A27DB-BD31-4B8C-83A1-F6EECF244321}">
                <p14:modId xmlns:p14="http://schemas.microsoft.com/office/powerpoint/2010/main" val="1083395052"/>
              </p:ext>
            </p:extLst>
          </p:nvPr>
        </p:nvGraphicFramePr>
        <p:xfrm>
          <a:off x="6104727" y="5745480"/>
          <a:ext cx="5017842" cy="600456"/>
        </p:xfrm>
        <a:graphic>
          <a:graphicData uri="http://schemas.openxmlformats.org/drawingml/2006/table">
            <a:tbl>
              <a:tblPr firstRow="1" bandRow="1"/>
              <a:tblGrid>
                <a:gridCol w="521941">
                  <a:extLst>
                    <a:ext uri="{9D8B030D-6E8A-4147-A177-3AD203B41FA5}">
                      <a16:colId xmlns:a16="http://schemas.microsoft.com/office/drawing/2014/main" val="1390217886"/>
                    </a:ext>
                  </a:extLst>
                </a:gridCol>
                <a:gridCol w="782171">
                  <a:extLst>
                    <a:ext uri="{9D8B030D-6E8A-4147-A177-3AD203B41FA5}">
                      <a16:colId xmlns:a16="http://schemas.microsoft.com/office/drawing/2014/main" val="1688786671"/>
                    </a:ext>
                  </a:extLst>
                </a:gridCol>
                <a:gridCol w="782171">
                  <a:extLst>
                    <a:ext uri="{9D8B030D-6E8A-4147-A177-3AD203B41FA5}">
                      <a16:colId xmlns:a16="http://schemas.microsoft.com/office/drawing/2014/main" val="3390239440"/>
                    </a:ext>
                  </a:extLst>
                </a:gridCol>
                <a:gridCol w="782171">
                  <a:extLst>
                    <a:ext uri="{9D8B030D-6E8A-4147-A177-3AD203B41FA5}">
                      <a16:colId xmlns:a16="http://schemas.microsoft.com/office/drawing/2014/main" val="839013668"/>
                    </a:ext>
                  </a:extLst>
                </a:gridCol>
                <a:gridCol w="782171">
                  <a:extLst>
                    <a:ext uri="{9D8B030D-6E8A-4147-A177-3AD203B41FA5}">
                      <a16:colId xmlns:a16="http://schemas.microsoft.com/office/drawing/2014/main" val="1387880440"/>
                    </a:ext>
                  </a:extLst>
                </a:gridCol>
                <a:gridCol w="1367217">
                  <a:extLst>
                    <a:ext uri="{9D8B030D-6E8A-4147-A177-3AD203B41FA5}">
                      <a16:colId xmlns:a16="http://schemas.microsoft.com/office/drawing/2014/main" val="1167938057"/>
                    </a:ext>
                  </a:extLst>
                </a:gridCol>
              </a:tblGrid>
              <a:tr h="257536">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a:noFill/>
                    </a:lnL>
                    <a:lnR>
                      <a:noFill/>
                    </a:lnR>
                    <a:lnT>
                      <a:noFill/>
                    </a:lnT>
                    <a:lnB>
                      <a:noFill/>
                    </a:lnB>
                    <a:solidFill>
                      <a:srgbClr val="426E9E"/>
                    </a:solidFill>
                  </a:tcPr>
                </a:tc>
                <a:extLst>
                  <a:ext uri="{0D108BD9-81ED-4DB2-BD59-A6C34878D82A}">
                    <a16:rowId xmlns:a16="http://schemas.microsoft.com/office/drawing/2014/main" val="3935896676"/>
                  </a:ext>
                </a:extLst>
              </a:tr>
              <a:tr h="249799">
                <a:tc>
                  <a:txBody>
                    <a:bodyPr/>
                    <a:lstStyle/>
                    <a:p>
                      <a:pPr>
                        <a:buNone/>
                      </a:pPr>
                      <a:r>
                        <a:rPr lang="en-US" sz="705" kern="1200" dirty="0">
                          <a:solidFill>
                            <a:srgbClr val="1F2528"/>
                          </a:solidFill>
                          <a:latin typeface="+mn-lt"/>
                          <a:ea typeface="+mn-ea"/>
                          <a:cs typeface="+mn-cs"/>
                        </a:rPr>
                        <a:t>8</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a:noFill/>
                    </a:lnL>
                    <a:lnR>
                      <a:noFill/>
                    </a:lnR>
                    <a:lnT>
                      <a:noFill/>
                    </a:lnT>
                    <a:lnB>
                      <a:noFill/>
                    </a:lnB>
                    <a:solidFill>
                      <a:srgbClr val="EFF2F3"/>
                    </a:solidFill>
                  </a:tcPr>
                </a:tc>
                <a:extLst>
                  <a:ext uri="{0D108BD9-81ED-4DB2-BD59-A6C34878D82A}">
                    <a16:rowId xmlns:a16="http://schemas.microsoft.com/office/drawing/2014/main" val="2523090203"/>
                  </a:ext>
                </a:extLst>
              </a:tr>
            </a:tbl>
          </a:graphicData>
        </a:graphic>
      </p:graphicFrame>
      <p:graphicFrame>
        <p:nvGraphicFramePr>
          <p:cNvPr id="25" name="Table 0">
            <a:extLst>
              <a:ext uri="{FF2B5EF4-FFF2-40B4-BE49-F238E27FC236}">
                <a16:creationId xmlns:a16="http://schemas.microsoft.com/office/drawing/2014/main" id="{AC735606-46D0-9739-7BD3-E09C4E2943A1}"/>
              </a:ext>
            </a:extLst>
          </p:cNvPr>
          <p:cNvGraphicFramePr>
            <a:graphicFrameLocks noGrp="1"/>
          </p:cNvGraphicFramePr>
          <p:nvPr>
            <p:extLst>
              <p:ext uri="{D42A27DB-BD31-4B8C-83A1-F6EECF244321}">
                <p14:modId xmlns:p14="http://schemas.microsoft.com/office/powerpoint/2010/main" val="2515556746"/>
              </p:ext>
            </p:extLst>
          </p:nvPr>
        </p:nvGraphicFramePr>
        <p:xfrm>
          <a:off x="737816" y="4155032"/>
          <a:ext cx="4809196" cy="1158240"/>
        </p:xfrm>
        <a:graphic>
          <a:graphicData uri="http://schemas.openxmlformats.org/drawingml/2006/table">
            <a:tbl>
              <a:tblPr/>
              <a:tblGrid>
                <a:gridCol w="1511106">
                  <a:extLst>
                    <a:ext uri="{9D8B030D-6E8A-4147-A177-3AD203B41FA5}">
                      <a16:colId xmlns:a16="http://schemas.microsoft.com/office/drawing/2014/main" val="20000"/>
                    </a:ext>
                  </a:extLst>
                </a:gridCol>
                <a:gridCol w="1208924">
                  <a:extLst>
                    <a:ext uri="{9D8B030D-6E8A-4147-A177-3AD203B41FA5}">
                      <a16:colId xmlns:a16="http://schemas.microsoft.com/office/drawing/2014/main" val="20001"/>
                    </a:ext>
                  </a:extLst>
                </a:gridCol>
                <a:gridCol w="2089166">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
        <p:nvSpPr>
          <p:cNvPr id="13" name="Shape 48">
            <a:extLst>
              <a:ext uri="{FF2B5EF4-FFF2-40B4-BE49-F238E27FC236}">
                <a16:creationId xmlns:a16="http://schemas.microsoft.com/office/drawing/2014/main" id="{92B74C76-3998-10F6-9060-161881FEC340}"/>
              </a:ext>
            </a:extLst>
          </p:cNvPr>
          <p:cNvSpPr/>
          <p:nvPr/>
        </p:nvSpPr>
        <p:spPr>
          <a:xfrm>
            <a:off x="6535262" y="4812128"/>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4" name="Text 49">
            <a:extLst>
              <a:ext uri="{FF2B5EF4-FFF2-40B4-BE49-F238E27FC236}">
                <a16:creationId xmlns:a16="http://schemas.microsoft.com/office/drawing/2014/main" id="{C162797D-3CC9-6542-3D39-69B5DCB40689}"/>
              </a:ext>
            </a:extLst>
          </p:cNvPr>
          <p:cNvSpPr/>
          <p:nvPr/>
        </p:nvSpPr>
        <p:spPr>
          <a:xfrm>
            <a:off x="6626702" y="4949288"/>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69D614F5-4FAA-9AE5-9133-D5D0E3647358}"/>
              </a:ext>
            </a:extLst>
          </p:cNvPr>
          <p:cNvSpPr/>
          <p:nvPr/>
        </p:nvSpPr>
        <p:spPr>
          <a:xfrm>
            <a:off x="6644990" y="5342480"/>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31520" y="1603618"/>
            <a:ext cx="4691231" cy="515419"/>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8463399" y="3717436"/>
            <a:ext cx="1920240" cy="772294"/>
            <a:chOff x="9328755" y="4727446"/>
            <a:chExt cx="1920240" cy="772294"/>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F42B345D-4B54-5EB9-8D14-B1D5276BD406}"/>
              </a:ext>
            </a:extLst>
          </p:cNvPr>
          <p:cNvPicPr>
            <a:picLocks noChangeAspect="1"/>
          </p:cNvPicPr>
          <p:nvPr/>
        </p:nvPicPr>
        <p:blipFill>
          <a:blip r:embed="rId4"/>
          <a:srcRect/>
          <a:stretch/>
        </p:blipFill>
        <p:spPr>
          <a:xfrm>
            <a:off x="6182085" y="1296008"/>
            <a:ext cx="4691231" cy="2251881"/>
          </a:xfrm>
          <a:prstGeom prst="rect">
            <a:avLst/>
          </a:prstGeom>
        </p:spPr>
      </p:pic>
      <p:sp>
        <p:nvSpPr>
          <p:cNvPr id="15" name="Text 36">
            <a:extLst>
              <a:ext uri="{FF2B5EF4-FFF2-40B4-BE49-F238E27FC236}">
                <a16:creationId xmlns:a16="http://schemas.microsoft.com/office/drawing/2014/main" id="{7731452C-7FB8-AAF1-4B70-4F8BEF45CBD8}"/>
              </a:ext>
            </a:extLst>
          </p:cNvPr>
          <p:cNvSpPr/>
          <p:nvPr/>
        </p:nvSpPr>
        <p:spPr>
          <a:xfrm>
            <a:off x="6221509" y="4924387"/>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94060" y="5129665"/>
            <a:ext cx="5026569" cy="996734"/>
          </a:xfrm>
          <a:prstGeom prst="rect">
            <a:avLst/>
          </a:prstGeom>
          <a:noFill/>
          <a:ln/>
        </p:spPr>
        <p:txBody>
          <a:bodyPr wrap="square" lIns="0" tIns="0" rIns="0" bIns="0" rtlCol="0" anchor="t">
            <a:noAutofit/>
          </a:bodyPr>
          <a:lstStyle/>
          <a:p>
            <a:pPr marL="0" indent="0" algn="l">
              <a:lnSpc>
                <a:spcPct val="90000"/>
              </a:lnSpc>
              <a:buNone/>
            </a:pPr>
            <a:r>
              <a:rPr lang="en-US" sz="120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200" b="1" dirty="0">
                <a:solidFill>
                  <a:schemeClr val="tx1">
                    <a:lumMod val="75000"/>
                    <a:lumOff val="25000"/>
                  </a:schemeClr>
                </a:solidFill>
                <a:latin typeface="Aptos" pitchFamily="34" charset="0"/>
                <a:ea typeface="Aptos" pitchFamily="34" charset="-122"/>
                <a:cs typeface="Aptos" pitchFamily="34" charset="-120"/>
              </a:rPr>
              <a:t>worse</a:t>
            </a:r>
            <a:r>
              <a:rPr lang="en-US" sz="120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20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31520" y="2163539"/>
            <a:ext cx="5489989"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989276497"/>
              </p:ext>
            </p:extLst>
          </p:nvPr>
        </p:nvGraphicFramePr>
        <p:xfrm>
          <a:off x="731521" y="2354342"/>
          <a:ext cx="4479886" cy="1821180"/>
        </p:xfrm>
        <a:graphic>
          <a:graphicData uri="http://schemas.openxmlformats.org/drawingml/2006/table">
            <a:tbl>
              <a:tblPr/>
              <a:tblGrid>
                <a:gridCol w="1039032">
                  <a:extLst>
                    <a:ext uri="{9D8B030D-6E8A-4147-A177-3AD203B41FA5}">
                      <a16:colId xmlns:a16="http://schemas.microsoft.com/office/drawing/2014/main" val="20000"/>
                    </a:ext>
                  </a:extLst>
                </a:gridCol>
                <a:gridCol w="3440854">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1793188872"/>
              </p:ext>
            </p:extLst>
          </p:nvPr>
        </p:nvGraphicFramePr>
        <p:xfrm>
          <a:off x="731520" y="4328425"/>
          <a:ext cx="4479886" cy="1158240"/>
        </p:xfrm>
        <a:graphic>
          <a:graphicData uri="http://schemas.openxmlformats.org/drawingml/2006/table">
            <a:tbl>
              <a:tblPr/>
              <a:tblGrid>
                <a:gridCol w="1697179">
                  <a:extLst>
                    <a:ext uri="{9D8B030D-6E8A-4147-A177-3AD203B41FA5}">
                      <a16:colId xmlns:a16="http://schemas.microsoft.com/office/drawing/2014/main" val="20000"/>
                    </a:ext>
                  </a:extLst>
                </a:gridCol>
                <a:gridCol w="1245320">
                  <a:extLst>
                    <a:ext uri="{9D8B030D-6E8A-4147-A177-3AD203B41FA5}">
                      <a16:colId xmlns:a16="http://schemas.microsoft.com/office/drawing/2014/main" val="20001"/>
                    </a:ext>
                  </a:extLst>
                </a:gridCol>
                <a:gridCol w="153738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519187257"/>
              </p:ext>
            </p:extLst>
          </p:nvPr>
        </p:nvGraphicFramePr>
        <p:xfrm>
          <a:off x="731522" y="5639568"/>
          <a:ext cx="4479884" cy="600456"/>
        </p:xfrm>
        <a:graphic>
          <a:graphicData uri="http://schemas.openxmlformats.org/drawingml/2006/table">
            <a:tbl>
              <a:tblPr/>
              <a:tblGrid>
                <a:gridCol w="507285">
                  <a:extLst>
                    <a:ext uri="{9D8B030D-6E8A-4147-A177-3AD203B41FA5}">
                      <a16:colId xmlns:a16="http://schemas.microsoft.com/office/drawing/2014/main" val="20000"/>
                    </a:ext>
                  </a:extLst>
                </a:gridCol>
                <a:gridCol w="683633">
                  <a:extLst>
                    <a:ext uri="{9D8B030D-6E8A-4147-A177-3AD203B41FA5}">
                      <a16:colId xmlns:a16="http://schemas.microsoft.com/office/drawing/2014/main" val="20001"/>
                    </a:ext>
                  </a:extLst>
                </a:gridCol>
                <a:gridCol w="617118">
                  <a:extLst>
                    <a:ext uri="{9D8B030D-6E8A-4147-A177-3AD203B41FA5}">
                      <a16:colId xmlns:a16="http://schemas.microsoft.com/office/drawing/2014/main" val="3678863950"/>
                    </a:ext>
                  </a:extLst>
                </a:gridCol>
                <a:gridCol w="524734">
                  <a:extLst>
                    <a:ext uri="{9D8B030D-6E8A-4147-A177-3AD203B41FA5}">
                      <a16:colId xmlns:a16="http://schemas.microsoft.com/office/drawing/2014/main" val="2782421059"/>
                    </a:ext>
                  </a:extLst>
                </a:gridCol>
                <a:gridCol w="713196">
                  <a:extLst>
                    <a:ext uri="{9D8B030D-6E8A-4147-A177-3AD203B41FA5}">
                      <a16:colId xmlns:a16="http://schemas.microsoft.com/office/drawing/2014/main" val="3043373647"/>
                    </a:ext>
                  </a:extLst>
                </a:gridCol>
                <a:gridCol w="1433918">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grpSp>
        <p:nvGrpSpPr>
          <p:cNvPr id="26" name="Group 25">
            <a:extLst>
              <a:ext uri="{FF2B5EF4-FFF2-40B4-BE49-F238E27FC236}">
                <a16:creationId xmlns:a16="http://schemas.microsoft.com/office/drawing/2014/main" id="{3A03BEB1-9537-04EC-8635-B1F54022D681}"/>
              </a:ext>
            </a:extLst>
          </p:cNvPr>
          <p:cNvGrpSpPr/>
          <p:nvPr/>
        </p:nvGrpSpPr>
        <p:grpSpPr>
          <a:xfrm>
            <a:off x="6341991" y="3717436"/>
            <a:ext cx="2011680" cy="772294"/>
            <a:chOff x="6957490" y="4123666"/>
            <a:chExt cx="2011680" cy="772294"/>
          </a:xfrm>
        </p:grpSpPr>
        <p:sp>
          <p:nvSpPr>
            <p:cNvPr id="14" name="Shape 48">
              <a:extLst>
                <a:ext uri="{FF2B5EF4-FFF2-40B4-BE49-F238E27FC236}">
                  <a16:creationId xmlns:a16="http://schemas.microsoft.com/office/drawing/2014/main" id="{8A7B5248-96C6-6827-8A09-7A319015BD4F}"/>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3" name="Text 49">
              <a:extLst>
                <a:ext uri="{FF2B5EF4-FFF2-40B4-BE49-F238E27FC236}">
                  <a16:creationId xmlns:a16="http://schemas.microsoft.com/office/drawing/2014/main" id="{2CBC18AD-3BA9-18DC-7639-15930BA3D4F6}"/>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7653CAB9-2395-EFC2-BD44-9AA6BEED2CF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extLst>
      <p:ext uri="{BB962C8B-B14F-4D97-AF65-F5344CB8AC3E}">
        <p14:creationId xmlns:p14="http://schemas.microsoft.com/office/powerpoint/2010/main" val="182594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5" name="Shape 22">
            <a:extLst>
              <a:ext uri="{FF2B5EF4-FFF2-40B4-BE49-F238E27FC236}">
                <a16:creationId xmlns:a16="http://schemas.microsoft.com/office/drawing/2014/main" id="{7BC609B8-2454-D1E2-FD78-ECFA4A2277B6}"/>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7" name="Text 24">
            <a:extLst>
              <a:ext uri="{FF2B5EF4-FFF2-40B4-BE49-F238E27FC236}">
                <a16:creationId xmlns:a16="http://schemas.microsoft.com/office/drawing/2014/main" id="{9EEFE770-72AD-FDAB-7578-75687A89F7E1}"/>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FFFFFF"/>
                </a:solidFill>
                <a:latin typeface="Aptos" pitchFamily="34" charset="0"/>
              </a:rPr>
              <a:t>VGGish | YAMNet</a:t>
            </a:r>
          </a:p>
        </p:txBody>
      </p:sp>
      <p:sp>
        <p:nvSpPr>
          <p:cNvPr id="38" name="Shape 25">
            <a:extLst>
              <a:ext uri="{FF2B5EF4-FFF2-40B4-BE49-F238E27FC236}">
                <a16:creationId xmlns:a16="http://schemas.microsoft.com/office/drawing/2014/main" id="{87FAA393-F71D-9400-5795-A3916A051E8B}"/>
              </a:ext>
            </a:extLst>
          </p:cNvPr>
          <p:cNvSpPr/>
          <p:nvPr/>
        </p:nvSpPr>
        <p:spPr>
          <a:xfrm>
            <a:off x="9564782" y="749723"/>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3" name="Text 11"/>
          <p:cNvSpPr/>
          <p:nvPr/>
        </p:nvSpPr>
        <p:spPr>
          <a:xfrm>
            <a:off x="731520" y="1307592"/>
            <a:ext cx="118872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Can earlier pretrained audio embeddings improve the relative to the </a:t>
            </a:r>
            <a:r>
              <a:rPr lang="en-US" sz="1850" b="1" dirty="0" err="1">
                <a:solidFill>
                  <a:srgbClr val="1F2528"/>
                </a:solidFill>
                <a:latin typeface="Aptos Display" pitchFamily="34" charset="0"/>
                <a:ea typeface="Aptos Display" pitchFamily="34" charset="-122"/>
                <a:cs typeface="Aptos Display" pitchFamily="34" charset="-120"/>
              </a:rPr>
              <a:t>Piczak</a:t>
            </a:r>
            <a:r>
              <a:rPr lang="en-US" sz="1850" b="1" dirty="0">
                <a:solidFill>
                  <a:srgbClr val="1F2528"/>
                </a:solidFill>
                <a:latin typeface="Aptos Display" pitchFamily="34" charset="0"/>
                <a:ea typeface="Aptos Display" pitchFamily="34" charset="-122"/>
                <a:cs typeface="Aptos Display" pitchFamily="34" charset="-120"/>
              </a:rPr>
              <a:t> baseline?</a:t>
            </a:r>
            <a:endParaRPr lang="en-US" sz="1850" dirty="0"/>
          </a:p>
        </p:txBody>
      </p:sp>
      <p:pic>
        <p:nvPicPr>
          <p:cNvPr id="28" name="Image 0"/>
          <p:cNvPicPr>
            <a:picLocks noChangeAspect="1"/>
          </p:cNvPicPr>
          <p:nvPr/>
        </p:nvPicPr>
        <p:blipFill>
          <a:blip r:embed="rId3"/>
          <a:srcRect/>
          <a:stretch/>
        </p:blipFill>
        <p:spPr>
          <a:xfrm>
            <a:off x="6012932" y="1680632"/>
            <a:ext cx="5739517" cy="2232034"/>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1066448884"/>
              </p:ext>
            </p:extLst>
          </p:nvPr>
        </p:nvGraphicFramePr>
        <p:xfrm>
          <a:off x="694944" y="2359153"/>
          <a:ext cx="4443981" cy="1496568"/>
        </p:xfrm>
        <a:graphic>
          <a:graphicData uri="http://schemas.openxmlformats.org/drawingml/2006/table">
            <a:tbl>
              <a:tblPr/>
              <a:tblGrid>
                <a:gridCol w="1121378">
                  <a:extLst>
                    <a:ext uri="{9D8B030D-6E8A-4147-A177-3AD203B41FA5}">
                      <a16:colId xmlns:a16="http://schemas.microsoft.com/office/drawing/2014/main" val="20000"/>
                    </a:ext>
                  </a:extLst>
                </a:gridCol>
                <a:gridCol w="332260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19" y="4727446"/>
            <a:ext cx="4106203" cy="914400"/>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While training accuracy improved significantly, pretraining is not automatically enough; representation fit and optimization choices matter. Test accuracy performed much lower at 64.5% and 61% for Frozen and Fine-Tuned models respectively</a:t>
            </a:r>
            <a:endParaRPr lang="en-US" sz="1200" dirty="0"/>
          </a:p>
        </p:txBody>
      </p:sp>
      <p:cxnSp>
        <p:nvCxnSpPr>
          <p:cNvPr id="10" name="Straight Connector 9">
            <a:extLst>
              <a:ext uri="{FF2B5EF4-FFF2-40B4-BE49-F238E27FC236}">
                <a16:creationId xmlns:a16="http://schemas.microsoft.com/office/drawing/2014/main" id="{2EB6E24A-0E98-1A23-DB40-8F94F5FCB2E8}"/>
              </a:ext>
            </a:extLst>
          </p:cNvPr>
          <p:cNvCxnSpPr/>
          <p:nvPr/>
        </p:nvCxnSpPr>
        <p:spPr>
          <a:xfrm>
            <a:off x="731520" y="1078992"/>
            <a:ext cx="0" cy="29232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B3A0584-80A7-C44B-0779-FDD7115C2F0A}"/>
              </a:ext>
            </a:extLst>
          </p:cNvPr>
          <p:cNvCxnSpPr/>
          <p:nvPr/>
        </p:nvCxnSpPr>
        <p:spPr>
          <a:xfrm>
            <a:off x="477371" y="1307592"/>
            <a:ext cx="1900069"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A4CEFFAD-9D45-801C-C7A8-30DC06BBFD52}"/>
              </a:ext>
            </a:extLst>
          </p:cNvPr>
          <p:cNvGrpSpPr/>
          <p:nvPr/>
        </p:nvGrpSpPr>
        <p:grpSpPr>
          <a:xfrm>
            <a:off x="6478524" y="4643132"/>
            <a:ext cx="1920240" cy="772294"/>
            <a:chOff x="6957490" y="4123666"/>
            <a:chExt cx="1920240" cy="772294"/>
          </a:xfrm>
        </p:grpSpPr>
        <p:sp>
          <p:nvSpPr>
            <p:cNvPr id="8" name="Shape 48">
              <a:extLst>
                <a:ext uri="{FF2B5EF4-FFF2-40B4-BE49-F238E27FC236}">
                  <a16:creationId xmlns:a16="http://schemas.microsoft.com/office/drawing/2014/main" id="{69167FE1-7828-9BF8-EC1C-81E436E87F49}"/>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9" name="Text 49">
              <a:extLst>
                <a:ext uri="{FF2B5EF4-FFF2-40B4-BE49-F238E27FC236}">
                  <a16:creationId xmlns:a16="http://schemas.microsoft.com/office/drawing/2014/main" id="{6D289ABB-47DB-B86F-5309-B5BF661A6F2E}"/>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12" name="Text 50">
              <a:extLst>
                <a:ext uri="{FF2B5EF4-FFF2-40B4-BE49-F238E27FC236}">
                  <a16:creationId xmlns:a16="http://schemas.microsoft.com/office/drawing/2014/main" id="{27BAB689-CEDE-945D-E10F-92035FA2DED7}"/>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grpSp>
        <p:nvGrpSpPr>
          <p:cNvPr id="16" name="Group 15">
            <a:extLst>
              <a:ext uri="{FF2B5EF4-FFF2-40B4-BE49-F238E27FC236}">
                <a16:creationId xmlns:a16="http://schemas.microsoft.com/office/drawing/2014/main" id="{E6FACAB8-ACFE-75A3-267E-A6CB3F395155}"/>
              </a:ext>
            </a:extLst>
          </p:cNvPr>
          <p:cNvGrpSpPr/>
          <p:nvPr/>
        </p:nvGrpSpPr>
        <p:grpSpPr>
          <a:xfrm>
            <a:off x="9304020" y="4151375"/>
            <a:ext cx="1965960" cy="914400"/>
            <a:chOff x="6591302" y="4233671"/>
            <a:chExt cx="1965960" cy="914400"/>
          </a:xfrm>
        </p:grpSpPr>
        <p:sp>
          <p:nvSpPr>
            <p:cNvPr id="17" name="Shape 28">
              <a:extLst>
                <a:ext uri="{FF2B5EF4-FFF2-40B4-BE49-F238E27FC236}">
                  <a16:creationId xmlns:a16="http://schemas.microsoft.com/office/drawing/2014/main" id="{E1AC7B9A-CDB3-C47E-30A5-6AF5336F597A}"/>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18" name="Text 29">
              <a:extLst>
                <a:ext uri="{FF2B5EF4-FFF2-40B4-BE49-F238E27FC236}">
                  <a16:creationId xmlns:a16="http://schemas.microsoft.com/office/drawing/2014/main" id="{D864CF10-274C-B463-9F34-CAC2C315EB92}"/>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91.69 %</a:t>
              </a:r>
              <a:endParaRPr lang="en-US" sz="2100" dirty="0"/>
            </a:p>
          </p:txBody>
        </p:sp>
        <p:sp>
          <p:nvSpPr>
            <p:cNvPr id="19" name="Text 30">
              <a:extLst>
                <a:ext uri="{FF2B5EF4-FFF2-40B4-BE49-F238E27FC236}">
                  <a16:creationId xmlns:a16="http://schemas.microsoft.com/office/drawing/2014/main" id="{3DB68733-04AE-50AF-7D93-336F33B95783}"/>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20" name="Group 19">
            <a:extLst>
              <a:ext uri="{FF2B5EF4-FFF2-40B4-BE49-F238E27FC236}">
                <a16:creationId xmlns:a16="http://schemas.microsoft.com/office/drawing/2014/main" id="{22A2A5F9-F867-8E80-76FD-4F71BE66FB64}"/>
              </a:ext>
            </a:extLst>
          </p:cNvPr>
          <p:cNvGrpSpPr/>
          <p:nvPr/>
        </p:nvGrpSpPr>
        <p:grpSpPr>
          <a:xfrm>
            <a:off x="9304020" y="5304484"/>
            <a:ext cx="1965960" cy="914400"/>
            <a:chOff x="6591302" y="4233671"/>
            <a:chExt cx="1965960" cy="914400"/>
          </a:xfrm>
        </p:grpSpPr>
        <p:sp>
          <p:nvSpPr>
            <p:cNvPr id="21" name="Shape 28">
              <a:extLst>
                <a:ext uri="{FF2B5EF4-FFF2-40B4-BE49-F238E27FC236}">
                  <a16:creationId xmlns:a16="http://schemas.microsoft.com/office/drawing/2014/main" id="{E24CA961-B9CA-7003-D39B-D269F1F1A645}"/>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22" name="Text 29">
              <a:extLst>
                <a:ext uri="{FF2B5EF4-FFF2-40B4-BE49-F238E27FC236}">
                  <a16:creationId xmlns:a16="http://schemas.microsoft.com/office/drawing/2014/main" id="{0ABD6622-FB29-2444-526C-BF6D3C09651D}"/>
                </a:ext>
              </a:extLst>
            </p:cNvPr>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82.94%</a:t>
              </a:r>
              <a:endParaRPr lang="en-US" sz="2100" dirty="0"/>
            </a:p>
          </p:txBody>
        </p:sp>
        <p:sp>
          <p:nvSpPr>
            <p:cNvPr id="23" name="Text 30">
              <a:extLst>
                <a:ext uri="{FF2B5EF4-FFF2-40B4-BE49-F238E27FC236}">
                  <a16:creationId xmlns:a16="http://schemas.microsoft.com/office/drawing/2014/main" id="{953D72EA-447D-8B97-7A06-AEBD6885B938}"/>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19" y="1591056"/>
            <a:ext cx="5151121"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What happens when the pretrained audio representation is a better fit?</a:t>
            </a:r>
            <a:endParaRPr lang="en-US" sz="1850" dirty="0"/>
          </a:p>
        </p:txBody>
      </p:sp>
      <p:grpSp>
        <p:nvGrpSpPr>
          <p:cNvPr id="8" name="Group 7">
            <a:extLst>
              <a:ext uri="{FF2B5EF4-FFF2-40B4-BE49-F238E27FC236}">
                <a16:creationId xmlns:a16="http://schemas.microsoft.com/office/drawing/2014/main" id="{672A12AB-EF7E-3CB7-A9A9-0B88F8D0872D}"/>
              </a:ext>
            </a:extLst>
          </p:cNvPr>
          <p:cNvGrpSpPr/>
          <p:nvPr/>
        </p:nvGrpSpPr>
        <p:grpSpPr>
          <a:xfrm>
            <a:off x="9445278" y="5423641"/>
            <a:ext cx="1965960" cy="914400"/>
            <a:chOff x="6591302" y="4233671"/>
            <a:chExt cx="1965960" cy="914400"/>
          </a:xfrm>
        </p:grpSpPr>
        <p:sp>
          <p:nvSpPr>
            <p:cNvPr id="30" name="Shape 28"/>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1" name="Text 29"/>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91.56%</a:t>
              </a:r>
              <a:endParaRPr lang="en-US" sz="2100" dirty="0"/>
            </a:p>
          </p:txBody>
        </p:sp>
        <p:sp>
          <p:nvSpPr>
            <p:cNvPr id="32" name="Text 30"/>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grpSp>
      <p:pic>
        <p:nvPicPr>
          <p:cNvPr id="34" name="Image 0"/>
          <p:cNvPicPr>
            <a:picLocks noChangeAspect="1"/>
          </p:cNvPicPr>
          <p:nvPr/>
        </p:nvPicPr>
        <p:blipFill>
          <a:blip r:embed="rId3"/>
          <a:srcRect/>
          <a:stretch/>
        </p:blipFill>
        <p:spPr>
          <a:xfrm>
            <a:off x="6309359" y="1738394"/>
            <a:ext cx="5442459" cy="2116511"/>
          </a:xfrm>
          <a:prstGeom prst="rect">
            <a:avLst/>
          </a:prstGeom>
        </p:spPr>
      </p:pic>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899157142"/>
              </p:ext>
            </p:extLst>
          </p:nvPr>
        </p:nvGraphicFramePr>
        <p:xfrm>
          <a:off x="694943" y="2359153"/>
          <a:ext cx="4434169" cy="1496568"/>
        </p:xfrm>
        <a:graphic>
          <a:graphicData uri="http://schemas.openxmlformats.org/drawingml/2006/table">
            <a:tbl>
              <a:tblPr/>
              <a:tblGrid>
                <a:gridCol w="1118903">
                  <a:extLst>
                    <a:ext uri="{9D8B030D-6E8A-4147-A177-3AD203B41FA5}">
                      <a16:colId xmlns:a16="http://schemas.microsoft.com/office/drawing/2014/main" val="20000"/>
                    </a:ext>
                  </a:extLst>
                </a:gridCol>
                <a:gridCol w="3315266">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745690"/>
          </a:xfrm>
          <a:prstGeom prst="rect">
            <a:avLst/>
          </a:prstGeom>
          <a:noFill/>
          <a:ln/>
        </p:spPr>
        <p:txBody>
          <a:bodyPr wrap="square" lIns="0" tIns="0" rIns="0" bIns="0" rtlCol="0" anchor="t">
            <a:normAutofit lnSpcReduction="100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 Transfer learning on large pretrained models can pose overfitting issues that can negatively affect the </a:t>
            </a:r>
            <a:r>
              <a:rPr lang="en-US" sz="1200">
                <a:solidFill>
                  <a:srgbClr val="1F2528"/>
                </a:solidFill>
                <a:latin typeface="Aptos" pitchFamily="34" charset="0"/>
                <a:ea typeface="Aptos" pitchFamily="34" charset="-122"/>
                <a:cs typeface="Aptos" pitchFamily="34" charset="-120"/>
              </a:rPr>
              <a:t>prediction results.</a:t>
            </a:r>
            <a:endParaRPr lang="en-US" sz="1200" dirty="0"/>
          </a:p>
        </p:txBody>
      </p:sp>
      <p:grpSp>
        <p:nvGrpSpPr>
          <p:cNvPr id="9" name="Group 8">
            <a:extLst>
              <a:ext uri="{FF2B5EF4-FFF2-40B4-BE49-F238E27FC236}">
                <a16:creationId xmlns:a16="http://schemas.microsoft.com/office/drawing/2014/main" id="{EC11A150-702D-1BD7-50AF-2A91160EF965}"/>
              </a:ext>
            </a:extLst>
          </p:cNvPr>
          <p:cNvGrpSpPr/>
          <p:nvPr/>
        </p:nvGrpSpPr>
        <p:grpSpPr>
          <a:xfrm>
            <a:off x="9445278" y="4279339"/>
            <a:ext cx="1965960" cy="914400"/>
            <a:chOff x="6591302" y="4233671"/>
            <a:chExt cx="1965960" cy="914400"/>
          </a:xfrm>
        </p:grpSpPr>
        <p:sp>
          <p:nvSpPr>
            <p:cNvPr id="10" name="Shape 28">
              <a:extLst>
                <a:ext uri="{FF2B5EF4-FFF2-40B4-BE49-F238E27FC236}">
                  <a16:creationId xmlns:a16="http://schemas.microsoft.com/office/drawing/2014/main" id="{FB84920A-AE94-A236-9389-7EBD5029FF29}"/>
                </a:ext>
              </a:extLst>
            </p:cNvPr>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12" name="Text 29">
              <a:extLst>
                <a:ext uri="{FF2B5EF4-FFF2-40B4-BE49-F238E27FC236}">
                  <a16:creationId xmlns:a16="http://schemas.microsoft.com/office/drawing/2014/main" id="{1FD27D74-43B3-C445-5AEA-6D61007ECDFB}"/>
                </a:ext>
              </a:extLst>
            </p:cNvPr>
            <p:cNvSpPr/>
            <p:nvPr/>
          </p:nvSpPr>
          <p:spPr>
            <a:xfrm>
              <a:off x="6682742" y="4370831"/>
              <a:ext cx="1783080" cy="329184"/>
            </a:xfrm>
            <a:prstGeom prst="rect">
              <a:avLst/>
            </a:prstGeom>
            <a:noFill/>
            <a:ln/>
          </p:spPr>
          <p:txBody>
            <a:bodyPr wrap="square" lIns="0" tIns="0" rIns="0" bIns="0" rtlCol="0" anchor="t">
              <a:normAutofit/>
            </a:bodyPr>
            <a:lstStyle/>
            <a:p>
              <a:pPr algn="ctr">
                <a:lnSpc>
                  <a:spcPct val="90000"/>
                </a:lnSpc>
              </a:pPr>
              <a:r>
                <a:rPr lang="en-US" sz="2100" b="1" dirty="0">
                  <a:solidFill>
                    <a:srgbClr val="17677D"/>
                  </a:solidFill>
                  <a:latin typeface="Aptos Display" pitchFamily="34" charset="0"/>
                  <a:ea typeface="Aptos Display" pitchFamily="34" charset="-122"/>
                  <a:cs typeface="Aptos Display" pitchFamily="34" charset="-120"/>
                </a:rPr>
                <a:t>99.81 %</a:t>
              </a:r>
              <a:endParaRPr lang="en-US" sz="2100" dirty="0"/>
            </a:p>
          </p:txBody>
        </p:sp>
        <p:sp>
          <p:nvSpPr>
            <p:cNvPr id="15" name="Text 30">
              <a:extLst>
                <a:ext uri="{FF2B5EF4-FFF2-40B4-BE49-F238E27FC236}">
                  <a16:creationId xmlns:a16="http://schemas.microsoft.com/office/drawing/2014/main" id="{0FC1132F-D57A-0F3C-B724-262B5D617A35}"/>
                </a:ext>
              </a:extLst>
            </p:cNvPr>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Frozen final 5-fold accuracy</a:t>
              </a:r>
              <a:endParaRPr lang="en-US" sz="780" dirty="0"/>
            </a:p>
          </p:txBody>
        </p:sp>
      </p:grpSp>
      <p:grpSp>
        <p:nvGrpSpPr>
          <p:cNvPr id="16" name="Group 15">
            <a:extLst>
              <a:ext uri="{FF2B5EF4-FFF2-40B4-BE49-F238E27FC236}">
                <a16:creationId xmlns:a16="http://schemas.microsoft.com/office/drawing/2014/main" id="{C74D935F-EECB-7141-019C-F85ADD7C5441}"/>
              </a:ext>
            </a:extLst>
          </p:cNvPr>
          <p:cNvGrpSpPr/>
          <p:nvPr/>
        </p:nvGrpSpPr>
        <p:grpSpPr>
          <a:xfrm>
            <a:off x="6693408" y="4723329"/>
            <a:ext cx="1920240" cy="772294"/>
            <a:chOff x="6957490" y="4123666"/>
            <a:chExt cx="1920240" cy="772294"/>
          </a:xfrm>
        </p:grpSpPr>
        <p:sp>
          <p:nvSpPr>
            <p:cNvPr id="17" name="Shape 48">
              <a:extLst>
                <a:ext uri="{FF2B5EF4-FFF2-40B4-BE49-F238E27FC236}">
                  <a16:creationId xmlns:a16="http://schemas.microsoft.com/office/drawing/2014/main" id="{538F25B8-A34D-F019-ADB8-AFE6860C1027}"/>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8" name="Text 49">
              <a:extLst>
                <a:ext uri="{FF2B5EF4-FFF2-40B4-BE49-F238E27FC236}">
                  <a16:creationId xmlns:a16="http://schemas.microsoft.com/office/drawing/2014/main" id="{47B2762C-0B40-0FE3-A143-DA1B74EA64DD}"/>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19" name="Text 50">
              <a:extLst>
                <a:ext uri="{FF2B5EF4-FFF2-40B4-BE49-F238E27FC236}">
                  <a16:creationId xmlns:a16="http://schemas.microsoft.com/office/drawing/2014/main" id="{0F5B0046-B2BA-66ED-B4E1-18EDAC4C69EF}"/>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rgbClr val="FFFFFF"/>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500" name="Shape 498"/>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597748"/>
            <a:ext cx="4397586"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AST architecture</a:t>
            </a:r>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1964485884"/>
              </p:ext>
            </p:extLst>
          </p:nvPr>
        </p:nvGraphicFramePr>
        <p:xfrm>
          <a:off x="731519" y="2830817"/>
          <a:ext cx="4397591" cy="1713738"/>
        </p:xfrm>
        <a:graphic>
          <a:graphicData uri="http://schemas.openxmlformats.org/drawingml/2006/table">
            <a:tbl>
              <a:tblPr/>
              <a:tblGrid>
                <a:gridCol w="1072583">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903491"/>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5205243"/>
            <a:ext cx="4397587" cy="637772"/>
          </a:xfrm>
          <a:prstGeom prst="rect">
            <a:avLst/>
          </a:prstGeom>
          <a:noFill/>
          <a:ln/>
        </p:spPr>
        <p:txBody>
          <a:bodyPr wrap="square" lIns="0" tIns="0" rIns="0" bIns="0" rtlCol="0" anchor="t">
            <a:normAutofit/>
          </a:bodyPr>
          <a:lstStyle/>
          <a:p>
            <a:pPr>
              <a:lnSpc>
                <a:spcPct val="90000"/>
              </a:lnSpc>
            </a:pPr>
            <a:r>
              <a:rPr lang="en-US" sz="1200" dirty="0"/>
              <a:t>AST keeps the spectrogram representation, but replaces a small CNN trained from scratch with a pretrained transformer backbone.</a:t>
            </a:r>
          </a:p>
        </p:txBody>
      </p:sp>
      <p:sp>
        <p:nvSpPr>
          <p:cNvPr id="541" name="Text 12">
            <a:extLst>
              <a:ext uri="{FF2B5EF4-FFF2-40B4-BE49-F238E27FC236}">
                <a16:creationId xmlns:a16="http://schemas.microsoft.com/office/drawing/2014/main" id="{E8AFA8E4-D244-0211-AE96-2D294E6D5010}"/>
              </a:ext>
            </a:extLst>
          </p:cNvPr>
          <p:cNvSpPr/>
          <p:nvPr/>
        </p:nvSpPr>
        <p:spPr>
          <a:xfrm>
            <a:off x="731520" y="1591055"/>
            <a:ext cx="4397586" cy="647753"/>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AST processes the full 5-second audio clip using a pretrained transformer backbone with self-attention, allowing direct clip-level prediction with much stronger pretrained audio representations.</a:t>
            </a:r>
            <a:endParaRPr lang="en-US" sz="1200" dirty="0"/>
          </a:p>
        </p:txBody>
      </p:sp>
      <p:pic>
        <p:nvPicPr>
          <p:cNvPr id="7" name="Picture 6">
            <a:extLst>
              <a:ext uri="{FF2B5EF4-FFF2-40B4-BE49-F238E27FC236}">
                <a16:creationId xmlns:a16="http://schemas.microsoft.com/office/drawing/2014/main" id="{04488684-34BF-618D-0EA5-FE583F03C00D}"/>
              </a:ext>
            </a:extLst>
          </p:cNvPr>
          <p:cNvPicPr>
            <a:picLocks noChangeAspect="1"/>
          </p:cNvPicPr>
          <p:nvPr/>
        </p:nvPicPr>
        <p:blipFill>
          <a:blip r:embed="rId4"/>
          <a:stretch>
            <a:fillRect/>
          </a:stretch>
        </p:blipFill>
        <p:spPr>
          <a:xfrm>
            <a:off x="5582544" y="1907591"/>
            <a:ext cx="3220254" cy="1991258"/>
          </a:xfrm>
          <a:prstGeom prst="rect">
            <a:avLst/>
          </a:prstGeom>
        </p:spPr>
      </p:pic>
      <p:pic>
        <p:nvPicPr>
          <p:cNvPr id="8" name="Picture 7">
            <a:extLst>
              <a:ext uri="{FF2B5EF4-FFF2-40B4-BE49-F238E27FC236}">
                <a16:creationId xmlns:a16="http://schemas.microsoft.com/office/drawing/2014/main" id="{E32C9350-3537-C4E1-DE57-FA4AB23EEDB5}"/>
              </a:ext>
            </a:extLst>
          </p:cNvPr>
          <p:cNvPicPr>
            <a:picLocks noChangeAspect="1"/>
          </p:cNvPicPr>
          <p:nvPr/>
        </p:nvPicPr>
        <p:blipFill>
          <a:blip r:embed="rId5"/>
          <a:stretch>
            <a:fillRect/>
          </a:stretch>
        </p:blipFill>
        <p:spPr>
          <a:xfrm>
            <a:off x="8802798" y="1908398"/>
            <a:ext cx="3218948" cy="1990451"/>
          </a:xfrm>
          <a:prstGeom prst="rect">
            <a:avLst/>
          </a:prstGeom>
        </p:spPr>
      </p:pic>
      <p:grpSp>
        <p:nvGrpSpPr>
          <p:cNvPr id="21" name="Group 20">
            <a:extLst>
              <a:ext uri="{FF2B5EF4-FFF2-40B4-BE49-F238E27FC236}">
                <a16:creationId xmlns:a16="http://schemas.microsoft.com/office/drawing/2014/main" id="{D8791D9C-EA0A-EC0A-21F1-2FF2C25F347B}"/>
              </a:ext>
            </a:extLst>
          </p:cNvPr>
          <p:cNvGrpSpPr/>
          <p:nvPr/>
        </p:nvGrpSpPr>
        <p:grpSpPr>
          <a:xfrm>
            <a:off x="6076188" y="4092809"/>
            <a:ext cx="1920240" cy="772294"/>
            <a:chOff x="6957490" y="4123666"/>
            <a:chExt cx="1920240" cy="772294"/>
          </a:xfrm>
        </p:grpSpPr>
        <p:sp>
          <p:nvSpPr>
            <p:cNvPr id="18" name="Shape 48">
              <a:extLst>
                <a:ext uri="{FF2B5EF4-FFF2-40B4-BE49-F238E27FC236}">
                  <a16:creationId xmlns:a16="http://schemas.microsoft.com/office/drawing/2014/main" id="{52425C61-0F1F-5E0F-C655-28830D97E7C6}"/>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9" name="Text 49">
              <a:extLst>
                <a:ext uri="{FF2B5EF4-FFF2-40B4-BE49-F238E27FC236}">
                  <a16:creationId xmlns:a16="http://schemas.microsoft.com/office/drawing/2014/main" id="{27AF852C-092D-AA38-20D6-C5AEFF9967BB}"/>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0" name="Text 50">
              <a:extLst>
                <a:ext uri="{FF2B5EF4-FFF2-40B4-BE49-F238E27FC236}">
                  <a16:creationId xmlns:a16="http://schemas.microsoft.com/office/drawing/2014/main" id="{A3E732F8-949B-008B-4FBE-CCD8D374B8A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18E2C7-E5C7-CD2E-AEBD-8960927E5AF3}"/>
              </a:ext>
            </a:extLst>
          </p:cNvPr>
          <p:cNvPicPr>
            <a:picLocks noChangeAspect="1"/>
          </p:cNvPicPr>
          <p:nvPr/>
        </p:nvPicPr>
        <p:blipFill>
          <a:blip r:embed="rId3"/>
          <a:stretch>
            <a:fillRect/>
          </a:stretch>
        </p:blipFill>
        <p:spPr>
          <a:xfrm>
            <a:off x="5592822" y="1885417"/>
            <a:ext cx="3216083" cy="1988679"/>
          </a:xfrm>
          <a:prstGeom prst="rect">
            <a:avLst/>
          </a:prstGeom>
        </p:spPr>
      </p:pic>
      <p:pic>
        <p:nvPicPr>
          <p:cNvPr id="6" name="Picture 5">
            <a:extLst>
              <a:ext uri="{FF2B5EF4-FFF2-40B4-BE49-F238E27FC236}">
                <a16:creationId xmlns:a16="http://schemas.microsoft.com/office/drawing/2014/main" id="{D5C5E91D-FE7B-206B-2E5B-5ED91A81AD94}"/>
              </a:ext>
            </a:extLst>
          </p:cNvPr>
          <p:cNvPicPr>
            <a:picLocks noChangeAspect="1"/>
          </p:cNvPicPr>
          <p:nvPr/>
        </p:nvPicPr>
        <p:blipFill>
          <a:blip r:embed="rId4"/>
          <a:stretch>
            <a:fillRect/>
          </a:stretch>
        </p:blipFill>
        <p:spPr>
          <a:xfrm>
            <a:off x="8808906" y="1885417"/>
            <a:ext cx="3249450" cy="1988679"/>
          </a:xfrm>
          <a:prstGeom prst="rect">
            <a:avLst/>
          </a:prstGeom>
        </p:spPr>
      </p:pic>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a:t>
            </a:r>
            <a:r>
              <a:rPr lang="en-US" sz="500" dirty="0">
                <a:solidFill>
                  <a:srgbClr val="FFFFFF"/>
                </a:solidFill>
                <a:latin typeface="Aptos" pitchFamily="34" charset="0"/>
              </a:rPr>
              <a: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606077971"/>
              </p:ext>
            </p:extLst>
          </p:nvPr>
        </p:nvGraphicFramePr>
        <p:xfrm>
          <a:off x="731519" y="2836948"/>
          <a:ext cx="4397590" cy="1872996"/>
        </p:xfrm>
        <a:graphic>
          <a:graphicData uri="http://schemas.openxmlformats.org/drawingml/2006/table">
            <a:tbl>
              <a:tblPr/>
              <a:tblGrid>
                <a:gridCol w="1072582">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586665"/>
            <a:ext cx="5623560"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BEATs architecture</a:t>
            </a:r>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4598363" cy="411480"/>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BEATs uses a large pretrained foundation audio encoder learned from massive external datasets and further shows that the real gain is pretrained audio representation learning.</a:t>
            </a:r>
            <a:endParaRPr lang="en-US" sz="120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903493"/>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20" y="5205245"/>
            <a:ext cx="4598362" cy="75071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modern performance gains come primarily from pretrained representations, not only from attention or architecture choice.</a:t>
            </a:r>
            <a:endParaRPr lang="en-US" sz="1200" dirty="0"/>
          </a:p>
        </p:txBody>
      </p:sp>
      <p:sp>
        <p:nvSpPr>
          <p:cNvPr id="23" name="Shape 498">
            <a:extLst>
              <a:ext uri="{FF2B5EF4-FFF2-40B4-BE49-F238E27FC236}">
                <a16:creationId xmlns:a16="http://schemas.microsoft.com/office/drawing/2014/main" id="{D9FC713D-E54E-5DD4-5B73-CA6AC57E7A9E}"/>
              </a:ext>
            </a:extLst>
          </p:cNvPr>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24" name="Text 499">
            <a:extLst>
              <a:ext uri="{FF2B5EF4-FFF2-40B4-BE49-F238E27FC236}">
                <a16:creationId xmlns:a16="http://schemas.microsoft.com/office/drawing/2014/main" id="{4362304F-343B-923E-3087-86ABABE95DDD}"/>
              </a:ext>
            </a:extLst>
          </p:cNvPr>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a:t>
            </a:r>
            <a:endParaRPr lang="en-US" sz="2100" dirty="0"/>
          </a:p>
        </p:txBody>
      </p:sp>
      <p:sp>
        <p:nvSpPr>
          <p:cNvPr id="25" name="Text 500">
            <a:extLst>
              <a:ext uri="{FF2B5EF4-FFF2-40B4-BE49-F238E27FC236}">
                <a16:creationId xmlns:a16="http://schemas.microsoft.com/office/drawing/2014/main" id="{ED633736-DC22-5ED4-B73D-FDA8289C8F79}"/>
              </a:ext>
            </a:extLst>
          </p:cNvPr>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grpSp>
        <p:nvGrpSpPr>
          <p:cNvPr id="26" name="Group 25">
            <a:extLst>
              <a:ext uri="{FF2B5EF4-FFF2-40B4-BE49-F238E27FC236}">
                <a16:creationId xmlns:a16="http://schemas.microsoft.com/office/drawing/2014/main" id="{B18A83C6-62D2-E441-C96A-51AEEA5D47AC}"/>
              </a:ext>
            </a:extLst>
          </p:cNvPr>
          <p:cNvGrpSpPr/>
          <p:nvPr/>
        </p:nvGrpSpPr>
        <p:grpSpPr>
          <a:xfrm>
            <a:off x="6076188" y="4092809"/>
            <a:ext cx="1920240" cy="772294"/>
            <a:chOff x="6957490" y="4123666"/>
            <a:chExt cx="1920240" cy="772294"/>
          </a:xfrm>
        </p:grpSpPr>
        <p:sp>
          <p:nvSpPr>
            <p:cNvPr id="27" name="Shape 48">
              <a:extLst>
                <a:ext uri="{FF2B5EF4-FFF2-40B4-BE49-F238E27FC236}">
                  <a16:creationId xmlns:a16="http://schemas.microsoft.com/office/drawing/2014/main" id="{2FBA8E6F-4D3F-F840-786D-0EABE6DB37C4}"/>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8" name="Text 49">
              <a:extLst>
                <a:ext uri="{FF2B5EF4-FFF2-40B4-BE49-F238E27FC236}">
                  <a16:creationId xmlns:a16="http://schemas.microsoft.com/office/drawing/2014/main" id="{A8DB9481-E320-7256-6DA0-124012C48D24}"/>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9" name="Text 50">
              <a:extLst>
                <a:ext uri="{FF2B5EF4-FFF2-40B4-BE49-F238E27FC236}">
                  <a16:creationId xmlns:a16="http://schemas.microsoft.com/office/drawing/2014/main" id="{9B484ADC-A341-3E48-D371-6B3027AD37A4}"/>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347624"/>
            <a:ext cx="4922521" cy="41148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050" b="1" dirty="0">
                <a:solidFill>
                  <a:srgbClr val="1F2528"/>
                </a:solidFill>
                <a:latin typeface="Aptos Display" pitchFamily="34" charset="0"/>
                <a:ea typeface="Aptos Display" pitchFamily="34" charset="-122"/>
                <a:cs typeface="Aptos Display" pitchFamily="34" charset="-120"/>
              </a:rPr>
              <a:t>The biggest shift was where the model learned its audio knowledge.</a:t>
            </a:r>
            <a:endParaRPr lang="en-US" sz="2050" dirty="0"/>
          </a:p>
        </p:txBody>
      </p:sp>
      <p:sp>
        <p:nvSpPr>
          <p:cNvPr id="10" name="Text 8"/>
          <p:cNvSpPr/>
          <p:nvPr/>
        </p:nvSpPr>
        <p:spPr>
          <a:xfrm>
            <a:off x="731520" y="2336071"/>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337560" y="2436655"/>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337560" y="2354359"/>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4815002" y="2336071"/>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731520" y="2965277"/>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337560" y="3065861"/>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337560" y="2983565"/>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649541" y="2965277"/>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731520" y="349390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337560" y="3594487"/>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337560" y="3512191"/>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642020" y="349390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731520" y="381394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337560" y="3914527"/>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337560" y="3832231"/>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221133" y="381394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731520" y="434998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337560" y="4450567"/>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337560" y="4368271"/>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457505" y="434998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731520" y="467002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337560" y="4770607"/>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337560" y="4688311"/>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475770" y="467002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537960" y="132588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537960" y="173736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702552" y="186537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702552" y="213055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537960" y="286207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702552" y="298624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702552" y="325526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565627" y="424814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730219" y="437615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730219" y="464133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731520" y="2656110"/>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337560" y="2756694"/>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337560" y="2674398"/>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4891949" y="2665257"/>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594512" y="3307205"/>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530912" y="4170559"/>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970</TotalTime>
  <Words>3262</Words>
  <Application>Microsoft Office PowerPoint</Application>
  <PresentationFormat>Widescreen</PresentationFormat>
  <Paragraphs>534</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-apple-system</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Jack Bush</cp:lastModifiedBy>
  <cp:revision>15</cp:revision>
  <dcterms:created xsi:type="dcterms:W3CDTF">2026-04-28T06:03:37Z</dcterms:created>
  <dcterms:modified xsi:type="dcterms:W3CDTF">2026-04-30T22:32:17Z</dcterms:modified>
</cp:coreProperties>
</file>