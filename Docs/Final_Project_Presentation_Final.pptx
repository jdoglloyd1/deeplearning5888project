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73" r:id="rId2"/>
    <p:sldId id="256" r:id="rId3"/>
    <p:sldId id="257" r:id="rId4"/>
    <p:sldId id="258" r:id="rId5"/>
    <p:sldId id="259" r:id="rId6"/>
    <p:sldId id="260" r:id="rId7"/>
    <p:sldId id="271" r:id="rId8"/>
    <p:sldId id="270" r:id="rId9"/>
    <p:sldId id="262" r:id="rId10"/>
    <p:sldId id="263" r:id="rId11"/>
    <p:sldId id="264" r:id="rId12"/>
    <p:sldId id="265" r:id="rId13"/>
    <p:sldId id="266" r:id="rId14"/>
    <p:sldId id="267"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6EF"/>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21"/>
    <p:restoredTop sz="92298"/>
  </p:normalViewPr>
  <p:slideViewPr>
    <p:cSldViewPr snapToGrid="0" snapToObjects="1">
      <p:cViewPr varScale="1">
        <p:scale>
          <a:sx n="127" d="100"/>
          <a:sy n="127" d="100"/>
        </p:scale>
        <p:origin x="2056" y="19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0609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b="0" i="0" dirty="0">
                <a:solidFill>
                  <a:srgbClr val="FFFFFF"/>
                </a:solidFill>
                <a:effectLst/>
                <a:latin typeface="-apple-system"/>
              </a:rPr>
              <a:t>we wanted to search out a means of showing how the evolution of neural network models would result in measurable accuracy increases over time. We then searched for a clean data set of a manageable size and good quality that could serve as that vehicle. </a:t>
            </a:r>
            <a:r>
              <a:rPr lang="en-US" b="0" i="0" dirty="0" err="1">
                <a:solidFill>
                  <a:srgbClr val="FFFFFF"/>
                </a:solidFill>
                <a:effectLst/>
                <a:latin typeface="-apple-system"/>
              </a:rPr>
              <a:t>Piczak's</a:t>
            </a:r>
            <a:r>
              <a:rPr lang="en-US" b="0" i="0" dirty="0">
                <a:solidFill>
                  <a:srgbClr val="FFFFFF"/>
                </a:solidFill>
                <a:effectLst/>
                <a:latin typeface="-apple-system"/>
              </a:rPr>
              <a:t> work gave us that, and with it we were able use his same data set to </a:t>
            </a:r>
            <a:r>
              <a:rPr lang="en-US" b="0" i="0" dirty="0" err="1">
                <a:solidFill>
                  <a:srgbClr val="FFFFFF"/>
                </a:solidFill>
                <a:effectLst/>
                <a:latin typeface="-apple-system"/>
              </a:rPr>
              <a:t>perfrom</a:t>
            </a:r>
            <a:r>
              <a:rPr lang="en-US" b="0" i="0" dirty="0">
                <a:solidFill>
                  <a:srgbClr val="FFFFFF"/>
                </a:solidFill>
                <a:effectLst/>
                <a:latin typeface="-apple-system"/>
              </a:rPr>
              <a:t> the same task and, walking them forward through the model eras - CNNs trained from scratch to transfer learning with pretrained CNN and finally to transfer learning with pretrained audio transformers. At each step we were able to compare against a known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FFFFF"/>
                </a:solidFill>
                <a:effectLst/>
                <a:latin typeface="-apple-system"/>
              </a:rPr>
              <a:t>Main job: tell the audience exactly what we tested and how to judge success.</a:t>
            </a:r>
            <a:br>
              <a:rPr lang="en-US" b="0" i="0" dirty="0">
                <a:solidFill>
                  <a:srgbClr val="FFFFFF"/>
                </a:solidFill>
                <a:effectLst/>
                <a:latin typeface="-apple-system"/>
              </a:rPr>
            </a:br>
            <a:br>
              <a:rPr lang="en-US" b="0" i="0" dirty="0">
                <a:solidFill>
                  <a:srgbClr val="FFFFFF"/>
                </a:solidFill>
                <a:effectLst/>
                <a:latin typeface="-apple-system"/>
              </a:rPr>
            </a:br>
            <a:r>
              <a:rPr lang="en-US" b="0" i="0" dirty="0">
                <a:solidFill>
                  <a:srgbClr val="FFFFFF"/>
                </a:solidFill>
                <a:effectLst/>
                <a:latin typeface="-apple-system"/>
              </a:rPr>
              <a:t>Narrative:</a:t>
            </a:r>
            <a:br>
              <a:rPr lang="en-US" b="0" i="0" dirty="0">
                <a:solidFill>
                  <a:srgbClr val="FFFFFF"/>
                </a:solidFill>
                <a:effectLst/>
                <a:latin typeface="-apple-system"/>
              </a:rPr>
            </a:br>
            <a:r>
              <a:rPr lang="en-US" b="0" i="0" dirty="0">
                <a:solidFill>
                  <a:srgbClr val="FFFFFF"/>
                </a:solidFill>
                <a:effectLst/>
                <a:latin typeface="-apple-system"/>
              </a:rPr>
              <a:t>Our hypothesis was that the modern neural-network techniques would out-perform the original model.  To test it, we re-created </a:t>
            </a:r>
            <a:r>
              <a:rPr lang="en-US" b="0" i="0" dirty="0" err="1">
                <a:solidFill>
                  <a:srgbClr val="FFFFFF"/>
                </a:solidFill>
                <a:effectLst/>
                <a:latin typeface="-apple-system"/>
              </a:rPr>
              <a:t>Piczak’s</a:t>
            </a:r>
            <a:r>
              <a:rPr lang="en-US" b="0" i="0" dirty="0">
                <a:solidFill>
                  <a:srgbClr val="FFFFFF"/>
                </a:solidFill>
                <a:effectLst/>
                <a:latin typeface="-apple-system"/>
              </a:rPr>
              <a:t> model to set a baseline.  We then left the problem set the same and evolved the analysis model using the final five-fold test accuracy with clip-level voting where required.  Ultimately, we used the results from the long segments with probability voting as the comparator to ensure an apples-to-apples comparison.  This was done across three different eras of neural network design – from a training-from-scratch approach, to utilizing transfer learning with a pre-trained CNN and final to transfer learning models with pre-trained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baseline:</a:t>
            </a:r>
            <a:br>
              <a:rPr lang="en-US" dirty="0"/>
            </a:br>
            <a:br>
              <a:rPr lang="en-US" dirty="0"/>
            </a:br>
            <a:r>
              <a:rPr lang="en-US" dirty="0"/>
              <a:t>Here we’ve got details about the baseline and the dataset.  We chose </a:t>
            </a:r>
            <a:r>
              <a:rPr lang="en-US" dirty="0" err="1"/>
              <a:t>Piczak’s</a:t>
            </a:r>
            <a:r>
              <a:rPr lang="en-US" dirty="0"/>
              <a:t> ESC-50 because we felt his work took a relatively unstudied segment, which was audio sound training, and that would do well to represent the growth in neural network capabilities from that point.  He also had a robust yet compact data set that was well organized – 2000 audio samples, 50 classes, 5 folds – and they were of a manageable size at 5 seconds per clip, which presented manageable data set to run our multiple different models against.</a:t>
            </a:r>
            <a:br>
              <a:rPr lang="en-US" dirty="0"/>
            </a:br>
            <a:br>
              <a:rPr lang="en-US" dirty="0"/>
            </a:br>
            <a:r>
              <a:rPr lang="en-US" dirty="0"/>
              <a:t>Looking specifically at what he did with it, </a:t>
            </a:r>
            <a:r>
              <a:rPr lang="en-US" dirty="0" err="1"/>
              <a:t>Piczak</a:t>
            </a:r>
            <a:r>
              <a:rPr lang="en-US" dirty="0"/>
              <a:t> converted audio clips into log-</a:t>
            </a:r>
            <a:r>
              <a:rPr lang="en-US" dirty="0" err="1"/>
              <a:t>mel</a:t>
            </a:r>
            <a:r>
              <a:rPr lang="en-US" dirty="0"/>
              <a:t> spectrogram segments, classified each segment, and then used clip-level voting to produce one prediction per audio clip. That gave us the fixed baseline we needed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None/>
            </a:pPr>
            <a:r>
              <a:rPr lang="en-US" sz="1800" b="0" i="0" u="none" strike="noStrike" dirty="0">
                <a:solidFill>
                  <a:srgbClr val="000000"/>
                </a:solidFill>
                <a:effectLst/>
                <a:latin typeface="Arial" panose="020B0604020202020204" pitchFamily="34" charset="0"/>
              </a:rPr>
              <a:t>In this block we are looking at neural network models that rely solely on the data set for training. That means it has to first learn the features of the audio clips themselves, the acoustic patterns in the </a:t>
            </a:r>
            <a:r>
              <a:rPr lang="en-US" sz="1800" b="0" i="0" u="none" strike="noStrike" dirty="0" err="1">
                <a:solidFill>
                  <a:srgbClr val="000000"/>
                </a:solidFill>
                <a:effectLst/>
                <a:latin typeface="Arial" panose="020B0604020202020204" pitchFamily="34" charset="0"/>
              </a:rPr>
              <a:t>spectogram</a:t>
            </a:r>
            <a:r>
              <a:rPr lang="en-US" sz="1800" b="0" i="0" u="none" strike="noStrike" dirty="0">
                <a:solidFill>
                  <a:srgbClr val="000000"/>
                </a:solidFill>
                <a:effectLst/>
                <a:latin typeface="Arial" panose="020B0604020202020204" pitchFamily="34" charset="0"/>
              </a:rPr>
              <a:t> that would help distinguish classes - short bursts of sound like a dog bark, repetitive textures like a bird chirp, or changes over time.  Then it has to learn the classifier, meaning mapping those patterns to the labels from ESC-50.</a:t>
            </a:r>
            <a:endParaRPr lang="en-US" dirty="0">
              <a:effectLst/>
            </a:endParaRPr>
          </a:p>
          <a:p>
            <a:pPr rtl="0"/>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Here we look at first recreating </a:t>
            </a:r>
            <a:r>
              <a:rPr lang="en-US" sz="1800" b="0" i="0" u="none" strike="noStrike" dirty="0" err="1">
                <a:solidFill>
                  <a:srgbClr val="000000"/>
                </a:solidFill>
                <a:effectLst/>
                <a:latin typeface="Arial" panose="020B0604020202020204" pitchFamily="34" charset="0"/>
              </a:rPr>
              <a:t>Piczak’s</a:t>
            </a:r>
            <a:r>
              <a:rPr lang="en-US" sz="1800" b="0" i="0" u="none" strike="noStrike" dirty="0">
                <a:solidFill>
                  <a:srgbClr val="000000"/>
                </a:solidFill>
                <a:effectLst/>
                <a:latin typeface="Arial" panose="020B0604020202020204" pitchFamily="34" charset="0"/>
              </a:rPr>
              <a:t> model to build our baseline, then we run a series of CNN variations before introducing an LSTM extension.</a:t>
            </a:r>
            <a:endParaRPr lang="en-US" dirty="0">
              <a:effectLst/>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FFFFF"/>
                </a:solidFill>
                <a:effectLst/>
                <a:latin typeface="-apple-system"/>
              </a:rPr>
              <a:t>Here is where we established the baseline from which subsequent models would be evaluated. We needed to re-create it to ensure we had a solid understanding of how it was created as well as to use that as the springboard for other models. What you'll see in the baseline model accuracy curves is the various runs that were performed, again, recreating the original model. However, it was ultimately the Long-Segment, clip level run that was highlighted by </a:t>
            </a:r>
            <a:r>
              <a:rPr lang="en-US" b="0" i="0" dirty="0" err="1">
                <a:solidFill>
                  <a:srgbClr val="FFFFFF"/>
                </a:solidFill>
                <a:effectLst/>
                <a:latin typeface="-apple-system"/>
              </a:rPr>
              <a:t>Piczak</a:t>
            </a:r>
            <a:r>
              <a:rPr lang="en-US" b="0" i="0" dirty="0">
                <a:solidFill>
                  <a:srgbClr val="FFFFFF"/>
                </a:solidFill>
                <a:effectLst/>
                <a:latin typeface="-apple-system"/>
              </a:rPr>
              <a:t> and will serve as the basis of comparison </a:t>
            </a:r>
            <a:r>
              <a:rPr lang="en-US" b="0" i="0" dirty="0" err="1">
                <a:solidFill>
                  <a:srgbClr val="FFFFFF"/>
                </a:solidFill>
                <a:effectLst/>
                <a:latin typeface="-apple-system"/>
              </a:rPr>
              <a:t>goign</a:t>
            </a:r>
            <a:r>
              <a:rPr lang="en-US" b="0" i="0" dirty="0">
                <a:solidFill>
                  <a:srgbClr val="FFFFFF"/>
                </a:solidFill>
                <a:effectLst/>
                <a:latin typeface="-apple-system"/>
              </a:rPr>
              <a:t> forward. We underran slightly at 63.5%, but felt that was close enough to treat as a credible baseline and accurate enough replication of 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ED68F-8770-949D-BB11-2977FD9D1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1A2FD-DE87-2588-B0B5-E5575DF0A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A39B4-A4E7-4CE6-F253-0914F6635E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850BC2-DB33-4877-C5CC-25A7364EE2B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136316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200"/>
              </a:spcBef>
              <a:spcAft>
                <a:spcPts val="1200"/>
              </a:spcAft>
              <a:buNone/>
            </a:pPr>
            <a:r>
              <a:rPr lang="en-US" sz="1800" b="0" i="0" u="none" strike="noStrike" dirty="0">
                <a:solidFill>
                  <a:srgbClr val="000000"/>
                </a:solidFill>
                <a:effectLst/>
                <a:latin typeface="Arial" panose="020B0604020202020204" pitchFamily="34" charset="0"/>
              </a:rPr>
              <a:t>Our results did not show the smooth chronological improvement we initially expected. Instead, the central lesson was that model fit mattered more than model age</a:t>
            </a:r>
            <a:endParaRPr lang="en-US" dirty="0">
              <a:effectLst/>
            </a:endParaRPr>
          </a:p>
          <a:p>
            <a:pPr rtl="0">
              <a:spcBef>
                <a:spcPts val="1200"/>
              </a:spcBef>
              <a:spcAft>
                <a:spcPts val="1200"/>
              </a:spcAft>
              <a:buNone/>
            </a:pPr>
            <a:r>
              <a:rPr lang="en-US" sz="1800" b="0" i="0" u="none" strike="noStrike" dirty="0">
                <a:solidFill>
                  <a:srgbClr val="000000"/>
                </a:solidFill>
                <a:effectLst/>
                <a:latin typeface="Arial" panose="020B0604020202020204" pitchFamily="34" charset="0"/>
              </a:rPr>
              <a:t>CNNs were a strong baseline because spectrogram audio naturally aligns with convolutional feature learning.</a:t>
            </a:r>
            <a:endParaRPr lang="en-US" dirty="0">
              <a:effectLst/>
            </a:endParaRPr>
          </a:p>
          <a:p>
            <a:pPr rtl="0">
              <a:spcBef>
                <a:spcPts val="1200"/>
              </a:spcBef>
              <a:spcAft>
                <a:spcPts val="1200"/>
              </a:spcAft>
              <a:buNone/>
            </a:pPr>
            <a:r>
              <a:rPr lang="en-US" sz="1800" b="0" i="0" u="none" strike="noStrike" dirty="0">
                <a:solidFill>
                  <a:srgbClr val="000000"/>
                </a:solidFill>
                <a:effectLst/>
                <a:latin typeface="Arial" panose="020B0604020202020204" pitchFamily="34" charset="0"/>
              </a:rPr>
              <a:t>Hyperparameter tuning and added architecture complexity helped only a small amount when the model still had to learn from ESC-50 alone, the results aligning to the importance of model selection when also looking at the impacts of the LSTM.</a:t>
            </a:r>
            <a:endParaRPr lang="en-US" dirty="0">
              <a:effectLst/>
            </a:endParaRPr>
          </a:p>
          <a:p>
            <a:pPr rtl="0">
              <a:spcBef>
                <a:spcPts val="1200"/>
              </a:spcBef>
              <a:spcAft>
                <a:spcPts val="1200"/>
              </a:spcAft>
              <a:buNone/>
            </a:pPr>
            <a:r>
              <a:rPr lang="en-US" sz="1800" b="0" i="0" u="none" strike="noStrike" dirty="0">
                <a:solidFill>
                  <a:srgbClr val="000000"/>
                </a:solidFill>
                <a:effectLst/>
                <a:latin typeface="Arial" panose="020B0604020202020204" pitchFamily="34" charset="0"/>
              </a:rPr>
              <a:t>The major gains appeared when the model brought in prior audio knowledge from large-scale pretraining.</a:t>
            </a:r>
            <a:endParaRPr lang="en-US" dirty="0">
              <a:effectLst/>
            </a:endParaRPr>
          </a:p>
          <a:p>
            <a:pPr rtl="0">
              <a:spcBef>
                <a:spcPts val="1200"/>
              </a:spcBef>
              <a:spcAft>
                <a:spcPts val="1200"/>
              </a:spcAft>
              <a:buNone/>
            </a:pPr>
            <a:br>
              <a:rPr lang="en-US" dirty="0"/>
            </a:br>
            <a:r>
              <a:rPr lang="en-US" sz="1800" b="0" i="0" u="none" strike="noStrike" dirty="0">
                <a:solidFill>
                  <a:srgbClr val="000000"/>
                </a:solidFill>
                <a:effectLst/>
                <a:latin typeface="Arial" panose="020B0604020202020204" pitchFamily="34" charset="0"/>
              </a:rPr>
              <a:t>What went well was the dataset choice: ESC-50 gave us a compact, clean, repeatable benchmark.</a:t>
            </a:r>
            <a:endParaRPr lang="en-US" dirty="0">
              <a:effectLst/>
            </a:endParaRPr>
          </a:p>
          <a:p>
            <a:pPr rtl="0">
              <a:spcBef>
                <a:spcPts val="1200"/>
              </a:spcBef>
              <a:spcAft>
                <a:spcPts val="1200"/>
              </a:spcAft>
              <a:buNone/>
            </a:pPr>
            <a:r>
              <a:rPr lang="en-US" sz="1800" b="0" i="0" u="none" strike="noStrike" dirty="0">
                <a:solidFill>
                  <a:srgbClr val="000000"/>
                </a:solidFill>
                <a:effectLst/>
                <a:latin typeface="Arial" panose="020B0604020202020204" pitchFamily="34" charset="0"/>
              </a:rPr>
              <a:t>What did not go well was reproducibility and comparison discipline. A 2015 baseline was harder to recreate than expected, and small choices like voting, folds, and final-versus-best accuracy changed the story.</a:t>
            </a:r>
            <a:endParaRPr lang="en-US" dirty="0">
              <a:effectLst/>
            </a:endParaRPr>
          </a:p>
          <a:p>
            <a:pPr rtl="0">
              <a:spcBef>
                <a:spcPts val="1200"/>
              </a:spcBef>
              <a:spcAft>
                <a:spcPts val="1200"/>
              </a:spcAft>
            </a:pPr>
            <a:r>
              <a:rPr lang="en-US" sz="1800" b="0" i="0" u="none" strike="noStrike" dirty="0">
                <a:solidFill>
                  <a:srgbClr val="000000"/>
                </a:solidFill>
                <a:effectLst/>
                <a:latin typeface="Arial" panose="020B0604020202020204" pitchFamily="34" charset="0"/>
              </a:rPr>
              <a:t>If we repeated this project, we would lock the evaluation protocol earlier, run fewer variants more deeply, include a classical non-neural baseline, and add runtime or cost as a second performance dimension.</a:t>
            </a:r>
            <a:endParaRPr lang="en-US" dirty="0">
              <a:effectLst/>
            </a:endParaRP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academicjobsonline.org/ajo/Cornell/Systems%20Engineerin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Users/andrew/Desktop/CU/CornellUniversity.jpg"/>
          <p:cNvPicPr>
            <a:picLocks noChangeAspect="1"/>
          </p:cNvPicPr>
          <p:nvPr/>
        </p:nvPicPr>
        <p:blipFill>
          <a:blip r:embed="rId3">
            <a:alphaModFix amt="62000"/>
          </a:blip>
          <a:srcRect/>
          <a:stretch/>
        </p:blipFill>
        <p:spPr>
          <a:xfrm>
            <a:off x="0" y="0"/>
            <a:ext cx="12191695" cy="6858000"/>
          </a:xfrm>
          <a:prstGeom prst="rect">
            <a:avLst/>
          </a:prstGeom>
        </p:spPr>
      </p:pic>
      <p:sp>
        <p:nvSpPr>
          <p:cNvPr id="3" name="Shape 0"/>
          <p:cNvSpPr/>
          <p:nvPr/>
        </p:nvSpPr>
        <p:spPr>
          <a:xfrm>
            <a:off x="305" y="0"/>
            <a:ext cx="12191695" cy="6858000"/>
          </a:xfrm>
          <a:prstGeom prst="rect">
            <a:avLst/>
          </a:prstGeom>
          <a:solidFill>
            <a:srgbClr val="F2F0EA">
              <a:alpha val="82000"/>
            </a:srgbClr>
          </a:solidFill>
          <a:ln w="12700">
            <a:solidFill>
              <a:srgbClr val="F2F0EA">
                <a:alpha val="0"/>
              </a:srgbClr>
            </a:solidFill>
            <a:prstDash val="solid"/>
          </a:ln>
        </p:spPr>
        <p:txBody>
          <a:bodyPr/>
          <a:lstStyle/>
          <a:p>
            <a:endParaRPr lang="en-US" dirty="0">
              <a:hlinkClick r:id="rId4"/>
            </a:endParaRPr>
          </a:p>
          <a:p>
            <a:endParaRPr lang="en-US" dirty="0"/>
          </a:p>
        </p:txBody>
      </p:sp>
      <p:sp>
        <p:nvSpPr>
          <p:cNvPr id="5" name="Text 2"/>
          <p:cNvSpPr/>
          <p:nvPr/>
        </p:nvSpPr>
        <p:spPr>
          <a:xfrm>
            <a:off x="1078991" y="2157984"/>
            <a:ext cx="10416317" cy="1325880"/>
          </a:xfrm>
          <a:prstGeom prst="rect">
            <a:avLst/>
          </a:prstGeom>
          <a:noFill/>
          <a:ln/>
        </p:spPr>
        <p:txBody>
          <a:bodyPr wrap="square" lIns="0" tIns="0" rIns="0" bIns="0" rtlCol="0" anchor="t">
            <a:normAutofit/>
          </a:bodyPr>
          <a:lstStyle/>
          <a:p>
            <a:pPr marL="0" indent="0" algn="l">
              <a:lnSpc>
                <a:spcPct val="88000"/>
              </a:lnSpc>
              <a:buNone/>
            </a:pPr>
            <a:r>
              <a:rPr lang="en-US" sz="4000" b="1" dirty="0">
                <a:solidFill>
                  <a:schemeClr val="tx1">
                    <a:lumMod val="75000"/>
                    <a:lumOff val="25000"/>
                  </a:schemeClr>
                </a:solidFill>
                <a:latin typeface="Aptos Display" pitchFamily="34" charset="0"/>
                <a:ea typeface="Aptos Display" pitchFamily="34" charset="-122"/>
                <a:cs typeface="Aptos Display" pitchFamily="34" charset="-120"/>
              </a:rPr>
              <a:t>SYSEN 5888</a:t>
            </a:r>
          </a:p>
          <a:p>
            <a:pPr marL="0" indent="0" algn="l">
              <a:lnSpc>
                <a:spcPct val="88000"/>
              </a:lnSpc>
              <a:buNone/>
            </a:pPr>
            <a:r>
              <a:rPr lang="en-US" sz="4800" b="1" dirty="0">
                <a:solidFill>
                  <a:srgbClr val="B31B1B"/>
                </a:solidFill>
                <a:latin typeface="Aptos Display" pitchFamily="34" charset="0"/>
                <a:ea typeface="Aptos Display" pitchFamily="34" charset="-122"/>
                <a:cs typeface="Aptos Display" pitchFamily="34" charset="-120"/>
              </a:rPr>
              <a:t>Measuring AI Acceleration Over Time</a:t>
            </a:r>
            <a:endParaRPr lang="en-US" sz="4800" dirty="0"/>
          </a:p>
        </p:txBody>
      </p:sp>
      <p:sp>
        <p:nvSpPr>
          <p:cNvPr id="6" name="Text 3"/>
          <p:cNvSpPr/>
          <p:nvPr/>
        </p:nvSpPr>
        <p:spPr>
          <a:xfrm>
            <a:off x="1078991" y="3594492"/>
            <a:ext cx="7909560" cy="1325879"/>
          </a:xfrm>
          <a:prstGeom prst="rect">
            <a:avLst/>
          </a:prstGeom>
          <a:noFill/>
          <a:ln/>
        </p:spPr>
        <p:txBody>
          <a:bodyPr wrap="square" lIns="0" tIns="0" rIns="0" bIns="0" rtlCol="0" anchor="t">
            <a:normAutofit/>
          </a:bodyPr>
          <a:lstStyle/>
          <a:p>
            <a:pPr marL="0" indent="0" algn="l">
              <a:lnSpc>
                <a:spcPct val="88000"/>
              </a:lnSpc>
              <a:buNone/>
            </a:pPr>
            <a:r>
              <a:rPr lang="en-US" dirty="0">
                <a:solidFill>
                  <a:schemeClr val="tx1">
                    <a:lumMod val="75000"/>
                    <a:lumOff val="25000"/>
                  </a:schemeClr>
                </a:solidFill>
                <a:latin typeface="Aptos" pitchFamily="34" charset="0"/>
                <a:ea typeface="Aptos" pitchFamily="34" charset="-122"/>
                <a:cs typeface="Aptos" pitchFamily="34" charset="-120"/>
              </a:rPr>
              <a:t>Amine Amirouche (BAA93)</a:t>
            </a:r>
          </a:p>
          <a:p>
            <a:pPr marL="0" indent="0" algn="l">
              <a:lnSpc>
                <a:spcPct val="88000"/>
              </a:lnSpc>
              <a:buNone/>
            </a:pPr>
            <a:r>
              <a:rPr lang="en-US" dirty="0">
                <a:solidFill>
                  <a:schemeClr val="tx1">
                    <a:lumMod val="75000"/>
                    <a:lumOff val="25000"/>
                  </a:schemeClr>
                </a:solidFill>
                <a:latin typeface="Aptos" pitchFamily="34" charset="0"/>
                <a:ea typeface="Aptos" pitchFamily="34" charset="-122"/>
                <a:cs typeface="Aptos" pitchFamily="34" charset="-120"/>
              </a:rPr>
              <a:t>Andrew Littlefield (DAL352)</a:t>
            </a:r>
          </a:p>
          <a:p>
            <a:pPr marL="0" indent="0" algn="l">
              <a:lnSpc>
                <a:spcPct val="88000"/>
              </a:lnSpc>
              <a:buNone/>
            </a:pPr>
            <a:r>
              <a:rPr lang="en-US" dirty="0">
                <a:solidFill>
                  <a:schemeClr val="tx1">
                    <a:lumMod val="75000"/>
                    <a:lumOff val="25000"/>
                  </a:schemeClr>
                </a:solidFill>
                <a:latin typeface="Aptos" pitchFamily="34" charset="0"/>
                <a:ea typeface="Aptos" pitchFamily="34" charset="-122"/>
                <a:cs typeface="Aptos" pitchFamily="34" charset="-120"/>
              </a:rPr>
              <a:t>Angela Li (YL3937)</a:t>
            </a:r>
          </a:p>
          <a:p>
            <a:pPr marL="0" indent="0" algn="l">
              <a:lnSpc>
                <a:spcPct val="88000"/>
              </a:lnSpc>
              <a:buNone/>
            </a:pPr>
            <a:r>
              <a:rPr lang="en-US" dirty="0">
                <a:solidFill>
                  <a:schemeClr val="tx1">
                    <a:lumMod val="75000"/>
                    <a:lumOff val="25000"/>
                  </a:schemeClr>
                </a:solidFill>
                <a:latin typeface="Aptos" pitchFamily="34" charset="0"/>
                <a:ea typeface="Aptos" pitchFamily="34" charset="-122"/>
                <a:cs typeface="Aptos" pitchFamily="34" charset="-120"/>
              </a:rPr>
              <a:t>Jack Bush (JLB662)</a:t>
            </a:r>
          </a:p>
          <a:p>
            <a:pPr marL="0" indent="0" algn="l">
              <a:lnSpc>
                <a:spcPct val="88000"/>
              </a:lnSpc>
              <a:buNone/>
            </a:pPr>
            <a:r>
              <a:rPr lang="en-US" dirty="0">
                <a:solidFill>
                  <a:schemeClr val="tx1">
                    <a:lumMod val="75000"/>
                    <a:lumOff val="25000"/>
                  </a:schemeClr>
                </a:solidFill>
                <a:latin typeface="Aptos" pitchFamily="34" charset="0"/>
              </a:rPr>
              <a:t>Jonathan Lloyd (JSL384)</a:t>
            </a:r>
            <a:endParaRPr lang="en-US" dirty="0">
              <a:solidFill>
                <a:schemeClr val="tx1">
                  <a:lumMod val="75000"/>
                  <a:lumOff val="25000"/>
                </a:schemeClr>
              </a:solidFill>
            </a:endParaRPr>
          </a:p>
        </p:txBody>
      </p:sp>
      <p:sp>
        <p:nvSpPr>
          <p:cNvPr id="7" name="Text 4"/>
          <p:cNvSpPr/>
          <p:nvPr/>
        </p:nvSpPr>
        <p:spPr>
          <a:xfrm>
            <a:off x="1078991" y="4990354"/>
            <a:ext cx="7315200" cy="274320"/>
          </a:xfrm>
          <a:prstGeom prst="rect">
            <a:avLst/>
          </a:prstGeom>
          <a:noFill/>
          <a:ln/>
        </p:spPr>
        <p:txBody>
          <a:bodyPr wrap="square" lIns="0" tIns="0" rIns="0" bIns="0" rtlCol="0" anchor="t">
            <a:normAutofit/>
          </a:bodyPr>
          <a:lstStyle/>
          <a:p>
            <a:pPr marL="0" indent="0" algn="l">
              <a:lnSpc>
                <a:spcPct val="88000"/>
              </a:lnSpc>
              <a:buNone/>
            </a:pPr>
            <a:r>
              <a:rPr lang="en-US" b="1" dirty="0">
                <a:solidFill>
                  <a:schemeClr val="tx1">
                    <a:lumMod val="75000"/>
                    <a:lumOff val="25000"/>
                  </a:schemeClr>
                </a:solidFill>
                <a:latin typeface="Aptos" pitchFamily="34" charset="0"/>
                <a:ea typeface="Aptos" pitchFamily="34" charset="-122"/>
                <a:cs typeface="Aptos" pitchFamily="34" charset="-120"/>
              </a:rPr>
              <a:t>4 May 2026</a:t>
            </a:r>
            <a:endParaRPr lang="en-US" b="1" dirty="0">
              <a:solidFill>
                <a:schemeClr val="tx1">
                  <a:lumMod val="75000"/>
                  <a:lumOff val="25000"/>
                </a:schemeClr>
              </a:solidFill>
            </a:endParaRPr>
          </a:p>
        </p:txBody>
      </p:sp>
      <p:pic>
        <p:nvPicPr>
          <p:cNvPr id="1028" name="Picture 4">
            <a:extLst>
              <a:ext uri="{FF2B5EF4-FFF2-40B4-BE49-F238E27FC236}">
                <a16:creationId xmlns:a16="http://schemas.microsoft.com/office/drawing/2014/main" id="{B9554E79-58B1-EE7B-4384-C821622D3B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29700" y="157514"/>
            <a:ext cx="3896972" cy="91765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red circle with a shield and text&#10;&#10;AI-generated content may be incorrect.">
            <a:extLst>
              <a:ext uri="{FF2B5EF4-FFF2-40B4-BE49-F238E27FC236}">
                <a16:creationId xmlns:a16="http://schemas.microsoft.com/office/drawing/2014/main" id="{64FD0950-08F2-4703-2551-0499DAB85518}"/>
              </a:ext>
            </a:extLst>
          </p:cNvPr>
          <p:cNvPicPr>
            <a:picLocks noChangeAspect="1"/>
          </p:cNvPicPr>
          <p:nvPr/>
        </p:nvPicPr>
        <p:blipFill>
          <a:blip r:embed="rId6"/>
          <a:srcRect l="30015" t="10691" r="28666" b="10859"/>
          <a:stretch/>
        </p:blipFill>
        <p:spPr>
          <a:xfrm>
            <a:off x="6827711" y="118200"/>
            <a:ext cx="1000539" cy="996282"/>
          </a:xfrm>
          <a:prstGeom prst="rect">
            <a:avLst/>
          </a:prstGeom>
        </p:spPr>
      </p:pic>
      <p:cxnSp>
        <p:nvCxnSpPr>
          <p:cNvPr id="12" name="Straight Connector 11">
            <a:extLst>
              <a:ext uri="{FF2B5EF4-FFF2-40B4-BE49-F238E27FC236}">
                <a16:creationId xmlns:a16="http://schemas.microsoft.com/office/drawing/2014/main" id="{9E34265B-5AC7-AD92-C855-B1C880CBF117}"/>
              </a:ext>
            </a:extLst>
          </p:cNvPr>
          <p:cNvCxnSpPr/>
          <p:nvPr/>
        </p:nvCxnSpPr>
        <p:spPr>
          <a:xfrm>
            <a:off x="7964677" y="157514"/>
            <a:ext cx="0" cy="91765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SYSEN 5888 FINAL PROJECT</a:t>
            </a:r>
            <a:endParaRPr lang="en-US" sz="880" dirty="0"/>
          </a:p>
        </p:txBody>
      </p:sp>
      <p:sp>
        <p:nvSpPr>
          <p:cNvPr id="3" name="Text 1"/>
          <p:cNvSpPr/>
          <p:nvPr/>
        </p:nvSpPr>
        <p:spPr>
          <a:xfrm>
            <a:off x="566928" y="512064"/>
            <a:ext cx="10497312"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Measuring the AI acceleration: Measurable impact of improvements</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5" name="Text 3"/>
          <p:cNvSpPr/>
          <p:nvPr/>
        </p:nvSpPr>
        <p:spPr>
          <a:xfrm>
            <a:off x="676656" y="1417320"/>
            <a:ext cx="5394960" cy="749808"/>
          </a:xfrm>
          <a:prstGeom prst="rect">
            <a:avLst/>
          </a:prstGeom>
          <a:noFill/>
          <a:ln/>
        </p:spPr>
        <p:txBody>
          <a:bodyPr wrap="square" lIns="0" tIns="0" rIns="0" bIns="0" rtlCol="0" anchor="t">
            <a:normAutofit fontScale="92500"/>
          </a:bodyPr>
          <a:lstStyle/>
          <a:p>
            <a:pPr marL="0" indent="0" algn="l">
              <a:lnSpc>
                <a:spcPct val="90000"/>
              </a:lnSpc>
              <a:buNone/>
            </a:pPr>
            <a:r>
              <a:rPr lang="en-US" sz="2200" b="1" dirty="0">
                <a:solidFill>
                  <a:srgbClr val="1F2528"/>
                </a:solidFill>
                <a:latin typeface="Aptos Display" pitchFamily="34" charset="0"/>
                <a:ea typeface="Aptos Display" pitchFamily="34" charset="-122"/>
                <a:cs typeface="Aptos Display" pitchFamily="34" charset="-120"/>
              </a:rPr>
              <a:t>Neural networks span decades. The last decade made their progress visible enough to test.</a:t>
            </a:r>
            <a:endParaRPr lang="en-US" sz="2200" dirty="0"/>
          </a:p>
        </p:txBody>
      </p:sp>
      <p:sp>
        <p:nvSpPr>
          <p:cNvPr id="6" name="Shape 4"/>
          <p:cNvSpPr/>
          <p:nvPr/>
        </p:nvSpPr>
        <p:spPr>
          <a:xfrm>
            <a:off x="291402" y="3657600"/>
            <a:ext cx="11571083" cy="0"/>
          </a:xfrm>
          <a:prstGeom prst="line">
            <a:avLst/>
          </a:prstGeom>
          <a:noFill/>
          <a:ln w="13970">
            <a:solidFill>
              <a:srgbClr val="30383D"/>
            </a:solidFill>
            <a:prstDash val="solid"/>
          </a:ln>
        </p:spPr>
        <p:txBody>
          <a:bodyPr/>
          <a:lstStyle/>
          <a:p>
            <a:endParaRPr lang="en-US"/>
          </a:p>
        </p:txBody>
      </p:sp>
      <p:sp>
        <p:nvSpPr>
          <p:cNvPr id="7" name="Shape 5"/>
          <p:cNvSpPr/>
          <p:nvPr/>
        </p:nvSpPr>
        <p:spPr>
          <a:xfrm>
            <a:off x="740664" y="3575304"/>
            <a:ext cx="164592" cy="164592"/>
          </a:xfrm>
          <a:prstGeom prst="ellipse">
            <a:avLst/>
          </a:prstGeom>
          <a:solidFill>
            <a:srgbClr val="F7F5EF"/>
          </a:solidFill>
          <a:ln w="11430">
            <a:solidFill>
              <a:srgbClr val="30383D"/>
            </a:solidFill>
            <a:prstDash val="solid"/>
          </a:ln>
        </p:spPr>
        <p:txBody>
          <a:bodyPr/>
          <a:lstStyle/>
          <a:p>
            <a:endParaRPr lang="en-US"/>
          </a:p>
        </p:txBody>
      </p:sp>
      <p:sp>
        <p:nvSpPr>
          <p:cNvPr id="8" name="Text 6"/>
          <p:cNvSpPr/>
          <p:nvPr/>
        </p:nvSpPr>
        <p:spPr>
          <a:xfrm>
            <a:off x="411480" y="3154680"/>
            <a:ext cx="822960" cy="164592"/>
          </a:xfrm>
          <a:prstGeom prst="rect">
            <a:avLst/>
          </a:prstGeom>
          <a:noFill/>
          <a:ln/>
        </p:spPr>
        <p:txBody>
          <a:bodyPr wrap="square" lIns="0" tIns="0" rIns="0" bIns="0" rtlCol="0" anchor="t">
            <a:normAutofit/>
          </a:bodyPr>
          <a:lstStyle/>
          <a:p>
            <a:pPr marL="0" indent="0" algn="ctr">
              <a:lnSpc>
                <a:spcPct val="90000"/>
              </a:lnSpc>
              <a:buNone/>
            </a:pPr>
            <a:r>
              <a:rPr lang="en-US" sz="880" b="1" dirty="0">
                <a:solidFill>
                  <a:srgbClr val="1F2528"/>
                </a:solidFill>
                <a:latin typeface="Aptos" pitchFamily="34" charset="0"/>
                <a:ea typeface="Aptos" pitchFamily="34" charset="-122"/>
                <a:cs typeface="Aptos" pitchFamily="34" charset="-120"/>
              </a:rPr>
              <a:t>1980s-90s</a:t>
            </a:r>
            <a:endParaRPr lang="en-US" sz="880" dirty="0"/>
          </a:p>
        </p:txBody>
      </p:sp>
      <p:sp>
        <p:nvSpPr>
          <p:cNvPr id="9" name="Text 7"/>
          <p:cNvSpPr/>
          <p:nvPr/>
        </p:nvSpPr>
        <p:spPr>
          <a:xfrm>
            <a:off x="219456" y="3913632"/>
            <a:ext cx="1207008" cy="438912"/>
          </a:xfrm>
          <a:prstGeom prst="rect">
            <a:avLst/>
          </a:prstGeom>
          <a:noFill/>
          <a:ln/>
        </p:spPr>
        <p:txBody>
          <a:bodyPr wrap="square" lIns="0" tIns="0" rIns="0" bIns="0" rtlCol="0" anchor="t">
            <a:normAutofit/>
          </a:bodyPr>
          <a:lstStyle/>
          <a:p>
            <a:pPr marL="0" indent="0" algn="ctr">
              <a:lnSpc>
                <a:spcPct val="85000"/>
              </a:lnSpc>
              <a:buNone/>
            </a:pPr>
            <a:r>
              <a:rPr lang="en-US" sz="800" dirty="0">
                <a:solidFill>
                  <a:srgbClr val="6B7176"/>
                </a:solidFill>
                <a:latin typeface="Aptos" pitchFamily="34" charset="0"/>
                <a:ea typeface="Aptos" pitchFamily="34" charset="-122"/>
                <a:cs typeface="Aptos" pitchFamily="34" charset="-120"/>
              </a:rPr>
              <a:t>Backprop and early neural nets</a:t>
            </a:r>
            <a:endParaRPr lang="en-US" sz="800" dirty="0"/>
          </a:p>
        </p:txBody>
      </p:sp>
      <p:sp>
        <p:nvSpPr>
          <p:cNvPr id="10" name="Shape 8"/>
          <p:cNvSpPr/>
          <p:nvPr/>
        </p:nvSpPr>
        <p:spPr>
          <a:xfrm>
            <a:off x="2788920" y="3575304"/>
            <a:ext cx="164592" cy="164592"/>
          </a:xfrm>
          <a:prstGeom prst="ellipse">
            <a:avLst/>
          </a:prstGeom>
          <a:solidFill>
            <a:srgbClr val="F7F5EF"/>
          </a:solidFill>
          <a:ln w="11430">
            <a:solidFill>
              <a:srgbClr val="30383D"/>
            </a:solidFill>
            <a:prstDash val="solid"/>
          </a:ln>
        </p:spPr>
        <p:txBody>
          <a:bodyPr/>
          <a:lstStyle/>
          <a:p>
            <a:endParaRPr lang="en-US"/>
          </a:p>
        </p:txBody>
      </p:sp>
      <p:sp>
        <p:nvSpPr>
          <p:cNvPr id="11" name="Text 9"/>
          <p:cNvSpPr/>
          <p:nvPr/>
        </p:nvSpPr>
        <p:spPr>
          <a:xfrm>
            <a:off x="2459736" y="3154680"/>
            <a:ext cx="822960" cy="164592"/>
          </a:xfrm>
          <a:prstGeom prst="rect">
            <a:avLst/>
          </a:prstGeom>
          <a:noFill/>
          <a:ln/>
        </p:spPr>
        <p:txBody>
          <a:bodyPr wrap="square" lIns="0" tIns="0" rIns="0" bIns="0" rtlCol="0" anchor="t">
            <a:normAutofit/>
          </a:bodyPr>
          <a:lstStyle/>
          <a:p>
            <a:pPr marL="0" indent="0" algn="ctr">
              <a:lnSpc>
                <a:spcPct val="90000"/>
              </a:lnSpc>
              <a:buNone/>
            </a:pPr>
            <a:r>
              <a:rPr lang="en-US" sz="880" b="1" dirty="0">
                <a:solidFill>
                  <a:srgbClr val="1F2528"/>
                </a:solidFill>
                <a:latin typeface="Aptos" pitchFamily="34" charset="0"/>
                <a:ea typeface="Aptos" pitchFamily="34" charset="-122"/>
                <a:cs typeface="Aptos" pitchFamily="34" charset="-120"/>
              </a:rPr>
              <a:t>2006</a:t>
            </a:r>
            <a:endParaRPr lang="en-US" sz="880" dirty="0"/>
          </a:p>
        </p:txBody>
      </p:sp>
      <p:sp>
        <p:nvSpPr>
          <p:cNvPr id="12" name="Text 10"/>
          <p:cNvSpPr/>
          <p:nvPr/>
        </p:nvSpPr>
        <p:spPr>
          <a:xfrm>
            <a:off x="2267712" y="3913632"/>
            <a:ext cx="1207008" cy="438912"/>
          </a:xfrm>
          <a:prstGeom prst="rect">
            <a:avLst/>
          </a:prstGeom>
          <a:noFill/>
          <a:ln/>
        </p:spPr>
        <p:txBody>
          <a:bodyPr wrap="square" lIns="0" tIns="0" rIns="0" bIns="0" rtlCol="0" anchor="t">
            <a:normAutofit/>
          </a:bodyPr>
          <a:lstStyle/>
          <a:p>
            <a:pPr marL="0" indent="0" algn="ctr">
              <a:lnSpc>
                <a:spcPct val="85000"/>
              </a:lnSpc>
              <a:buNone/>
            </a:pPr>
            <a:r>
              <a:rPr lang="en-US" sz="800" dirty="0">
                <a:solidFill>
                  <a:srgbClr val="6B7176"/>
                </a:solidFill>
                <a:latin typeface="Aptos" pitchFamily="34" charset="0"/>
                <a:ea typeface="Aptos" pitchFamily="34" charset="-122"/>
                <a:cs typeface="Aptos" pitchFamily="34" charset="-120"/>
              </a:rPr>
              <a:t>Deep learning revival</a:t>
            </a:r>
            <a:endParaRPr lang="en-US" sz="800" dirty="0"/>
          </a:p>
        </p:txBody>
      </p:sp>
      <p:sp>
        <p:nvSpPr>
          <p:cNvPr id="13" name="Shape 11"/>
          <p:cNvSpPr/>
          <p:nvPr/>
        </p:nvSpPr>
        <p:spPr>
          <a:xfrm>
            <a:off x="4837176" y="3575304"/>
            <a:ext cx="164592" cy="164592"/>
          </a:xfrm>
          <a:prstGeom prst="ellipse">
            <a:avLst/>
          </a:prstGeom>
          <a:solidFill>
            <a:srgbClr val="F7F5EF"/>
          </a:solidFill>
          <a:ln w="11430">
            <a:solidFill>
              <a:srgbClr val="30383D"/>
            </a:solidFill>
            <a:prstDash val="solid"/>
          </a:ln>
        </p:spPr>
        <p:txBody>
          <a:bodyPr/>
          <a:lstStyle/>
          <a:p>
            <a:endParaRPr lang="en-US"/>
          </a:p>
        </p:txBody>
      </p:sp>
      <p:sp>
        <p:nvSpPr>
          <p:cNvPr id="14" name="Text 12"/>
          <p:cNvSpPr/>
          <p:nvPr/>
        </p:nvSpPr>
        <p:spPr>
          <a:xfrm>
            <a:off x="4507992" y="3154680"/>
            <a:ext cx="822960" cy="164592"/>
          </a:xfrm>
          <a:prstGeom prst="rect">
            <a:avLst/>
          </a:prstGeom>
          <a:noFill/>
          <a:ln/>
        </p:spPr>
        <p:txBody>
          <a:bodyPr wrap="square" lIns="0" tIns="0" rIns="0" bIns="0" rtlCol="0" anchor="t">
            <a:normAutofit/>
          </a:bodyPr>
          <a:lstStyle/>
          <a:p>
            <a:pPr marL="0" indent="0" algn="ctr">
              <a:lnSpc>
                <a:spcPct val="90000"/>
              </a:lnSpc>
              <a:buNone/>
            </a:pPr>
            <a:r>
              <a:rPr lang="en-US" sz="880" b="1" dirty="0">
                <a:solidFill>
                  <a:srgbClr val="1F2528"/>
                </a:solidFill>
                <a:latin typeface="Aptos" pitchFamily="34" charset="0"/>
                <a:ea typeface="Aptos" pitchFamily="34" charset="-122"/>
                <a:cs typeface="Aptos" pitchFamily="34" charset="-120"/>
              </a:rPr>
              <a:t>2012</a:t>
            </a:r>
            <a:endParaRPr lang="en-US" sz="880" dirty="0"/>
          </a:p>
        </p:txBody>
      </p:sp>
      <p:sp>
        <p:nvSpPr>
          <p:cNvPr id="15" name="Text 13"/>
          <p:cNvSpPr/>
          <p:nvPr/>
        </p:nvSpPr>
        <p:spPr>
          <a:xfrm>
            <a:off x="4315968" y="3913632"/>
            <a:ext cx="1207008" cy="438912"/>
          </a:xfrm>
          <a:prstGeom prst="rect">
            <a:avLst/>
          </a:prstGeom>
          <a:noFill/>
          <a:ln/>
        </p:spPr>
        <p:txBody>
          <a:bodyPr wrap="square" lIns="0" tIns="0" rIns="0" bIns="0" rtlCol="0" anchor="t">
            <a:normAutofit/>
          </a:bodyPr>
          <a:lstStyle/>
          <a:p>
            <a:pPr marL="0" indent="0" algn="ctr">
              <a:lnSpc>
                <a:spcPct val="85000"/>
              </a:lnSpc>
              <a:buNone/>
            </a:pPr>
            <a:r>
              <a:rPr lang="en-US" sz="800" dirty="0">
                <a:solidFill>
                  <a:srgbClr val="6B7176"/>
                </a:solidFill>
                <a:latin typeface="Aptos" pitchFamily="34" charset="0"/>
                <a:ea typeface="Aptos" pitchFamily="34" charset="-122"/>
                <a:cs typeface="Aptos" pitchFamily="34" charset="-120"/>
              </a:rPr>
              <a:t>CNN/ImageNet moment</a:t>
            </a:r>
            <a:endParaRPr lang="en-US" sz="800" dirty="0"/>
          </a:p>
        </p:txBody>
      </p:sp>
      <p:sp>
        <p:nvSpPr>
          <p:cNvPr id="16" name="Shape 14"/>
          <p:cNvSpPr/>
          <p:nvPr/>
        </p:nvSpPr>
        <p:spPr>
          <a:xfrm>
            <a:off x="6885432" y="3575304"/>
            <a:ext cx="164592" cy="164592"/>
          </a:xfrm>
          <a:prstGeom prst="ellipse">
            <a:avLst/>
          </a:prstGeom>
          <a:solidFill>
            <a:srgbClr val="B65D3A"/>
          </a:solidFill>
          <a:ln w="11430">
            <a:solidFill>
              <a:srgbClr val="30383D"/>
            </a:solidFill>
            <a:prstDash val="solid"/>
          </a:ln>
        </p:spPr>
        <p:txBody>
          <a:bodyPr/>
          <a:lstStyle/>
          <a:p>
            <a:endParaRPr lang="en-US"/>
          </a:p>
        </p:txBody>
      </p:sp>
      <p:sp>
        <p:nvSpPr>
          <p:cNvPr id="17" name="Text 15"/>
          <p:cNvSpPr/>
          <p:nvPr/>
        </p:nvSpPr>
        <p:spPr>
          <a:xfrm>
            <a:off x="6556248" y="3154680"/>
            <a:ext cx="822960" cy="164592"/>
          </a:xfrm>
          <a:prstGeom prst="rect">
            <a:avLst/>
          </a:prstGeom>
          <a:noFill/>
          <a:ln/>
        </p:spPr>
        <p:txBody>
          <a:bodyPr wrap="square" lIns="0" tIns="0" rIns="0" bIns="0" rtlCol="0" anchor="t">
            <a:normAutofit/>
          </a:bodyPr>
          <a:lstStyle/>
          <a:p>
            <a:pPr marL="0" indent="0" algn="ctr">
              <a:lnSpc>
                <a:spcPct val="90000"/>
              </a:lnSpc>
              <a:buNone/>
            </a:pPr>
            <a:r>
              <a:rPr lang="en-US" sz="880" b="1" dirty="0">
                <a:solidFill>
                  <a:srgbClr val="B65D3A"/>
                </a:solidFill>
                <a:latin typeface="Aptos" pitchFamily="34" charset="0"/>
                <a:ea typeface="Aptos" pitchFamily="34" charset="-122"/>
                <a:cs typeface="Aptos" pitchFamily="34" charset="-120"/>
              </a:rPr>
              <a:t>2015</a:t>
            </a:r>
            <a:endParaRPr lang="en-US" sz="880" dirty="0"/>
          </a:p>
        </p:txBody>
      </p:sp>
      <p:sp>
        <p:nvSpPr>
          <p:cNvPr id="18" name="Text 16"/>
          <p:cNvSpPr/>
          <p:nvPr/>
        </p:nvSpPr>
        <p:spPr>
          <a:xfrm>
            <a:off x="6364224" y="3913632"/>
            <a:ext cx="1207008" cy="438912"/>
          </a:xfrm>
          <a:prstGeom prst="rect">
            <a:avLst/>
          </a:prstGeom>
          <a:noFill/>
          <a:ln/>
        </p:spPr>
        <p:txBody>
          <a:bodyPr wrap="square" lIns="0" tIns="0" rIns="0" bIns="0" rtlCol="0" anchor="t">
            <a:normAutofit/>
          </a:bodyPr>
          <a:lstStyle/>
          <a:p>
            <a:pPr marL="0" indent="0" algn="ctr">
              <a:lnSpc>
                <a:spcPct val="85000"/>
              </a:lnSpc>
              <a:buNone/>
            </a:pPr>
            <a:r>
              <a:rPr lang="en-US" sz="800" dirty="0">
                <a:solidFill>
                  <a:srgbClr val="6B7176"/>
                </a:solidFill>
                <a:latin typeface="Aptos" pitchFamily="34" charset="0"/>
                <a:ea typeface="Aptos" pitchFamily="34" charset="-122"/>
                <a:cs typeface="Aptos" pitchFamily="34" charset="-120"/>
              </a:rPr>
              <a:t>Piczak CNN on ESC-50</a:t>
            </a:r>
            <a:endParaRPr lang="en-US" sz="800" dirty="0"/>
          </a:p>
        </p:txBody>
      </p:sp>
      <p:sp>
        <p:nvSpPr>
          <p:cNvPr id="19" name="Shape 17"/>
          <p:cNvSpPr/>
          <p:nvPr/>
        </p:nvSpPr>
        <p:spPr>
          <a:xfrm>
            <a:off x="8933688" y="3575304"/>
            <a:ext cx="164592" cy="164592"/>
          </a:xfrm>
          <a:prstGeom prst="ellipse">
            <a:avLst/>
          </a:prstGeom>
          <a:solidFill>
            <a:srgbClr val="F7F5EF"/>
          </a:solidFill>
          <a:ln w="11430">
            <a:solidFill>
              <a:srgbClr val="30383D"/>
            </a:solidFill>
            <a:prstDash val="solid"/>
          </a:ln>
        </p:spPr>
        <p:txBody>
          <a:bodyPr/>
          <a:lstStyle/>
          <a:p>
            <a:endParaRPr lang="en-US"/>
          </a:p>
        </p:txBody>
      </p:sp>
      <p:sp>
        <p:nvSpPr>
          <p:cNvPr id="20" name="Text 18"/>
          <p:cNvSpPr/>
          <p:nvPr/>
        </p:nvSpPr>
        <p:spPr>
          <a:xfrm>
            <a:off x="8604504" y="3154680"/>
            <a:ext cx="822960" cy="164592"/>
          </a:xfrm>
          <a:prstGeom prst="rect">
            <a:avLst/>
          </a:prstGeom>
          <a:noFill/>
          <a:ln/>
        </p:spPr>
        <p:txBody>
          <a:bodyPr wrap="square" lIns="0" tIns="0" rIns="0" bIns="0" rtlCol="0" anchor="t">
            <a:normAutofit/>
          </a:bodyPr>
          <a:lstStyle/>
          <a:p>
            <a:pPr marL="0" indent="0" algn="ctr">
              <a:lnSpc>
                <a:spcPct val="90000"/>
              </a:lnSpc>
              <a:buNone/>
            </a:pPr>
            <a:r>
              <a:rPr lang="en-US" sz="880" b="1" dirty="0">
                <a:solidFill>
                  <a:srgbClr val="1F2528"/>
                </a:solidFill>
                <a:latin typeface="Aptos" pitchFamily="34" charset="0"/>
                <a:ea typeface="Aptos" pitchFamily="34" charset="-122"/>
                <a:cs typeface="Aptos" pitchFamily="34" charset="-120"/>
              </a:rPr>
              <a:t>2017-19</a:t>
            </a:r>
            <a:endParaRPr lang="en-US" sz="880" dirty="0"/>
          </a:p>
        </p:txBody>
      </p:sp>
      <p:sp>
        <p:nvSpPr>
          <p:cNvPr id="21" name="Text 19"/>
          <p:cNvSpPr/>
          <p:nvPr/>
        </p:nvSpPr>
        <p:spPr>
          <a:xfrm>
            <a:off x="8412480" y="3913632"/>
            <a:ext cx="1207008" cy="438912"/>
          </a:xfrm>
          <a:prstGeom prst="rect">
            <a:avLst/>
          </a:prstGeom>
          <a:noFill/>
          <a:ln/>
        </p:spPr>
        <p:txBody>
          <a:bodyPr wrap="square" lIns="0" tIns="0" rIns="0" bIns="0" rtlCol="0" anchor="t">
            <a:normAutofit/>
          </a:bodyPr>
          <a:lstStyle/>
          <a:p>
            <a:pPr marL="0" indent="0" algn="ctr">
              <a:lnSpc>
                <a:spcPct val="85000"/>
              </a:lnSpc>
              <a:buNone/>
            </a:pPr>
            <a:r>
              <a:rPr lang="en-US" sz="800" dirty="0">
                <a:solidFill>
                  <a:srgbClr val="6B7176"/>
                </a:solidFill>
                <a:latin typeface="Aptos" pitchFamily="34" charset="0"/>
                <a:ea typeface="Aptos" pitchFamily="34" charset="-122"/>
                <a:cs typeface="Aptos" pitchFamily="34" charset="-120"/>
              </a:rPr>
              <a:t>Transfer learning matures</a:t>
            </a:r>
            <a:endParaRPr lang="en-US" sz="800" dirty="0"/>
          </a:p>
        </p:txBody>
      </p:sp>
      <p:sp>
        <p:nvSpPr>
          <p:cNvPr id="22" name="Shape 20"/>
          <p:cNvSpPr/>
          <p:nvPr/>
        </p:nvSpPr>
        <p:spPr>
          <a:xfrm>
            <a:off x="10981944" y="3575304"/>
            <a:ext cx="164592" cy="164592"/>
          </a:xfrm>
          <a:prstGeom prst="ellipse">
            <a:avLst/>
          </a:prstGeom>
          <a:solidFill>
            <a:srgbClr val="17677D"/>
          </a:solidFill>
          <a:ln w="11430">
            <a:solidFill>
              <a:srgbClr val="30383D"/>
            </a:solidFill>
            <a:prstDash val="solid"/>
          </a:ln>
        </p:spPr>
        <p:txBody>
          <a:bodyPr/>
          <a:lstStyle/>
          <a:p>
            <a:endParaRPr lang="en-US"/>
          </a:p>
        </p:txBody>
      </p:sp>
      <p:sp>
        <p:nvSpPr>
          <p:cNvPr id="23" name="Text 21"/>
          <p:cNvSpPr/>
          <p:nvPr/>
        </p:nvSpPr>
        <p:spPr>
          <a:xfrm>
            <a:off x="10652760" y="3154680"/>
            <a:ext cx="822960" cy="164592"/>
          </a:xfrm>
          <a:prstGeom prst="rect">
            <a:avLst/>
          </a:prstGeom>
          <a:noFill/>
          <a:ln/>
        </p:spPr>
        <p:txBody>
          <a:bodyPr wrap="square" lIns="0" tIns="0" rIns="0" bIns="0" rtlCol="0" anchor="t">
            <a:normAutofit/>
          </a:bodyPr>
          <a:lstStyle/>
          <a:p>
            <a:pPr marL="0" indent="0" algn="ctr">
              <a:lnSpc>
                <a:spcPct val="90000"/>
              </a:lnSpc>
              <a:buNone/>
            </a:pPr>
            <a:r>
              <a:rPr lang="en-US" sz="880" b="1" dirty="0">
                <a:solidFill>
                  <a:srgbClr val="1F2528"/>
                </a:solidFill>
                <a:latin typeface="Aptos" pitchFamily="34" charset="0"/>
                <a:ea typeface="Aptos" pitchFamily="34" charset="-122"/>
                <a:cs typeface="Aptos" pitchFamily="34" charset="-120"/>
              </a:rPr>
              <a:t>2020s</a:t>
            </a:r>
            <a:endParaRPr lang="en-US" sz="880" dirty="0"/>
          </a:p>
        </p:txBody>
      </p:sp>
      <p:sp>
        <p:nvSpPr>
          <p:cNvPr id="24" name="Text 22"/>
          <p:cNvSpPr/>
          <p:nvPr/>
        </p:nvSpPr>
        <p:spPr>
          <a:xfrm>
            <a:off x="10460736" y="3913632"/>
            <a:ext cx="1207008" cy="438912"/>
          </a:xfrm>
          <a:prstGeom prst="rect">
            <a:avLst/>
          </a:prstGeom>
          <a:noFill/>
          <a:ln/>
        </p:spPr>
        <p:txBody>
          <a:bodyPr wrap="square" lIns="0" tIns="0" rIns="0" bIns="0" rtlCol="0" anchor="t">
            <a:normAutofit/>
          </a:bodyPr>
          <a:lstStyle/>
          <a:p>
            <a:pPr marL="0" indent="0" algn="ctr">
              <a:lnSpc>
                <a:spcPct val="85000"/>
              </a:lnSpc>
              <a:buNone/>
            </a:pPr>
            <a:r>
              <a:rPr lang="en-US" sz="800" dirty="0">
                <a:solidFill>
                  <a:srgbClr val="6B7176"/>
                </a:solidFill>
                <a:latin typeface="Aptos" pitchFamily="34" charset="0"/>
                <a:ea typeface="Aptos" pitchFamily="34" charset="-122"/>
                <a:cs typeface="Aptos" pitchFamily="34" charset="-120"/>
              </a:rPr>
              <a:t>Pretrained representations at scale</a:t>
            </a:r>
            <a:endParaRPr lang="en-US" sz="800" dirty="0"/>
          </a:p>
        </p:txBody>
      </p:sp>
      <p:sp>
        <p:nvSpPr>
          <p:cNvPr id="25" name="Text 23"/>
          <p:cNvSpPr/>
          <p:nvPr/>
        </p:nvSpPr>
        <p:spPr>
          <a:xfrm>
            <a:off x="6463401" y="4693985"/>
            <a:ext cx="4526280" cy="868680"/>
          </a:xfrm>
          <a:prstGeom prst="rect">
            <a:avLst/>
          </a:prstGeom>
          <a:noFill/>
          <a:ln/>
        </p:spPr>
        <p:txBody>
          <a:bodyPr wrap="square" lIns="0" tIns="0" rIns="0" bIns="0" rtlCol="0" anchor="t">
            <a:normAutofit/>
          </a:bodyPr>
          <a:lstStyle/>
          <a:p>
            <a:pPr marL="0" indent="0" algn="l">
              <a:lnSpc>
                <a:spcPct val="90000"/>
              </a:lnSpc>
              <a:buNone/>
            </a:pPr>
            <a:r>
              <a:rPr lang="en-US" sz="1700" b="1" dirty="0">
                <a:solidFill>
                  <a:srgbClr val="17677D"/>
                </a:solidFill>
                <a:latin typeface="Aptos Display" pitchFamily="34" charset="0"/>
                <a:ea typeface="Aptos Display" pitchFamily="34" charset="-122"/>
                <a:cs typeface="Aptos Display" pitchFamily="34" charset="-120"/>
              </a:rPr>
              <a:t>We use a 2015 benchmark as a time capsule: can later neural-network techniques produce measurable gains?</a:t>
            </a:r>
            <a:endParaRPr lang="en-US" sz="1700" dirty="0"/>
          </a:p>
        </p:txBody>
      </p:sp>
      <p:sp>
        <p:nvSpPr>
          <p:cNvPr id="26" name="Text 24"/>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01</a:t>
            </a:r>
            <a:endParaRPr lang="en-US" sz="750" dirty="0"/>
          </a:p>
        </p:txBody>
      </p:sp>
      <p:sp>
        <p:nvSpPr>
          <p:cNvPr id="27" name="Rectangle 26">
            <a:extLst>
              <a:ext uri="{FF2B5EF4-FFF2-40B4-BE49-F238E27FC236}">
                <a16:creationId xmlns:a16="http://schemas.microsoft.com/office/drawing/2014/main" id="{9BA562B3-85D6-D8F9-B3B8-1384B0F1FBB9}"/>
              </a:ext>
            </a:extLst>
          </p:cNvPr>
          <p:cNvSpPr/>
          <p:nvPr/>
        </p:nvSpPr>
        <p:spPr>
          <a:xfrm>
            <a:off x="6364224" y="2873846"/>
            <a:ext cx="5416296" cy="168810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 descr="Cornell University Logo, symbol, meaning, history, PNG, brand">
            <a:extLst>
              <a:ext uri="{FF2B5EF4-FFF2-40B4-BE49-F238E27FC236}">
                <a16:creationId xmlns:a16="http://schemas.microsoft.com/office/drawing/2014/main" id="{3B50C48C-33E4-796F-F8B1-DB5A33A30F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7F5EF"/>
        </a:solidFill>
        <a:effectLst/>
      </p:bgPr>
    </p:bg>
    <p:spTree>
      <p:nvGrpSpPr>
        <p:cNvPr id="1" name=""/>
        <p:cNvGrpSpPr/>
        <p:nvPr/>
      </p:nvGrpSpPr>
      <p:grpSpPr>
        <a:xfrm>
          <a:off x="0" y="0"/>
          <a:ext cx="0" cy="0"/>
          <a:chOff x="0" y="0"/>
          <a:chExt cx="0" cy="0"/>
        </a:xfrm>
      </p:grpSpPr>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Hypothesis, test design, and roadmap</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5" name="Text 3"/>
          <p:cNvSpPr/>
          <p:nvPr/>
        </p:nvSpPr>
        <p:spPr>
          <a:xfrm>
            <a:off x="713232" y="1417320"/>
            <a:ext cx="1371600" cy="256032"/>
          </a:xfrm>
          <a:prstGeom prst="rect">
            <a:avLst/>
          </a:prstGeom>
          <a:noFill/>
          <a:ln/>
        </p:spPr>
        <p:txBody>
          <a:bodyPr wrap="square" lIns="0" tIns="0" rIns="0" bIns="0" rtlCol="0" anchor="t">
            <a:normAutofit/>
          </a:bodyPr>
          <a:lstStyle/>
          <a:p>
            <a:pPr marL="0" indent="0" algn="l">
              <a:lnSpc>
                <a:spcPct val="90000"/>
              </a:lnSpc>
              <a:buNone/>
            </a:pPr>
            <a:r>
              <a:rPr lang="en-US" sz="1400" b="1" dirty="0">
                <a:solidFill>
                  <a:srgbClr val="17677D"/>
                </a:solidFill>
                <a:latin typeface="Aptos" pitchFamily="34" charset="0"/>
                <a:ea typeface="Aptos" pitchFamily="34" charset="-122"/>
                <a:cs typeface="Aptos" pitchFamily="34" charset="-120"/>
              </a:rPr>
              <a:t>Hypothesis</a:t>
            </a:r>
            <a:endParaRPr lang="en-US" sz="1400" dirty="0"/>
          </a:p>
        </p:txBody>
      </p:sp>
      <p:sp>
        <p:nvSpPr>
          <p:cNvPr id="6" name="Text 4"/>
          <p:cNvSpPr/>
          <p:nvPr/>
        </p:nvSpPr>
        <p:spPr>
          <a:xfrm>
            <a:off x="713232" y="1700784"/>
            <a:ext cx="5303520" cy="530352"/>
          </a:xfrm>
          <a:prstGeom prst="rect">
            <a:avLst/>
          </a:prstGeom>
          <a:noFill/>
          <a:ln/>
        </p:spPr>
        <p:txBody>
          <a:bodyPr wrap="square" lIns="0" tIns="0" rIns="0" bIns="0" rtlCol="0" anchor="t">
            <a:normAutofit fontScale="92500" lnSpcReduction="10000"/>
          </a:bodyPr>
          <a:lstStyle/>
          <a:p>
            <a:pPr marL="0" indent="0" algn="l">
              <a:lnSpc>
                <a:spcPct val="90000"/>
              </a:lnSpc>
              <a:buNone/>
            </a:pPr>
            <a:r>
              <a:rPr lang="en-US" sz="2200" b="1" dirty="0">
                <a:solidFill>
                  <a:srgbClr val="1F2528"/>
                </a:solidFill>
                <a:latin typeface="Aptos Display" pitchFamily="34" charset="0"/>
                <a:ea typeface="Aptos Display" pitchFamily="34" charset="-122"/>
                <a:cs typeface="Aptos Display" pitchFamily="34" charset="-120"/>
              </a:rPr>
              <a:t>Modern AI techniques will outperform the Piczak 2015 baseline on ESC-50.</a:t>
            </a:r>
            <a:endParaRPr lang="en-US" sz="2200" dirty="0"/>
          </a:p>
        </p:txBody>
      </p:sp>
      <p:sp>
        <p:nvSpPr>
          <p:cNvPr id="7" name="Shape 5"/>
          <p:cNvSpPr/>
          <p:nvPr/>
        </p:nvSpPr>
        <p:spPr>
          <a:xfrm>
            <a:off x="749808" y="2788920"/>
            <a:ext cx="1627632" cy="594360"/>
          </a:xfrm>
          <a:prstGeom prst="rect">
            <a:avLst/>
          </a:prstGeom>
          <a:solidFill>
            <a:srgbClr val="FDFDFB"/>
          </a:solidFill>
          <a:ln w="10160">
            <a:solidFill>
              <a:srgbClr val="BFC6C8"/>
            </a:solidFill>
            <a:prstDash val="solid"/>
          </a:ln>
        </p:spPr>
        <p:txBody>
          <a:bodyPr/>
          <a:lstStyle/>
          <a:p>
            <a:endParaRPr lang="en-US" sz="2800"/>
          </a:p>
        </p:txBody>
      </p:sp>
      <p:sp>
        <p:nvSpPr>
          <p:cNvPr id="8" name="Text 6"/>
          <p:cNvSpPr/>
          <p:nvPr/>
        </p:nvSpPr>
        <p:spPr>
          <a:xfrm>
            <a:off x="822960" y="3012948"/>
            <a:ext cx="1481328" cy="164592"/>
          </a:xfrm>
          <a:prstGeom prst="rect">
            <a:avLst/>
          </a:prstGeom>
          <a:noFill/>
          <a:ln/>
        </p:spPr>
        <p:txBody>
          <a:bodyPr wrap="square" lIns="0" tIns="0" rIns="0" bIns="0" rtlCol="0" anchor="ctr">
            <a:normAutofit/>
          </a:bodyPr>
          <a:lstStyle/>
          <a:p>
            <a:pPr marL="0" indent="0" algn="ctr">
              <a:lnSpc>
                <a:spcPct val="90000"/>
              </a:lnSpc>
              <a:buNone/>
            </a:pPr>
            <a:r>
              <a:rPr lang="en-US" sz="1050" dirty="0">
                <a:solidFill>
                  <a:srgbClr val="1F2528"/>
                </a:solidFill>
                <a:latin typeface="Aptos" pitchFamily="34" charset="0"/>
                <a:ea typeface="Aptos" pitchFamily="34" charset="-122"/>
                <a:cs typeface="Aptos" pitchFamily="34" charset="-120"/>
              </a:rPr>
              <a:t>2015 benchmark</a:t>
            </a:r>
            <a:endParaRPr lang="en-US" sz="1050" dirty="0"/>
          </a:p>
        </p:txBody>
      </p:sp>
      <p:sp>
        <p:nvSpPr>
          <p:cNvPr id="9" name="Text 7"/>
          <p:cNvSpPr/>
          <p:nvPr/>
        </p:nvSpPr>
        <p:spPr>
          <a:xfrm>
            <a:off x="795528" y="3438144"/>
            <a:ext cx="1536192" cy="201168"/>
          </a:xfrm>
          <a:prstGeom prst="rect">
            <a:avLst/>
          </a:prstGeom>
          <a:noFill/>
          <a:ln/>
        </p:spPr>
        <p:txBody>
          <a:bodyPr wrap="square" lIns="0" tIns="0" rIns="0" bIns="0" rtlCol="0" anchor="t">
            <a:normAutofit/>
          </a:bodyPr>
          <a:lstStyle/>
          <a:p>
            <a:pPr marL="0" indent="0" algn="ctr">
              <a:lnSpc>
                <a:spcPct val="90000"/>
              </a:lnSpc>
              <a:buNone/>
            </a:pPr>
            <a:r>
              <a:rPr lang="en-US" sz="1000" dirty="0">
                <a:solidFill>
                  <a:srgbClr val="6B7176"/>
                </a:solidFill>
                <a:latin typeface="Aptos" pitchFamily="34" charset="0"/>
                <a:ea typeface="Aptos" pitchFamily="34" charset="-122"/>
                <a:cs typeface="Aptos" pitchFamily="34" charset="-120"/>
              </a:rPr>
              <a:t>Piczak CNN</a:t>
            </a:r>
            <a:endParaRPr lang="en-US" sz="1000" dirty="0"/>
          </a:p>
        </p:txBody>
      </p:sp>
      <p:sp>
        <p:nvSpPr>
          <p:cNvPr id="10" name="Shape 8"/>
          <p:cNvSpPr/>
          <p:nvPr/>
        </p:nvSpPr>
        <p:spPr>
          <a:xfrm>
            <a:off x="2395728" y="3086100"/>
            <a:ext cx="73152" cy="0"/>
          </a:xfrm>
          <a:prstGeom prst="line">
            <a:avLst/>
          </a:prstGeom>
          <a:noFill/>
          <a:ln w="11430">
            <a:solidFill>
              <a:srgbClr val="BFC6C8"/>
            </a:solidFill>
            <a:prstDash val="solid"/>
            <a:tailEnd type="triangle"/>
          </a:ln>
        </p:spPr>
        <p:txBody>
          <a:bodyPr/>
          <a:lstStyle/>
          <a:p>
            <a:endParaRPr lang="en-US" sz="2800"/>
          </a:p>
        </p:txBody>
      </p:sp>
      <p:sp>
        <p:nvSpPr>
          <p:cNvPr id="11" name="Shape 9"/>
          <p:cNvSpPr/>
          <p:nvPr/>
        </p:nvSpPr>
        <p:spPr>
          <a:xfrm>
            <a:off x="2496312" y="2788920"/>
            <a:ext cx="1627632" cy="594360"/>
          </a:xfrm>
          <a:prstGeom prst="rect">
            <a:avLst/>
          </a:prstGeom>
          <a:solidFill>
            <a:srgbClr val="FDFDFB"/>
          </a:solidFill>
          <a:ln w="10160">
            <a:solidFill>
              <a:srgbClr val="BFC6C8"/>
            </a:solidFill>
            <a:prstDash val="solid"/>
          </a:ln>
        </p:spPr>
        <p:txBody>
          <a:bodyPr/>
          <a:lstStyle/>
          <a:p>
            <a:endParaRPr lang="en-US" sz="2800"/>
          </a:p>
        </p:txBody>
      </p:sp>
      <p:sp>
        <p:nvSpPr>
          <p:cNvPr id="12" name="Text 10"/>
          <p:cNvSpPr/>
          <p:nvPr/>
        </p:nvSpPr>
        <p:spPr>
          <a:xfrm>
            <a:off x="2569464" y="3012948"/>
            <a:ext cx="1481328" cy="164592"/>
          </a:xfrm>
          <a:prstGeom prst="rect">
            <a:avLst/>
          </a:prstGeom>
          <a:noFill/>
          <a:ln/>
        </p:spPr>
        <p:txBody>
          <a:bodyPr wrap="square" lIns="0" tIns="0" rIns="0" bIns="0" rtlCol="0" anchor="ctr">
            <a:normAutofit/>
          </a:bodyPr>
          <a:lstStyle/>
          <a:p>
            <a:pPr marL="0" indent="0" algn="ctr">
              <a:lnSpc>
                <a:spcPct val="90000"/>
              </a:lnSpc>
              <a:buNone/>
            </a:pPr>
            <a:r>
              <a:rPr lang="en-US" sz="1050" dirty="0">
                <a:solidFill>
                  <a:srgbClr val="1F2528"/>
                </a:solidFill>
                <a:latin typeface="Aptos" pitchFamily="34" charset="0"/>
                <a:ea typeface="Aptos" pitchFamily="34" charset="-122"/>
                <a:cs typeface="Aptos" pitchFamily="34" charset="-120"/>
              </a:rPr>
              <a:t>Model eras</a:t>
            </a:r>
            <a:endParaRPr lang="en-US" sz="1050" dirty="0"/>
          </a:p>
        </p:txBody>
      </p:sp>
      <p:sp>
        <p:nvSpPr>
          <p:cNvPr id="13" name="Text 11"/>
          <p:cNvSpPr/>
          <p:nvPr/>
        </p:nvSpPr>
        <p:spPr>
          <a:xfrm>
            <a:off x="2542032" y="3438144"/>
            <a:ext cx="1536192" cy="201168"/>
          </a:xfrm>
          <a:prstGeom prst="rect">
            <a:avLst/>
          </a:prstGeom>
          <a:noFill/>
          <a:ln/>
        </p:spPr>
        <p:txBody>
          <a:bodyPr wrap="square" lIns="0" tIns="0" rIns="0" bIns="0" rtlCol="0" anchor="t">
            <a:normAutofit/>
          </a:bodyPr>
          <a:lstStyle/>
          <a:p>
            <a:pPr marL="0" indent="0" algn="ctr">
              <a:lnSpc>
                <a:spcPct val="90000"/>
              </a:lnSpc>
              <a:buNone/>
            </a:pPr>
            <a:r>
              <a:rPr lang="en-US" sz="1000" dirty="0">
                <a:solidFill>
                  <a:srgbClr val="6B7176"/>
                </a:solidFill>
                <a:latin typeface="Aptos" pitchFamily="34" charset="0"/>
                <a:ea typeface="Aptos" pitchFamily="34" charset="-122"/>
                <a:cs typeface="Aptos" pitchFamily="34" charset="-120"/>
              </a:rPr>
              <a:t>technical progression</a:t>
            </a:r>
            <a:endParaRPr lang="en-US" sz="1000" dirty="0"/>
          </a:p>
        </p:txBody>
      </p:sp>
      <p:sp>
        <p:nvSpPr>
          <p:cNvPr id="14" name="Shape 12"/>
          <p:cNvSpPr/>
          <p:nvPr/>
        </p:nvSpPr>
        <p:spPr>
          <a:xfrm>
            <a:off x="4142232" y="3086100"/>
            <a:ext cx="73152" cy="0"/>
          </a:xfrm>
          <a:prstGeom prst="line">
            <a:avLst/>
          </a:prstGeom>
          <a:noFill/>
          <a:ln w="11430">
            <a:solidFill>
              <a:srgbClr val="BFC6C8"/>
            </a:solidFill>
            <a:prstDash val="solid"/>
            <a:tailEnd type="triangle"/>
          </a:ln>
        </p:spPr>
        <p:txBody>
          <a:bodyPr/>
          <a:lstStyle/>
          <a:p>
            <a:endParaRPr lang="en-US" sz="2800"/>
          </a:p>
        </p:txBody>
      </p:sp>
      <p:sp>
        <p:nvSpPr>
          <p:cNvPr id="15" name="Shape 13"/>
          <p:cNvSpPr/>
          <p:nvPr/>
        </p:nvSpPr>
        <p:spPr>
          <a:xfrm>
            <a:off x="4242816" y="2788920"/>
            <a:ext cx="1627632" cy="594360"/>
          </a:xfrm>
          <a:prstGeom prst="rect">
            <a:avLst/>
          </a:prstGeom>
          <a:solidFill>
            <a:srgbClr val="FDFDFB"/>
          </a:solidFill>
          <a:ln w="10160">
            <a:solidFill>
              <a:srgbClr val="BFC6C8"/>
            </a:solidFill>
            <a:prstDash val="solid"/>
          </a:ln>
        </p:spPr>
        <p:txBody>
          <a:bodyPr/>
          <a:lstStyle/>
          <a:p>
            <a:endParaRPr lang="en-US" sz="2800"/>
          </a:p>
        </p:txBody>
      </p:sp>
      <p:sp>
        <p:nvSpPr>
          <p:cNvPr id="16" name="Text 14"/>
          <p:cNvSpPr/>
          <p:nvPr/>
        </p:nvSpPr>
        <p:spPr>
          <a:xfrm>
            <a:off x="4315968" y="3012948"/>
            <a:ext cx="1481328" cy="164592"/>
          </a:xfrm>
          <a:prstGeom prst="rect">
            <a:avLst/>
          </a:prstGeom>
          <a:noFill/>
          <a:ln/>
        </p:spPr>
        <p:txBody>
          <a:bodyPr wrap="square" lIns="0" tIns="0" rIns="0" bIns="0" rtlCol="0" anchor="ctr">
            <a:normAutofit/>
          </a:bodyPr>
          <a:lstStyle/>
          <a:p>
            <a:pPr marL="0" indent="0" algn="ctr">
              <a:lnSpc>
                <a:spcPct val="90000"/>
              </a:lnSpc>
              <a:buNone/>
            </a:pPr>
            <a:r>
              <a:rPr lang="en-US" sz="1050" dirty="0">
                <a:solidFill>
                  <a:srgbClr val="1F2528"/>
                </a:solidFill>
                <a:latin typeface="Aptos" pitchFamily="34" charset="0"/>
                <a:ea typeface="Aptos" pitchFamily="34" charset="-122"/>
                <a:cs typeface="Aptos" pitchFamily="34" charset="-120"/>
              </a:rPr>
              <a:t>Measured outcomes</a:t>
            </a:r>
            <a:endParaRPr lang="en-US" sz="1050" dirty="0"/>
          </a:p>
        </p:txBody>
      </p:sp>
      <p:sp>
        <p:nvSpPr>
          <p:cNvPr id="17" name="Text 15"/>
          <p:cNvSpPr/>
          <p:nvPr/>
        </p:nvSpPr>
        <p:spPr>
          <a:xfrm>
            <a:off x="4288536" y="3438144"/>
            <a:ext cx="1536192" cy="201168"/>
          </a:xfrm>
          <a:prstGeom prst="rect">
            <a:avLst/>
          </a:prstGeom>
          <a:noFill/>
          <a:ln/>
        </p:spPr>
        <p:txBody>
          <a:bodyPr wrap="square" lIns="0" tIns="0" rIns="0" bIns="0" rtlCol="0" anchor="t">
            <a:normAutofit/>
          </a:bodyPr>
          <a:lstStyle/>
          <a:p>
            <a:pPr marL="0" indent="0" algn="ctr">
              <a:lnSpc>
                <a:spcPct val="90000"/>
              </a:lnSpc>
              <a:buNone/>
            </a:pPr>
            <a:r>
              <a:rPr lang="en-US" sz="1000" dirty="0">
                <a:solidFill>
                  <a:srgbClr val="6B7176"/>
                </a:solidFill>
                <a:latin typeface="Aptos" pitchFamily="34" charset="0"/>
                <a:ea typeface="Aptos" pitchFamily="34" charset="-122"/>
                <a:cs typeface="Aptos" pitchFamily="34" charset="-120"/>
              </a:rPr>
              <a:t>accuracy | loss </a:t>
            </a:r>
            <a:endParaRPr lang="en-US" sz="1000" dirty="0"/>
          </a:p>
        </p:txBody>
      </p:sp>
      <p:sp>
        <p:nvSpPr>
          <p:cNvPr id="18" name="Text 16"/>
          <p:cNvSpPr/>
          <p:nvPr/>
        </p:nvSpPr>
        <p:spPr>
          <a:xfrm>
            <a:off x="6830367" y="1417320"/>
            <a:ext cx="2286000" cy="182880"/>
          </a:xfrm>
          <a:prstGeom prst="rect">
            <a:avLst/>
          </a:prstGeom>
          <a:noFill/>
          <a:ln/>
        </p:spPr>
        <p:txBody>
          <a:bodyPr wrap="square" lIns="0" tIns="0" rIns="0" bIns="0" rtlCol="0" anchor="t">
            <a:noAutofit/>
          </a:bodyPr>
          <a:lstStyle/>
          <a:p>
            <a:pPr marL="0" indent="0" algn="l">
              <a:lnSpc>
                <a:spcPct val="90000"/>
              </a:lnSpc>
              <a:buNone/>
            </a:pPr>
            <a:r>
              <a:rPr lang="en-US" sz="1400" b="1" dirty="0">
                <a:solidFill>
                  <a:srgbClr val="17677D"/>
                </a:solidFill>
                <a:latin typeface="Aptos" pitchFamily="34" charset="0"/>
                <a:ea typeface="Aptos" pitchFamily="34" charset="-122"/>
                <a:cs typeface="Aptos" pitchFamily="34" charset="-120"/>
              </a:rPr>
              <a:t>Measurement lens</a:t>
            </a:r>
            <a:endParaRPr lang="en-US" sz="1400" dirty="0"/>
          </a:p>
        </p:txBody>
      </p:sp>
      <p:sp>
        <p:nvSpPr>
          <p:cNvPr id="19" name="Text 17"/>
          <p:cNvSpPr/>
          <p:nvPr/>
        </p:nvSpPr>
        <p:spPr>
          <a:xfrm>
            <a:off x="6830367" y="1641348"/>
            <a:ext cx="4343400" cy="1234440"/>
          </a:xfrm>
          <a:prstGeom prst="rect">
            <a:avLst/>
          </a:prstGeom>
          <a:noFill/>
          <a:ln/>
        </p:spPr>
        <p:txBody>
          <a:bodyPr wrap="square" lIns="254" tIns="254" rIns="254" bIns="254" rtlCol="0" anchor="ctr">
            <a:normAutofit/>
          </a:bodyPr>
          <a:lstStyle/>
          <a:p>
            <a:r>
              <a:rPr lang="en-US" sz="1320" dirty="0">
                <a:solidFill>
                  <a:srgbClr val="1F2528"/>
                </a:solidFill>
                <a:latin typeface="Aptos" pitchFamily="34" charset="0"/>
                <a:ea typeface="Aptos" pitchFamily="34" charset="-122"/>
                <a:cs typeface="Aptos" pitchFamily="34" charset="-120"/>
              </a:rPr>
              <a:t>Final 5-fold test accuracy</a:t>
            </a:r>
          </a:p>
          <a:p>
            <a:endParaRPr lang="en-US" sz="1320" dirty="0"/>
          </a:p>
          <a:p>
            <a:r>
              <a:rPr lang="en-US" sz="1320" dirty="0">
                <a:solidFill>
                  <a:srgbClr val="1F2528"/>
                </a:solidFill>
                <a:latin typeface="Aptos" pitchFamily="34" charset="0"/>
                <a:ea typeface="Aptos" pitchFamily="34" charset="-122"/>
                <a:cs typeface="Aptos" pitchFamily="34" charset="-120"/>
              </a:rPr>
              <a:t>Clip-level accuracy is used for segment-based models</a:t>
            </a:r>
            <a:endParaRPr lang="en-US" sz="1320" dirty="0"/>
          </a:p>
          <a:p>
            <a:endParaRPr lang="en-US" sz="1320" dirty="0"/>
          </a:p>
          <a:p>
            <a:r>
              <a:rPr lang="en-US" sz="1320" dirty="0">
                <a:solidFill>
                  <a:srgbClr val="1F2528"/>
                </a:solidFill>
                <a:latin typeface="Aptos" pitchFamily="34" charset="0"/>
                <a:ea typeface="Aptos" pitchFamily="34" charset="-122"/>
                <a:cs typeface="Aptos" pitchFamily="34" charset="-120"/>
              </a:rPr>
              <a:t>Loss to help interpret the magnitude of gains…if any.</a:t>
            </a:r>
            <a:endParaRPr lang="en-US" sz="1320" dirty="0"/>
          </a:p>
        </p:txBody>
      </p:sp>
      <p:sp>
        <p:nvSpPr>
          <p:cNvPr id="30" name="Text 28"/>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02</a:t>
            </a:r>
            <a:endParaRPr lang="en-US" sz="750" dirty="0"/>
          </a:p>
        </p:txBody>
      </p:sp>
      <p:pic>
        <p:nvPicPr>
          <p:cNvPr id="31" name="Picture 2" descr="Cornell University Logo, symbol, meaning, history, PNG, brand">
            <a:extLst>
              <a:ext uri="{FF2B5EF4-FFF2-40B4-BE49-F238E27FC236}">
                <a16:creationId xmlns:a16="http://schemas.microsoft.com/office/drawing/2014/main" id="{DD9A5103-E31E-A504-2E47-C31FD59BDB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2" name="Text 18">
            <a:extLst>
              <a:ext uri="{FF2B5EF4-FFF2-40B4-BE49-F238E27FC236}">
                <a16:creationId xmlns:a16="http://schemas.microsoft.com/office/drawing/2014/main" id="{9EC3D0E5-D238-25F7-BEDE-595F7C02CC68}"/>
              </a:ext>
            </a:extLst>
          </p:cNvPr>
          <p:cNvSpPr/>
          <p:nvPr/>
        </p:nvSpPr>
        <p:spPr>
          <a:xfrm>
            <a:off x="749808" y="4626864"/>
            <a:ext cx="1280160" cy="182880"/>
          </a:xfrm>
          <a:prstGeom prst="rect">
            <a:avLst/>
          </a:prstGeom>
          <a:noFill/>
          <a:ln/>
        </p:spPr>
        <p:txBody>
          <a:bodyPr wrap="square" lIns="0" tIns="0" rIns="0" bIns="0" rtlCol="0" anchor="t">
            <a:normAutofit/>
          </a:bodyPr>
          <a:lstStyle/>
          <a:p>
            <a:pPr marL="0" indent="0" algn="l">
              <a:lnSpc>
                <a:spcPct val="90000"/>
              </a:lnSpc>
              <a:buNone/>
            </a:pPr>
            <a:r>
              <a:rPr lang="en-US" sz="1200" b="1" dirty="0">
                <a:solidFill>
                  <a:srgbClr val="6B7176"/>
                </a:solidFill>
                <a:latin typeface="Aptos" pitchFamily="34" charset="0"/>
                <a:ea typeface="Aptos" pitchFamily="34" charset="-122"/>
                <a:cs typeface="Aptos" pitchFamily="34" charset="-120"/>
              </a:rPr>
              <a:t>Roadmap</a:t>
            </a:r>
            <a:endParaRPr lang="en-US" sz="1200" dirty="0"/>
          </a:p>
        </p:txBody>
      </p:sp>
      <p:sp>
        <p:nvSpPr>
          <p:cNvPr id="32" name="Shape 19">
            <a:extLst>
              <a:ext uri="{FF2B5EF4-FFF2-40B4-BE49-F238E27FC236}">
                <a16:creationId xmlns:a16="http://schemas.microsoft.com/office/drawing/2014/main" id="{989F930E-4B60-1142-8E73-06B43B3ACE89}"/>
              </a:ext>
            </a:extLst>
          </p:cNvPr>
          <p:cNvSpPr/>
          <p:nvPr/>
        </p:nvSpPr>
        <p:spPr>
          <a:xfrm>
            <a:off x="749808" y="4882896"/>
            <a:ext cx="3675888" cy="786384"/>
          </a:xfrm>
          <a:prstGeom prst="chevron">
            <a:avLst/>
          </a:prstGeom>
          <a:solidFill>
            <a:srgbClr val="426E9E"/>
          </a:solidFill>
          <a:ln w="12700">
            <a:solidFill>
              <a:srgbClr val="F7F5EF"/>
            </a:solidFill>
            <a:prstDash val="solid"/>
          </a:ln>
        </p:spPr>
        <p:txBody>
          <a:bodyPr/>
          <a:lstStyle/>
          <a:p>
            <a:endParaRPr lang="en-US"/>
          </a:p>
        </p:txBody>
      </p:sp>
      <p:sp>
        <p:nvSpPr>
          <p:cNvPr id="33" name="Text 20">
            <a:extLst>
              <a:ext uri="{FF2B5EF4-FFF2-40B4-BE49-F238E27FC236}">
                <a16:creationId xmlns:a16="http://schemas.microsoft.com/office/drawing/2014/main" id="{A2A55FF3-743B-076E-EF6E-47564C6C6347}"/>
              </a:ext>
            </a:extLst>
          </p:cNvPr>
          <p:cNvSpPr/>
          <p:nvPr/>
        </p:nvSpPr>
        <p:spPr>
          <a:xfrm>
            <a:off x="896112" y="5056632"/>
            <a:ext cx="3246120" cy="201168"/>
          </a:xfrm>
          <a:prstGeom prst="rect">
            <a:avLst/>
          </a:prstGeom>
          <a:noFill/>
          <a:ln/>
        </p:spPr>
        <p:txBody>
          <a:bodyPr wrap="square" lIns="0" tIns="0" rIns="0" bIns="0" rtlCol="0" anchor="t">
            <a:normAutofit/>
          </a:bodyPr>
          <a:lstStyle/>
          <a:p>
            <a:pPr marL="0" indent="0" algn="ctr">
              <a:lnSpc>
                <a:spcPct val="90000"/>
              </a:lnSpc>
              <a:buNone/>
            </a:pPr>
            <a:r>
              <a:rPr lang="en-US" sz="1050" b="1" dirty="0">
                <a:solidFill>
                  <a:srgbClr val="FFFFFF"/>
                </a:solidFill>
                <a:latin typeface="Aptos" pitchFamily="34" charset="0"/>
                <a:ea typeface="Aptos" pitchFamily="34" charset="-122"/>
                <a:cs typeface="Aptos" pitchFamily="34" charset="-120"/>
              </a:rPr>
              <a:t>Training from scratch</a:t>
            </a:r>
            <a:endParaRPr lang="en-US" sz="1050" dirty="0"/>
          </a:p>
        </p:txBody>
      </p:sp>
      <p:sp>
        <p:nvSpPr>
          <p:cNvPr id="34" name="Text 21">
            <a:extLst>
              <a:ext uri="{FF2B5EF4-FFF2-40B4-BE49-F238E27FC236}">
                <a16:creationId xmlns:a16="http://schemas.microsoft.com/office/drawing/2014/main" id="{EE38F352-8307-6CB4-6D39-88F03C668B81}"/>
              </a:ext>
            </a:extLst>
          </p:cNvPr>
          <p:cNvSpPr/>
          <p:nvPr/>
        </p:nvSpPr>
        <p:spPr>
          <a:xfrm>
            <a:off x="896112" y="5321808"/>
            <a:ext cx="3246120" cy="155448"/>
          </a:xfrm>
          <a:prstGeom prst="rect">
            <a:avLst/>
          </a:prstGeom>
          <a:noFill/>
          <a:ln/>
        </p:spPr>
        <p:txBody>
          <a:bodyPr wrap="square" lIns="0" tIns="0" rIns="0" bIns="0" rtlCol="0" anchor="t">
            <a:normAutofit/>
          </a:bodyPr>
          <a:lstStyle/>
          <a:p>
            <a:pPr marL="0" indent="0" algn="ctr">
              <a:lnSpc>
                <a:spcPct val="90000"/>
              </a:lnSpc>
              <a:buNone/>
            </a:pPr>
            <a:r>
              <a:rPr lang="en-US" sz="820" dirty="0" err="1">
                <a:solidFill>
                  <a:schemeClr val="bg1"/>
                </a:solidFill>
                <a:latin typeface="Aptos" pitchFamily="34" charset="0"/>
              </a:rPr>
              <a:t>Piczak</a:t>
            </a:r>
            <a:r>
              <a:rPr lang="en-US" sz="820" dirty="0">
                <a:solidFill>
                  <a:schemeClr val="bg1"/>
                </a:solidFill>
                <a:latin typeface="Aptos" pitchFamily="34" charset="0"/>
              </a:rPr>
              <a:t> CNN | Variations | LSTM</a:t>
            </a:r>
          </a:p>
        </p:txBody>
      </p:sp>
      <p:sp>
        <p:nvSpPr>
          <p:cNvPr id="35" name="Shape 22">
            <a:extLst>
              <a:ext uri="{FF2B5EF4-FFF2-40B4-BE49-F238E27FC236}">
                <a16:creationId xmlns:a16="http://schemas.microsoft.com/office/drawing/2014/main" id="{295B32F0-04FB-A446-8872-F6911FADA695}"/>
              </a:ext>
            </a:extLst>
          </p:cNvPr>
          <p:cNvSpPr/>
          <p:nvPr/>
        </p:nvSpPr>
        <p:spPr>
          <a:xfrm>
            <a:off x="4315968" y="4882896"/>
            <a:ext cx="3675888" cy="786384"/>
          </a:xfrm>
          <a:prstGeom prst="chevron">
            <a:avLst/>
          </a:prstGeom>
          <a:solidFill>
            <a:srgbClr val="1B667D"/>
          </a:solidFill>
          <a:ln w="12700">
            <a:solidFill>
              <a:srgbClr val="F7F5EF"/>
            </a:solidFill>
            <a:prstDash val="solid"/>
          </a:ln>
        </p:spPr>
        <p:txBody>
          <a:bodyPr/>
          <a:lstStyle/>
          <a:p>
            <a:endParaRPr lang="en-US"/>
          </a:p>
        </p:txBody>
      </p:sp>
      <p:sp>
        <p:nvSpPr>
          <p:cNvPr id="36" name="Text 23">
            <a:extLst>
              <a:ext uri="{FF2B5EF4-FFF2-40B4-BE49-F238E27FC236}">
                <a16:creationId xmlns:a16="http://schemas.microsoft.com/office/drawing/2014/main" id="{97491FF5-57AB-D5B6-C518-FFE73E9C26BA}"/>
              </a:ext>
            </a:extLst>
          </p:cNvPr>
          <p:cNvSpPr/>
          <p:nvPr/>
        </p:nvSpPr>
        <p:spPr>
          <a:xfrm>
            <a:off x="4462272" y="5056632"/>
            <a:ext cx="3246120" cy="201168"/>
          </a:xfrm>
          <a:prstGeom prst="rect">
            <a:avLst/>
          </a:prstGeom>
          <a:noFill/>
          <a:ln/>
        </p:spPr>
        <p:txBody>
          <a:bodyPr wrap="square" lIns="0" tIns="0" rIns="0" bIns="0" rtlCol="0" anchor="t">
            <a:normAutofit/>
          </a:bodyPr>
          <a:lstStyle/>
          <a:p>
            <a:pPr marL="0" indent="0" algn="ctr">
              <a:lnSpc>
                <a:spcPct val="90000"/>
              </a:lnSpc>
              <a:buNone/>
            </a:pPr>
            <a:r>
              <a:rPr lang="en-US" sz="1050" b="1" dirty="0">
                <a:solidFill>
                  <a:schemeClr val="bg1"/>
                </a:solidFill>
                <a:latin typeface="Aptos" pitchFamily="34" charset="0"/>
                <a:ea typeface="Aptos" pitchFamily="34" charset="-122"/>
                <a:cs typeface="Aptos" pitchFamily="34" charset="-120"/>
              </a:rPr>
              <a:t>Transfer learning: pretrained CNN</a:t>
            </a:r>
            <a:endParaRPr lang="en-US" sz="1050" dirty="0">
              <a:solidFill>
                <a:schemeClr val="bg1"/>
              </a:solidFill>
            </a:endParaRPr>
          </a:p>
        </p:txBody>
      </p:sp>
      <p:sp>
        <p:nvSpPr>
          <p:cNvPr id="37" name="Text 24">
            <a:extLst>
              <a:ext uri="{FF2B5EF4-FFF2-40B4-BE49-F238E27FC236}">
                <a16:creationId xmlns:a16="http://schemas.microsoft.com/office/drawing/2014/main" id="{EB8DE7B4-5237-2C44-3DD8-FEC7A2823E12}"/>
              </a:ext>
            </a:extLst>
          </p:cNvPr>
          <p:cNvSpPr/>
          <p:nvPr/>
        </p:nvSpPr>
        <p:spPr>
          <a:xfrm>
            <a:off x="4462272" y="5321808"/>
            <a:ext cx="3246120" cy="155448"/>
          </a:xfrm>
          <a:prstGeom prst="rect">
            <a:avLst/>
          </a:prstGeom>
          <a:noFill/>
          <a:ln/>
        </p:spPr>
        <p:txBody>
          <a:bodyPr wrap="square" lIns="0" tIns="0" rIns="0" bIns="0" rtlCol="0" anchor="t">
            <a:normAutofit/>
          </a:bodyPr>
          <a:lstStyle/>
          <a:p>
            <a:pPr marL="0" indent="0" algn="ctr">
              <a:lnSpc>
                <a:spcPct val="90000"/>
              </a:lnSpc>
              <a:buNone/>
            </a:pPr>
            <a:r>
              <a:rPr lang="en-US" sz="820" dirty="0">
                <a:solidFill>
                  <a:schemeClr val="bg1"/>
                </a:solidFill>
                <a:latin typeface="Aptos" pitchFamily="34" charset="0"/>
                <a:ea typeface="Aptos" pitchFamily="34" charset="-122"/>
                <a:cs typeface="Aptos" pitchFamily="34" charset="-120"/>
              </a:rPr>
              <a:t>VGGish | YAMNet</a:t>
            </a:r>
            <a:endParaRPr lang="en-US" sz="820" dirty="0">
              <a:solidFill>
                <a:schemeClr val="bg1"/>
              </a:solidFill>
            </a:endParaRPr>
          </a:p>
        </p:txBody>
      </p:sp>
      <p:sp>
        <p:nvSpPr>
          <p:cNvPr id="38" name="Shape 25">
            <a:extLst>
              <a:ext uri="{FF2B5EF4-FFF2-40B4-BE49-F238E27FC236}">
                <a16:creationId xmlns:a16="http://schemas.microsoft.com/office/drawing/2014/main" id="{C838B2D9-E5C0-4699-1D82-B1FF36E17010}"/>
              </a:ext>
            </a:extLst>
          </p:cNvPr>
          <p:cNvSpPr/>
          <p:nvPr/>
        </p:nvSpPr>
        <p:spPr>
          <a:xfrm>
            <a:off x="7882128" y="4882896"/>
            <a:ext cx="3566160" cy="786384"/>
          </a:xfrm>
          <a:prstGeom prst="chevron">
            <a:avLst/>
          </a:prstGeom>
          <a:solidFill>
            <a:srgbClr val="B65D3A"/>
          </a:solidFill>
          <a:ln w="12700">
            <a:solidFill>
              <a:srgbClr val="F7F5EF"/>
            </a:solidFill>
            <a:prstDash val="solid"/>
          </a:ln>
        </p:spPr>
        <p:txBody>
          <a:bodyPr/>
          <a:lstStyle/>
          <a:p>
            <a:endParaRPr lang="en-US"/>
          </a:p>
        </p:txBody>
      </p:sp>
      <p:sp>
        <p:nvSpPr>
          <p:cNvPr id="39" name="Text 26">
            <a:extLst>
              <a:ext uri="{FF2B5EF4-FFF2-40B4-BE49-F238E27FC236}">
                <a16:creationId xmlns:a16="http://schemas.microsoft.com/office/drawing/2014/main" id="{E46A358F-FEF1-7ADE-4793-2C4D927A762C}"/>
              </a:ext>
            </a:extLst>
          </p:cNvPr>
          <p:cNvSpPr/>
          <p:nvPr/>
        </p:nvSpPr>
        <p:spPr>
          <a:xfrm>
            <a:off x="8028432" y="5056632"/>
            <a:ext cx="3246120" cy="201168"/>
          </a:xfrm>
          <a:prstGeom prst="rect">
            <a:avLst/>
          </a:prstGeom>
          <a:noFill/>
          <a:ln/>
        </p:spPr>
        <p:txBody>
          <a:bodyPr wrap="square" lIns="0" tIns="0" rIns="0" bIns="0" rtlCol="0" anchor="t">
            <a:normAutofit/>
          </a:bodyPr>
          <a:lstStyle/>
          <a:p>
            <a:pPr marL="0" indent="0" algn="ctr">
              <a:lnSpc>
                <a:spcPct val="90000"/>
              </a:lnSpc>
              <a:buNone/>
            </a:pPr>
            <a:r>
              <a:rPr lang="en-US" sz="1050" b="1" dirty="0">
                <a:solidFill>
                  <a:schemeClr val="bg1"/>
                </a:solidFill>
                <a:latin typeface="Aptos" pitchFamily="34" charset="0"/>
                <a:ea typeface="Aptos" pitchFamily="34" charset="-122"/>
                <a:cs typeface="Aptos" pitchFamily="34" charset="-120"/>
              </a:rPr>
              <a:t>Transfer learning: pretrained transformers</a:t>
            </a:r>
            <a:endParaRPr lang="en-US" sz="1050" dirty="0">
              <a:solidFill>
                <a:schemeClr val="bg1"/>
              </a:solidFill>
            </a:endParaRPr>
          </a:p>
        </p:txBody>
      </p:sp>
      <p:sp>
        <p:nvSpPr>
          <p:cNvPr id="40" name="Text 27">
            <a:extLst>
              <a:ext uri="{FF2B5EF4-FFF2-40B4-BE49-F238E27FC236}">
                <a16:creationId xmlns:a16="http://schemas.microsoft.com/office/drawing/2014/main" id="{1F69587E-DE03-039D-990A-02B7BFF33925}"/>
              </a:ext>
            </a:extLst>
          </p:cNvPr>
          <p:cNvSpPr/>
          <p:nvPr/>
        </p:nvSpPr>
        <p:spPr>
          <a:xfrm>
            <a:off x="8028432" y="5321808"/>
            <a:ext cx="3246120" cy="155448"/>
          </a:xfrm>
          <a:prstGeom prst="rect">
            <a:avLst/>
          </a:prstGeom>
          <a:noFill/>
          <a:ln/>
        </p:spPr>
        <p:txBody>
          <a:bodyPr wrap="square" lIns="0" tIns="0" rIns="0" bIns="0" rtlCol="0" anchor="t">
            <a:normAutofit/>
          </a:bodyPr>
          <a:lstStyle/>
          <a:p>
            <a:pPr marL="0" indent="0" algn="ctr">
              <a:lnSpc>
                <a:spcPct val="90000"/>
              </a:lnSpc>
              <a:buNone/>
            </a:pPr>
            <a:r>
              <a:rPr lang="en-US" sz="820" dirty="0">
                <a:solidFill>
                  <a:schemeClr val="bg1"/>
                </a:solidFill>
                <a:latin typeface="Aptos" pitchFamily="34" charset="0"/>
                <a:ea typeface="Aptos" pitchFamily="34" charset="-122"/>
                <a:cs typeface="Aptos" pitchFamily="34" charset="-120"/>
              </a:rPr>
              <a:t>AST | BEATs</a:t>
            </a:r>
            <a:endParaRPr lang="en-US" sz="82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THE BASELINE</a:t>
            </a:r>
            <a:endParaRPr lang="en-US" sz="880" dirty="0"/>
          </a:p>
        </p:txBody>
      </p:sp>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Piczak and ESC-50</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474" name="Text 472"/>
          <p:cNvSpPr/>
          <p:nvPr/>
        </p:nvSpPr>
        <p:spPr>
          <a:xfrm>
            <a:off x="6771132" y="1438962"/>
            <a:ext cx="2011680" cy="320040"/>
          </a:xfrm>
          <a:prstGeom prst="rect">
            <a:avLst/>
          </a:prstGeom>
          <a:noFill/>
          <a:ln/>
        </p:spPr>
        <p:txBody>
          <a:bodyPr wrap="square" lIns="0" tIns="0" rIns="0" bIns="0" rtlCol="0" anchor="t">
            <a:normAutofit lnSpcReduction="10000"/>
          </a:bodyPr>
          <a:lstStyle/>
          <a:p>
            <a:pPr marL="0" indent="0" algn="l">
              <a:lnSpc>
                <a:spcPct val="90000"/>
              </a:lnSpc>
              <a:buNone/>
            </a:pPr>
            <a:r>
              <a:rPr lang="en-US" sz="2500" b="1" dirty="0">
                <a:solidFill>
                  <a:srgbClr val="17677D"/>
                </a:solidFill>
                <a:latin typeface="Aptos Display" pitchFamily="34" charset="0"/>
                <a:ea typeface="Aptos Display" pitchFamily="34" charset="-122"/>
                <a:cs typeface="Aptos Display" pitchFamily="34" charset="-120"/>
              </a:rPr>
              <a:t>ESC-50</a:t>
            </a:r>
            <a:endParaRPr lang="en-US" sz="2500" dirty="0"/>
          </a:p>
        </p:txBody>
      </p:sp>
      <p:sp>
        <p:nvSpPr>
          <p:cNvPr id="475" name="Shape 473"/>
          <p:cNvSpPr/>
          <p:nvPr/>
        </p:nvSpPr>
        <p:spPr>
          <a:xfrm>
            <a:off x="6931445" y="1849611"/>
            <a:ext cx="1783080" cy="759330"/>
          </a:xfrm>
          <a:prstGeom prst="rect">
            <a:avLst/>
          </a:prstGeom>
          <a:solidFill>
            <a:srgbClr val="FFFFFF">
              <a:alpha val="98000"/>
            </a:srgbClr>
          </a:solidFill>
          <a:ln w="17780">
            <a:solidFill>
              <a:srgbClr val="17677D"/>
            </a:solidFill>
            <a:prstDash val="solid"/>
          </a:ln>
        </p:spPr>
        <p:txBody>
          <a:bodyPr/>
          <a:lstStyle/>
          <a:p>
            <a:endParaRPr lang="en-US"/>
          </a:p>
        </p:txBody>
      </p:sp>
      <p:sp>
        <p:nvSpPr>
          <p:cNvPr id="476" name="Text 474"/>
          <p:cNvSpPr/>
          <p:nvPr/>
        </p:nvSpPr>
        <p:spPr>
          <a:xfrm>
            <a:off x="7022885" y="1964869"/>
            <a:ext cx="16002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17677D"/>
                </a:solidFill>
                <a:latin typeface="Aptos Display" pitchFamily="34" charset="0"/>
                <a:ea typeface="Aptos Display" pitchFamily="34" charset="-122"/>
                <a:cs typeface="Aptos Display" pitchFamily="34" charset="-120"/>
              </a:rPr>
              <a:t>2,000</a:t>
            </a:r>
            <a:endParaRPr lang="en-US" sz="2100" dirty="0"/>
          </a:p>
        </p:txBody>
      </p:sp>
      <p:sp>
        <p:nvSpPr>
          <p:cNvPr id="477" name="Text 475"/>
          <p:cNvSpPr/>
          <p:nvPr/>
        </p:nvSpPr>
        <p:spPr>
          <a:xfrm>
            <a:off x="7041173" y="2358061"/>
            <a:ext cx="15636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labeled audio clips</a:t>
            </a:r>
            <a:endParaRPr lang="en-US" sz="780" dirty="0"/>
          </a:p>
        </p:txBody>
      </p:sp>
      <p:sp>
        <p:nvSpPr>
          <p:cNvPr id="478" name="Shape 476"/>
          <p:cNvSpPr/>
          <p:nvPr/>
        </p:nvSpPr>
        <p:spPr>
          <a:xfrm>
            <a:off x="9153748" y="1859133"/>
            <a:ext cx="1783080" cy="749808"/>
          </a:xfrm>
          <a:prstGeom prst="rect">
            <a:avLst/>
          </a:prstGeom>
          <a:solidFill>
            <a:srgbClr val="FFFFFF">
              <a:alpha val="98000"/>
            </a:srgbClr>
          </a:solidFill>
          <a:ln w="17780">
            <a:solidFill>
              <a:srgbClr val="30383D"/>
            </a:solidFill>
            <a:prstDash val="solid"/>
          </a:ln>
        </p:spPr>
        <p:txBody>
          <a:bodyPr/>
          <a:lstStyle/>
          <a:p>
            <a:endParaRPr lang="en-US"/>
          </a:p>
        </p:txBody>
      </p:sp>
      <p:sp>
        <p:nvSpPr>
          <p:cNvPr id="479" name="Text 477"/>
          <p:cNvSpPr/>
          <p:nvPr/>
        </p:nvSpPr>
        <p:spPr>
          <a:xfrm>
            <a:off x="9245188" y="1974391"/>
            <a:ext cx="16002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30383D"/>
                </a:solidFill>
                <a:latin typeface="Aptos Display" pitchFamily="34" charset="0"/>
                <a:ea typeface="Aptos Display" pitchFamily="34" charset="-122"/>
                <a:cs typeface="Aptos Display" pitchFamily="34" charset="-120"/>
              </a:rPr>
              <a:t>50</a:t>
            </a:r>
            <a:endParaRPr lang="en-US" sz="2100" dirty="0"/>
          </a:p>
        </p:txBody>
      </p:sp>
      <p:sp>
        <p:nvSpPr>
          <p:cNvPr id="480" name="Text 478"/>
          <p:cNvSpPr/>
          <p:nvPr/>
        </p:nvSpPr>
        <p:spPr>
          <a:xfrm>
            <a:off x="9263476" y="2367583"/>
            <a:ext cx="15636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balanced classes</a:t>
            </a:r>
            <a:endParaRPr lang="en-US" sz="780" dirty="0"/>
          </a:p>
        </p:txBody>
      </p:sp>
      <p:sp>
        <p:nvSpPr>
          <p:cNvPr id="481" name="Shape 479"/>
          <p:cNvSpPr/>
          <p:nvPr/>
        </p:nvSpPr>
        <p:spPr>
          <a:xfrm>
            <a:off x="6931445" y="2857491"/>
            <a:ext cx="1783080" cy="759330"/>
          </a:xfrm>
          <a:prstGeom prst="rect">
            <a:avLst/>
          </a:prstGeom>
          <a:solidFill>
            <a:srgbClr val="FFFFFF">
              <a:alpha val="98000"/>
            </a:srgbClr>
          </a:solidFill>
          <a:ln w="17780">
            <a:solidFill>
              <a:srgbClr val="30383D"/>
            </a:solidFill>
            <a:prstDash val="solid"/>
          </a:ln>
        </p:spPr>
        <p:txBody>
          <a:bodyPr/>
          <a:lstStyle/>
          <a:p>
            <a:endParaRPr lang="en-US"/>
          </a:p>
        </p:txBody>
      </p:sp>
      <p:sp>
        <p:nvSpPr>
          <p:cNvPr id="482" name="Text 480"/>
          <p:cNvSpPr/>
          <p:nvPr/>
        </p:nvSpPr>
        <p:spPr>
          <a:xfrm>
            <a:off x="7022885" y="2972749"/>
            <a:ext cx="16002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30383D"/>
                </a:solidFill>
                <a:latin typeface="Aptos Display" pitchFamily="34" charset="0"/>
                <a:ea typeface="Aptos Display" pitchFamily="34" charset="-122"/>
                <a:cs typeface="Aptos Display" pitchFamily="34" charset="-120"/>
              </a:rPr>
              <a:t>5</a:t>
            </a:r>
            <a:endParaRPr lang="en-US" sz="2100" dirty="0"/>
          </a:p>
        </p:txBody>
      </p:sp>
      <p:sp>
        <p:nvSpPr>
          <p:cNvPr id="483" name="Text 481"/>
          <p:cNvSpPr/>
          <p:nvPr/>
        </p:nvSpPr>
        <p:spPr>
          <a:xfrm>
            <a:off x="7041173" y="3365941"/>
            <a:ext cx="15636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official folds</a:t>
            </a:r>
            <a:endParaRPr lang="en-US" sz="780" dirty="0"/>
          </a:p>
        </p:txBody>
      </p:sp>
      <p:sp>
        <p:nvSpPr>
          <p:cNvPr id="484" name="Shape 482"/>
          <p:cNvSpPr/>
          <p:nvPr/>
        </p:nvSpPr>
        <p:spPr>
          <a:xfrm>
            <a:off x="9153748" y="2845111"/>
            <a:ext cx="1783080" cy="749808"/>
          </a:xfrm>
          <a:prstGeom prst="rect">
            <a:avLst/>
          </a:prstGeom>
          <a:solidFill>
            <a:srgbClr val="FFFFFF">
              <a:alpha val="98000"/>
            </a:srgbClr>
          </a:solidFill>
          <a:ln w="17780">
            <a:solidFill>
              <a:srgbClr val="30383D"/>
            </a:solidFill>
            <a:prstDash val="solid"/>
          </a:ln>
        </p:spPr>
        <p:txBody>
          <a:bodyPr/>
          <a:lstStyle/>
          <a:p>
            <a:endParaRPr lang="en-US"/>
          </a:p>
        </p:txBody>
      </p:sp>
      <p:sp>
        <p:nvSpPr>
          <p:cNvPr id="485" name="Text 483"/>
          <p:cNvSpPr/>
          <p:nvPr/>
        </p:nvSpPr>
        <p:spPr>
          <a:xfrm>
            <a:off x="9245188" y="2982271"/>
            <a:ext cx="16002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30383D"/>
                </a:solidFill>
                <a:latin typeface="Aptos Display" pitchFamily="34" charset="0"/>
                <a:ea typeface="Aptos Display" pitchFamily="34" charset="-122"/>
                <a:cs typeface="Aptos Display" pitchFamily="34" charset="-120"/>
              </a:rPr>
              <a:t>5 sec</a:t>
            </a:r>
            <a:endParaRPr lang="en-US" sz="2100" dirty="0"/>
          </a:p>
        </p:txBody>
      </p:sp>
      <p:sp>
        <p:nvSpPr>
          <p:cNvPr id="486" name="Text 484"/>
          <p:cNvSpPr/>
          <p:nvPr/>
        </p:nvSpPr>
        <p:spPr>
          <a:xfrm>
            <a:off x="9263476" y="3375463"/>
            <a:ext cx="15636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per clip</a:t>
            </a:r>
            <a:endParaRPr lang="en-US" sz="780" dirty="0"/>
          </a:p>
        </p:txBody>
      </p:sp>
      <p:sp>
        <p:nvSpPr>
          <p:cNvPr id="487" name="Text 485"/>
          <p:cNvSpPr/>
          <p:nvPr/>
        </p:nvSpPr>
        <p:spPr>
          <a:xfrm>
            <a:off x="807279" y="3858470"/>
            <a:ext cx="2471961" cy="201168"/>
          </a:xfrm>
          <a:prstGeom prst="rect">
            <a:avLst/>
          </a:prstGeom>
          <a:noFill/>
          <a:ln/>
        </p:spPr>
        <p:txBody>
          <a:bodyPr wrap="square" lIns="0" tIns="0" rIns="0" bIns="0" rtlCol="0" anchor="t">
            <a:normAutofit/>
          </a:bodyPr>
          <a:lstStyle/>
          <a:p>
            <a:pPr marL="0" indent="0" algn="l">
              <a:lnSpc>
                <a:spcPct val="90000"/>
              </a:lnSpc>
              <a:buNone/>
            </a:pPr>
            <a:r>
              <a:rPr lang="en-US" sz="1100" b="1" dirty="0">
                <a:solidFill>
                  <a:srgbClr val="17677D"/>
                </a:solidFill>
                <a:latin typeface="Aptos" pitchFamily="34" charset="0"/>
                <a:ea typeface="Aptos" pitchFamily="34" charset="-122"/>
                <a:cs typeface="Aptos" pitchFamily="34" charset="-120"/>
              </a:rPr>
              <a:t>Experiment Significance</a:t>
            </a:r>
            <a:endParaRPr lang="en-US" sz="1100" dirty="0"/>
          </a:p>
        </p:txBody>
      </p:sp>
      <p:sp>
        <p:nvSpPr>
          <p:cNvPr id="488" name="Text 486"/>
          <p:cNvSpPr/>
          <p:nvPr/>
        </p:nvSpPr>
        <p:spPr>
          <a:xfrm>
            <a:off x="825567" y="4196798"/>
            <a:ext cx="5428923" cy="1234440"/>
          </a:xfrm>
          <a:prstGeom prst="rect">
            <a:avLst/>
          </a:prstGeom>
          <a:noFill/>
          <a:ln/>
        </p:spPr>
        <p:txBody>
          <a:bodyPr wrap="square" lIns="254" tIns="254" rIns="254" bIns="254" rtlCol="0" anchor="ctr">
            <a:normAutofit/>
          </a:bodyPr>
          <a:lstStyle/>
          <a:p>
            <a:r>
              <a:rPr lang="en-US" sz="1300" dirty="0">
                <a:solidFill>
                  <a:srgbClr val="1F2528"/>
                </a:solidFill>
                <a:latin typeface="Aptos" pitchFamily="34" charset="0"/>
                <a:ea typeface="Aptos" pitchFamily="34" charset="-122"/>
                <a:cs typeface="Aptos" pitchFamily="34" charset="-120"/>
              </a:rPr>
              <a:t>Environmental sound classification lagged speech and music processing.</a:t>
            </a:r>
            <a:endParaRPr lang="en-US" sz="1300" dirty="0"/>
          </a:p>
          <a:p>
            <a:endParaRPr lang="en-US" sz="1300" dirty="0"/>
          </a:p>
          <a:p>
            <a:r>
              <a:rPr lang="en-US" sz="1300" dirty="0">
                <a:solidFill>
                  <a:srgbClr val="1F2528"/>
                </a:solidFill>
                <a:latin typeface="Aptos" pitchFamily="34" charset="0"/>
                <a:ea typeface="Aptos" pitchFamily="34" charset="-122"/>
                <a:cs typeface="Aptos" pitchFamily="34" charset="-120"/>
              </a:rPr>
              <a:t>ESC-50 gave researchers a clean, repeatable benchmark.</a:t>
            </a:r>
            <a:endParaRPr lang="en-US" sz="1300" dirty="0"/>
          </a:p>
          <a:p>
            <a:endParaRPr lang="en-US" sz="1300" dirty="0"/>
          </a:p>
          <a:p>
            <a:r>
              <a:rPr lang="en-US" sz="1300" dirty="0">
                <a:solidFill>
                  <a:srgbClr val="1F2528"/>
                </a:solidFill>
                <a:latin typeface="Aptos" pitchFamily="34" charset="0"/>
                <a:ea typeface="Aptos" pitchFamily="34" charset="-122"/>
                <a:cs typeface="Aptos" pitchFamily="34" charset="-120"/>
              </a:rPr>
              <a:t>Official folds support direct comparison with published results.</a:t>
            </a:r>
            <a:endParaRPr lang="en-US" sz="1300" dirty="0"/>
          </a:p>
        </p:txBody>
      </p:sp>
      <p:sp>
        <p:nvSpPr>
          <p:cNvPr id="490" name="Text 488"/>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03</a:t>
            </a:r>
            <a:endParaRPr lang="en-US" sz="750" dirty="0"/>
          </a:p>
        </p:txBody>
      </p:sp>
      <p:sp>
        <p:nvSpPr>
          <p:cNvPr id="491" name="Text 486">
            <a:extLst>
              <a:ext uri="{FF2B5EF4-FFF2-40B4-BE49-F238E27FC236}">
                <a16:creationId xmlns:a16="http://schemas.microsoft.com/office/drawing/2014/main" id="{4F12BFD9-B7A4-EF4A-9577-365E58A8A4DB}"/>
              </a:ext>
            </a:extLst>
          </p:cNvPr>
          <p:cNvSpPr/>
          <p:nvPr/>
        </p:nvSpPr>
        <p:spPr>
          <a:xfrm>
            <a:off x="807279" y="1874520"/>
            <a:ext cx="5414478" cy="1234440"/>
          </a:xfrm>
          <a:prstGeom prst="rect">
            <a:avLst/>
          </a:prstGeom>
          <a:noFill/>
          <a:ln/>
        </p:spPr>
        <p:txBody>
          <a:bodyPr wrap="square" lIns="254" tIns="254" rIns="254" bIns="254" rtlCol="0" anchor="ctr">
            <a:normAutofit/>
          </a:bodyPr>
          <a:lstStyle/>
          <a:p>
            <a:r>
              <a:rPr lang="en-US" sz="1300" dirty="0" err="1">
                <a:solidFill>
                  <a:srgbClr val="1F2528"/>
                </a:solidFill>
                <a:latin typeface="Aptos" pitchFamily="34" charset="0"/>
              </a:rPr>
              <a:t>Piczak’s</a:t>
            </a:r>
            <a:r>
              <a:rPr lang="en-US" sz="1300" dirty="0">
                <a:solidFill>
                  <a:srgbClr val="1F2528"/>
                </a:solidFill>
                <a:latin typeface="Aptos" pitchFamily="34" charset="0"/>
              </a:rPr>
              <a:t> 2015 model converts each 5-second ESC-50 audio clip into log-</a:t>
            </a:r>
            <a:r>
              <a:rPr lang="en-US" sz="1300" dirty="0" err="1">
                <a:solidFill>
                  <a:srgbClr val="1F2528"/>
                </a:solidFill>
                <a:latin typeface="Aptos" pitchFamily="34" charset="0"/>
              </a:rPr>
              <a:t>mel</a:t>
            </a:r>
            <a:r>
              <a:rPr lang="en-US" sz="1300" dirty="0">
                <a:solidFill>
                  <a:srgbClr val="1F2528"/>
                </a:solidFill>
                <a:latin typeface="Aptos" pitchFamily="34" charset="0"/>
              </a:rPr>
              <a:t> spectrogram segments, classifies those segments with a two-layer CNN trained from scratch, then aggregates segment predictions into a clip-level prediction using voting. It established a strong neural baseline for environmental sound classification.</a:t>
            </a:r>
          </a:p>
        </p:txBody>
      </p:sp>
      <p:sp>
        <p:nvSpPr>
          <p:cNvPr id="492" name="Text 485">
            <a:extLst>
              <a:ext uri="{FF2B5EF4-FFF2-40B4-BE49-F238E27FC236}">
                <a16:creationId xmlns:a16="http://schemas.microsoft.com/office/drawing/2014/main" id="{56F06144-76D2-6E75-4D50-4DC15453B6B3}"/>
              </a:ext>
            </a:extLst>
          </p:cNvPr>
          <p:cNvSpPr/>
          <p:nvPr/>
        </p:nvSpPr>
        <p:spPr>
          <a:xfrm>
            <a:off x="807279" y="1557834"/>
            <a:ext cx="1416241" cy="201168"/>
          </a:xfrm>
          <a:prstGeom prst="rect">
            <a:avLst/>
          </a:prstGeom>
          <a:noFill/>
          <a:ln/>
        </p:spPr>
        <p:txBody>
          <a:bodyPr wrap="square" lIns="0" tIns="0" rIns="0" bIns="0" rtlCol="0" anchor="t">
            <a:normAutofit/>
          </a:bodyPr>
          <a:lstStyle/>
          <a:p>
            <a:pPr marL="0" indent="0" algn="l">
              <a:lnSpc>
                <a:spcPct val="90000"/>
              </a:lnSpc>
              <a:buNone/>
            </a:pPr>
            <a:r>
              <a:rPr lang="en-US" sz="1100" b="1" dirty="0">
                <a:solidFill>
                  <a:srgbClr val="17677D"/>
                </a:solidFill>
                <a:latin typeface="Aptos" pitchFamily="34" charset="0"/>
                <a:ea typeface="Aptos" pitchFamily="34" charset="-122"/>
                <a:cs typeface="Aptos" pitchFamily="34" charset="-120"/>
              </a:rPr>
              <a:t>Experiment Summary</a:t>
            </a:r>
            <a:endParaRPr lang="en-US" sz="1100" dirty="0"/>
          </a:p>
        </p:txBody>
      </p:sp>
      <p:pic>
        <p:nvPicPr>
          <p:cNvPr id="493" name="Picture 2" descr="Cornell University Logo, symbol, meaning, history, PNG, brand">
            <a:extLst>
              <a:ext uri="{FF2B5EF4-FFF2-40B4-BE49-F238E27FC236}">
                <a16:creationId xmlns:a16="http://schemas.microsoft.com/office/drawing/2014/main" id="{81B4FE68-277B-E414-D703-024BB80D67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pic>
        <p:nvPicPr>
          <p:cNvPr id="496" name="Picture 495" descr="A diagram of a data processing process&#10;&#10;AI-generated content may be incorrect.">
            <a:extLst>
              <a:ext uri="{FF2B5EF4-FFF2-40B4-BE49-F238E27FC236}">
                <a16:creationId xmlns:a16="http://schemas.microsoft.com/office/drawing/2014/main" id="{D210B0F5-88EB-1077-0E34-75066285AF9F}"/>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788060" y="3812081"/>
            <a:ext cx="2293407" cy="2330638"/>
          </a:xfrm>
          <a:prstGeom prst="rect">
            <a:avLst/>
          </a:prstGeom>
          <a:ln>
            <a:noFill/>
          </a:ln>
        </p:spPr>
      </p:pic>
      <p:pic>
        <p:nvPicPr>
          <p:cNvPr id="498" name="Picture 497" descr="A graph of a graph with lines and numbers&#10;&#10;AI-generated content may be incorrect.">
            <a:extLst>
              <a:ext uri="{FF2B5EF4-FFF2-40B4-BE49-F238E27FC236}">
                <a16:creationId xmlns:a16="http://schemas.microsoft.com/office/drawing/2014/main" id="{CE6E4EBE-47F3-3F47-E85B-7F9A907CDD40}"/>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9382678" y="3858470"/>
            <a:ext cx="1670630" cy="1624008"/>
          </a:xfrm>
          <a:prstGeom prst="rect">
            <a:avLst/>
          </a:prstGeom>
        </p:spPr>
      </p:pic>
      <p:pic>
        <p:nvPicPr>
          <p:cNvPr id="500" name="Picture 499">
            <a:extLst>
              <a:ext uri="{FF2B5EF4-FFF2-40B4-BE49-F238E27FC236}">
                <a16:creationId xmlns:a16="http://schemas.microsoft.com/office/drawing/2014/main" id="{4960458B-EE35-283B-E677-CADB332A50A8}"/>
              </a:ext>
            </a:extLst>
          </p:cNvPr>
          <p:cNvPicPr>
            <a:picLocks noChangeAspect="1"/>
          </p:cNvPicPr>
          <p:nvPr/>
        </p:nvPicPr>
        <p:blipFill>
          <a:blip r:embed="rId6">
            <a:clrChange>
              <a:clrFrom>
                <a:srgbClr val="FFFFFE"/>
              </a:clrFrom>
              <a:clrTo>
                <a:srgbClr val="FFFFFE">
                  <a:alpha val="0"/>
                </a:srgbClr>
              </a:clrTo>
            </a:clrChange>
          </a:blip>
          <a:srcRect l="40238" b="6"/>
          <a:stretch/>
        </p:blipFill>
        <p:spPr>
          <a:xfrm>
            <a:off x="9521794" y="5722004"/>
            <a:ext cx="1670630" cy="347194"/>
          </a:xfrm>
          <a:prstGeom prst="rect">
            <a:avLst/>
          </a:prstGeom>
        </p:spPr>
      </p:pic>
      <p:sp>
        <p:nvSpPr>
          <p:cNvPr id="502" name="Rectangle 501">
            <a:extLst>
              <a:ext uri="{FF2B5EF4-FFF2-40B4-BE49-F238E27FC236}">
                <a16:creationId xmlns:a16="http://schemas.microsoft.com/office/drawing/2014/main" id="{9A3B1683-A76E-36B5-FAE8-A77EBE055D51}"/>
              </a:ext>
            </a:extLst>
          </p:cNvPr>
          <p:cNvSpPr/>
          <p:nvPr/>
        </p:nvSpPr>
        <p:spPr>
          <a:xfrm>
            <a:off x="594360" y="3244145"/>
            <a:ext cx="2383669" cy="22998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E9DCF99-AF5D-4783-4A13-56382C1897A2}"/>
              </a:ext>
            </a:extLst>
          </p:cNvPr>
          <p:cNvPicPr>
            <a:picLocks noChangeAspect="1"/>
          </p:cNvPicPr>
          <p:nvPr/>
        </p:nvPicPr>
        <p:blipFill>
          <a:blip r:embed="rId6">
            <a:clrChange>
              <a:clrFrom>
                <a:srgbClr val="FFFFFE"/>
              </a:clrFrom>
              <a:clrTo>
                <a:srgbClr val="FFFFFE">
                  <a:alpha val="0"/>
                </a:srgbClr>
              </a:clrTo>
            </a:clrChange>
          </a:blip>
          <a:srcRect r="60262"/>
          <a:stretch/>
        </p:blipFill>
        <p:spPr>
          <a:xfrm>
            <a:off x="9553199" y="5458432"/>
            <a:ext cx="1110884" cy="3472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5EF"/>
        </a:solidFill>
        <a:effectLst/>
      </p:bgPr>
    </p:bg>
    <p:spTree>
      <p:nvGrpSpPr>
        <p:cNvPr id="1" name=""/>
        <p:cNvGrpSpPr/>
        <p:nvPr/>
      </p:nvGrpSpPr>
      <p:grpSpPr>
        <a:xfrm>
          <a:off x="0" y="0"/>
          <a:ext cx="0" cy="0"/>
          <a:chOff x="0" y="0"/>
          <a:chExt cx="0" cy="0"/>
        </a:xfrm>
      </p:grpSpPr>
      <p:sp>
        <p:nvSpPr>
          <p:cNvPr id="5" name="Shape 25">
            <a:extLst>
              <a:ext uri="{FF2B5EF4-FFF2-40B4-BE49-F238E27FC236}">
                <a16:creationId xmlns:a16="http://schemas.microsoft.com/office/drawing/2014/main" id="{3AE7F568-CD5E-5BD6-461E-3E0DB62405DA}"/>
              </a:ext>
            </a:extLst>
          </p:cNvPr>
          <p:cNvSpPr/>
          <p:nvPr/>
        </p:nvSpPr>
        <p:spPr>
          <a:xfrm>
            <a:off x="9550658" y="750101"/>
            <a:ext cx="1755200"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FIRST TECHNICAL ERA</a:t>
            </a:r>
            <a:endParaRPr lang="en-US" sz="880" dirty="0"/>
          </a:p>
        </p:txBody>
      </p:sp>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Era 1: training from scratch</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868680" y="1417320"/>
            <a:ext cx="1280160" cy="201168"/>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426E9E"/>
                </a:solidFill>
                <a:latin typeface="Aptos" pitchFamily="34" charset="0"/>
                <a:ea typeface="Aptos" pitchFamily="34" charset="-122"/>
                <a:cs typeface="Aptos" pitchFamily="34" charset="-120"/>
              </a:rPr>
              <a:t>Constraint</a:t>
            </a:r>
            <a:endParaRPr lang="en-US" sz="1000" dirty="0"/>
          </a:p>
        </p:txBody>
      </p:sp>
      <p:sp>
        <p:nvSpPr>
          <p:cNvPr id="12" name="Text 10"/>
          <p:cNvSpPr/>
          <p:nvPr/>
        </p:nvSpPr>
        <p:spPr>
          <a:xfrm>
            <a:off x="868680" y="1700784"/>
            <a:ext cx="5303520" cy="438912"/>
          </a:xfrm>
          <a:prstGeom prst="rect">
            <a:avLst/>
          </a:prstGeom>
          <a:noFill/>
          <a:ln/>
        </p:spPr>
        <p:txBody>
          <a:bodyPr wrap="square" lIns="0" tIns="0" rIns="0" bIns="0" rtlCol="0" anchor="t">
            <a:normAutofit fontScale="77500" lnSpcReduction="20000"/>
          </a:bodyPr>
          <a:lstStyle/>
          <a:p>
            <a:pPr marL="0" indent="0" algn="l">
              <a:lnSpc>
                <a:spcPct val="90000"/>
              </a:lnSpc>
              <a:buNone/>
            </a:pPr>
            <a:r>
              <a:rPr lang="en-US" sz="2300" b="1" dirty="0">
                <a:solidFill>
                  <a:srgbClr val="1F2528"/>
                </a:solidFill>
                <a:latin typeface="Aptos Display" pitchFamily="34" charset="0"/>
                <a:ea typeface="Aptos Display" pitchFamily="34" charset="-122"/>
                <a:cs typeface="Aptos Display" pitchFamily="34" charset="-120"/>
              </a:rPr>
              <a:t>All useful audio knowledge must be learned from ESC-50.</a:t>
            </a:r>
            <a:endParaRPr lang="en-US" sz="2300" dirty="0"/>
          </a:p>
        </p:txBody>
      </p:sp>
      <p:sp>
        <p:nvSpPr>
          <p:cNvPr id="13" name="Shape 11"/>
          <p:cNvSpPr/>
          <p:nvPr/>
        </p:nvSpPr>
        <p:spPr>
          <a:xfrm>
            <a:off x="932688" y="2788920"/>
            <a:ext cx="2286000" cy="1005840"/>
          </a:xfrm>
          <a:prstGeom prst="rect">
            <a:avLst/>
          </a:prstGeom>
          <a:solidFill>
            <a:srgbClr val="FFFFFF"/>
          </a:solidFill>
          <a:ln w="15240">
            <a:solidFill>
              <a:srgbClr val="426E9E"/>
            </a:solidFill>
            <a:prstDash val="solid"/>
          </a:ln>
        </p:spPr>
        <p:txBody>
          <a:bodyPr/>
          <a:lstStyle/>
          <a:p>
            <a:endParaRPr lang="en-US"/>
          </a:p>
        </p:txBody>
      </p:sp>
      <p:sp>
        <p:nvSpPr>
          <p:cNvPr id="14" name="Text 12"/>
          <p:cNvSpPr/>
          <p:nvPr/>
        </p:nvSpPr>
        <p:spPr>
          <a:xfrm>
            <a:off x="1115568" y="2999232"/>
            <a:ext cx="1920240" cy="411480"/>
          </a:xfrm>
          <a:prstGeom prst="rect">
            <a:avLst/>
          </a:prstGeom>
          <a:noFill/>
          <a:ln/>
        </p:spPr>
        <p:txBody>
          <a:bodyPr wrap="square" lIns="0" tIns="0" rIns="0" bIns="0" rtlCol="0" anchor="t">
            <a:normAutofit lnSpcReduction="10000"/>
          </a:bodyPr>
          <a:lstStyle/>
          <a:p>
            <a:pPr marL="0" indent="0" algn="ctr">
              <a:lnSpc>
                <a:spcPct val="90000"/>
              </a:lnSpc>
              <a:buNone/>
            </a:pPr>
            <a:r>
              <a:rPr lang="en-US" sz="1600" b="1" dirty="0">
                <a:solidFill>
                  <a:srgbClr val="426E9E"/>
                </a:solidFill>
                <a:latin typeface="Aptos" pitchFamily="34" charset="0"/>
                <a:ea typeface="Aptos" pitchFamily="34" charset="-122"/>
                <a:cs typeface="Aptos" pitchFamily="34" charset="-120"/>
              </a:rPr>
              <a:t>ESC-50</a:t>
            </a:r>
            <a:endParaRPr lang="en-US" sz="1600" dirty="0"/>
          </a:p>
          <a:p>
            <a:pPr marL="0" indent="0" algn="ctr">
              <a:lnSpc>
                <a:spcPct val="90000"/>
              </a:lnSpc>
              <a:buNone/>
            </a:pPr>
            <a:r>
              <a:rPr lang="en-US" sz="1600" b="1" dirty="0">
                <a:solidFill>
                  <a:srgbClr val="426E9E"/>
                </a:solidFill>
                <a:latin typeface="Aptos" pitchFamily="34" charset="0"/>
                <a:ea typeface="Aptos" pitchFamily="34" charset="-122"/>
                <a:cs typeface="Aptos" pitchFamily="34" charset="-120"/>
              </a:rPr>
              <a:t>2,000 clips</a:t>
            </a:r>
            <a:endParaRPr lang="en-US" sz="1600" dirty="0"/>
          </a:p>
        </p:txBody>
      </p:sp>
      <p:sp>
        <p:nvSpPr>
          <p:cNvPr id="15" name="Shape 13"/>
          <p:cNvSpPr/>
          <p:nvPr/>
        </p:nvSpPr>
        <p:spPr>
          <a:xfrm>
            <a:off x="3429000" y="3291840"/>
            <a:ext cx="1143000" cy="0"/>
          </a:xfrm>
          <a:prstGeom prst="line">
            <a:avLst/>
          </a:prstGeom>
          <a:noFill/>
          <a:ln w="17780">
            <a:solidFill>
              <a:srgbClr val="BFC6C8"/>
            </a:solidFill>
            <a:prstDash val="solid"/>
            <a:tailEnd type="triangle"/>
          </a:ln>
        </p:spPr>
        <p:txBody>
          <a:bodyPr/>
          <a:lstStyle/>
          <a:p>
            <a:endParaRPr lang="en-US"/>
          </a:p>
        </p:txBody>
      </p:sp>
      <p:sp>
        <p:nvSpPr>
          <p:cNvPr id="16" name="Shape 14"/>
          <p:cNvSpPr/>
          <p:nvPr/>
        </p:nvSpPr>
        <p:spPr>
          <a:xfrm>
            <a:off x="4736592" y="2907792"/>
            <a:ext cx="1965960" cy="777240"/>
          </a:xfrm>
          <a:prstGeom prst="rect">
            <a:avLst/>
          </a:prstGeom>
          <a:solidFill>
            <a:srgbClr val="FDFDFB"/>
          </a:solidFill>
          <a:ln w="10160">
            <a:solidFill>
              <a:srgbClr val="BFC6C8"/>
            </a:solidFill>
            <a:prstDash val="solid"/>
          </a:ln>
        </p:spPr>
        <p:txBody>
          <a:bodyPr/>
          <a:lstStyle/>
          <a:p>
            <a:endParaRPr lang="en-US"/>
          </a:p>
        </p:txBody>
      </p:sp>
      <p:sp>
        <p:nvSpPr>
          <p:cNvPr id="17" name="Text 15"/>
          <p:cNvSpPr/>
          <p:nvPr/>
        </p:nvSpPr>
        <p:spPr>
          <a:xfrm>
            <a:off x="4809744" y="3223260"/>
            <a:ext cx="1819656" cy="164592"/>
          </a:xfrm>
          <a:prstGeom prst="rect">
            <a:avLst/>
          </a:prstGeom>
          <a:noFill/>
          <a:ln/>
        </p:spPr>
        <p:txBody>
          <a:bodyPr wrap="square" lIns="0" tIns="0" rIns="0" bIns="0" rtlCol="0" anchor="ctr">
            <a:normAutofit/>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Feature learning</a:t>
            </a:r>
            <a:endParaRPr lang="en-US" sz="1100" dirty="0"/>
          </a:p>
        </p:txBody>
      </p:sp>
      <p:sp>
        <p:nvSpPr>
          <p:cNvPr id="18" name="Shape 16"/>
          <p:cNvSpPr/>
          <p:nvPr/>
        </p:nvSpPr>
        <p:spPr>
          <a:xfrm>
            <a:off x="6812280" y="3291840"/>
            <a:ext cx="1005840" cy="0"/>
          </a:xfrm>
          <a:prstGeom prst="line">
            <a:avLst/>
          </a:prstGeom>
          <a:noFill/>
          <a:ln w="17780">
            <a:solidFill>
              <a:srgbClr val="BFC6C8"/>
            </a:solidFill>
            <a:prstDash val="solid"/>
            <a:tailEnd type="triangle"/>
          </a:ln>
        </p:spPr>
        <p:txBody>
          <a:bodyPr/>
          <a:lstStyle/>
          <a:p>
            <a:endParaRPr lang="en-US"/>
          </a:p>
        </p:txBody>
      </p:sp>
      <p:sp>
        <p:nvSpPr>
          <p:cNvPr id="19" name="Shape 17"/>
          <p:cNvSpPr/>
          <p:nvPr/>
        </p:nvSpPr>
        <p:spPr>
          <a:xfrm>
            <a:off x="7973568" y="2907792"/>
            <a:ext cx="1965960" cy="777240"/>
          </a:xfrm>
          <a:prstGeom prst="rect">
            <a:avLst/>
          </a:prstGeom>
          <a:solidFill>
            <a:srgbClr val="FDFDFB"/>
          </a:solidFill>
          <a:ln w="10160">
            <a:solidFill>
              <a:srgbClr val="BFC6C8"/>
            </a:solidFill>
            <a:prstDash val="solid"/>
          </a:ln>
        </p:spPr>
        <p:txBody>
          <a:bodyPr/>
          <a:lstStyle/>
          <a:p>
            <a:endParaRPr lang="en-US"/>
          </a:p>
        </p:txBody>
      </p:sp>
      <p:sp>
        <p:nvSpPr>
          <p:cNvPr id="20" name="Text 18"/>
          <p:cNvSpPr/>
          <p:nvPr/>
        </p:nvSpPr>
        <p:spPr>
          <a:xfrm>
            <a:off x="8046720" y="3223260"/>
            <a:ext cx="1819656" cy="164592"/>
          </a:xfrm>
          <a:prstGeom prst="rect">
            <a:avLst/>
          </a:prstGeom>
          <a:noFill/>
          <a:ln/>
        </p:spPr>
        <p:txBody>
          <a:bodyPr wrap="square" lIns="0" tIns="0" rIns="0" bIns="0" rtlCol="0" anchor="ctr">
            <a:normAutofit/>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Classifier</a:t>
            </a:r>
            <a:endParaRPr lang="en-US" sz="1100" dirty="0"/>
          </a:p>
        </p:txBody>
      </p:sp>
      <p:sp>
        <p:nvSpPr>
          <p:cNvPr id="29" name="Text 27"/>
          <p:cNvSpPr/>
          <p:nvPr/>
        </p:nvSpPr>
        <p:spPr>
          <a:xfrm>
            <a:off x="868680" y="4434841"/>
            <a:ext cx="4206240" cy="566928"/>
          </a:xfrm>
          <a:prstGeom prst="rect">
            <a:avLst/>
          </a:prstGeom>
          <a:noFill/>
          <a:ln/>
        </p:spPr>
        <p:txBody>
          <a:bodyPr wrap="square" lIns="0" tIns="0" rIns="0" bIns="0" rtlCol="0" anchor="t">
            <a:normAutofit/>
          </a:bodyPr>
          <a:lstStyle/>
          <a:p>
            <a:pPr marL="0" indent="0" algn="l">
              <a:lnSpc>
                <a:spcPct val="90000"/>
              </a:lnSpc>
              <a:buNone/>
            </a:pPr>
            <a:r>
              <a:rPr lang="en-US" sz="1500" b="1" dirty="0">
                <a:solidFill>
                  <a:srgbClr val="30383D"/>
                </a:solidFill>
                <a:latin typeface="Aptos Display" pitchFamily="34" charset="0"/>
                <a:ea typeface="Aptos Display" pitchFamily="34" charset="-122"/>
                <a:cs typeface="Aptos Display" pitchFamily="34" charset="-120"/>
              </a:rPr>
              <a:t>This era establishes what small labeled audio data can support before importing external knowledge.</a:t>
            </a:r>
            <a:endParaRPr lang="en-US" sz="1500" dirty="0"/>
          </a:p>
        </p:txBody>
      </p:sp>
      <p:sp>
        <p:nvSpPr>
          <p:cNvPr id="30" name="Text 28"/>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04</a:t>
            </a:r>
            <a:endParaRPr lang="en-US" sz="750" dirty="0"/>
          </a:p>
        </p:txBody>
      </p:sp>
      <p:pic>
        <p:nvPicPr>
          <p:cNvPr id="38" name="Picture 2" descr="Cornell University Logo, symbol, meaning, history, PNG, brand">
            <a:extLst>
              <a:ext uri="{FF2B5EF4-FFF2-40B4-BE49-F238E27FC236}">
                <a16:creationId xmlns:a16="http://schemas.microsoft.com/office/drawing/2014/main" id="{00119E58-1EB2-4D7F-C4A5-63A236FDB73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39" name="Shape 19">
            <a:extLst>
              <a:ext uri="{FF2B5EF4-FFF2-40B4-BE49-F238E27FC236}">
                <a16:creationId xmlns:a16="http://schemas.microsoft.com/office/drawing/2014/main" id="{542DCAE2-842E-6FFD-C0D9-9ADB8EE17C0E}"/>
              </a:ext>
            </a:extLst>
          </p:cNvPr>
          <p:cNvSpPr/>
          <p:nvPr/>
        </p:nvSpPr>
        <p:spPr>
          <a:xfrm>
            <a:off x="6237447" y="751408"/>
            <a:ext cx="1809206" cy="295381"/>
          </a:xfrm>
          <a:prstGeom prst="chevron">
            <a:avLst/>
          </a:prstGeom>
          <a:solidFill>
            <a:srgbClr val="426E9E"/>
          </a:solidFill>
          <a:ln w="12700">
            <a:solidFill>
              <a:srgbClr val="F7F5EF"/>
            </a:solidFill>
            <a:prstDash val="solid"/>
          </a:ln>
        </p:spPr>
        <p:txBody>
          <a:bodyPr/>
          <a:lstStyle/>
          <a:p>
            <a:endParaRPr lang="en-US" sz="1100" dirty="0"/>
          </a:p>
        </p:txBody>
      </p:sp>
      <p:sp>
        <p:nvSpPr>
          <p:cNvPr id="40" name="Text 20">
            <a:extLst>
              <a:ext uri="{FF2B5EF4-FFF2-40B4-BE49-F238E27FC236}">
                <a16:creationId xmlns:a16="http://schemas.microsoft.com/office/drawing/2014/main" id="{994F063A-D545-131C-BE07-6246FFACAD72}"/>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FFFFFF"/>
                </a:solidFill>
                <a:latin typeface="Aptos" pitchFamily="34" charset="0"/>
                <a:ea typeface="Aptos" pitchFamily="34" charset="-122"/>
                <a:cs typeface="Aptos" pitchFamily="34" charset="-120"/>
              </a:rPr>
              <a:t>Training from scratch</a:t>
            </a:r>
            <a:endParaRPr lang="en-US" sz="700" dirty="0"/>
          </a:p>
        </p:txBody>
      </p:sp>
      <p:sp>
        <p:nvSpPr>
          <p:cNvPr id="41" name="Text 21">
            <a:extLst>
              <a:ext uri="{FF2B5EF4-FFF2-40B4-BE49-F238E27FC236}">
                <a16:creationId xmlns:a16="http://schemas.microsoft.com/office/drawing/2014/main" id="{28254494-31E4-D07A-F95D-29721EB63A7E}"/>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D9D9D9"/>
                </a:solidFill>
                <a:latin typeface="Aptos" pitchFamily="34" charset="0"/>
              </a:rPr>
              <a:t>Piczak</a:t>
            </a:r>
            <a:r>
              <a:rPr lang="en-US" sz="500" dirty="0">
                <a:solidFill>
                  <a:srgbClr val="D9D9D9"/>
                </a:solidFill>
                <a:latin typeface="Aptos" pitchFamily="34" charset="0"/>
              </a:rPr>
              <a:t> CNN | Variations </a:t>
            </a:r>
            <a:r>
              <a:rPr lang="en-US" sz="500" dirty="0">
                <a:solidFill>
                  <a:srgbClr val="D9D9D9"/>
                </a:solidFill>
                <a:latin typeface="Aptos" pitchFamily="34" charset="0"/>
                <a:ea typeface="Aptos" pitchFamily="34" charset="-122"/>
                <a:cs typeface="Aptos" pitchFamily="34" charset="-120"/>
              </a:rPr>
              <a:t>| LSTM</a:t>
            </a:r>
            <a:endParaRPr lang="en-US" sz="500" dirty="0">
              <a:solidFill>
                <a:srgbClr val="D9D9D9"/>
              </a:solidFill>
            </a:endParaRPr>
          </a:p>
        </p:txBody>
      </p:sp>
      <p:sp>
        <p:nvSpPr>
          <p:cNvPr id="42" name="Shape 22">
            <a:extLst>
              <a:ext uri="{FF2B5EF4-FFF2-40B4-BE49-F238E27FC236}">
                <a16:creationId xmlns:a16="http://schemas.microsoft.com/office/drawing/2014/main" id="{0D1201FC-1605-57E2-36E2-4A154E67F7C0}"/>
              </a:ext>
            </a:extLst>
          </p:cNvPr>
          <p:cNvSpPr/>
          <p:nvPr/>
        </p:nvSpPr>
        <p:spPr>
          <a:xfrm>
            <a:off x="7891484" y="750102"/>
            <a:ext cx="1809206"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43" name="Text 23">
            <a:extLst>
              <a:ext uri="{FF2B5EF4-FFF2-40B4-BE49-F238E27FC236}">
                <a16:creationId xmlns:a16="http://schemas.microsoft.com/office/drawing/2014/main" id="{A942D550-9AB4-6A9B-2F77-07F2080E8F54}"/>
              </a:ext>
            </a:extLst>
          </p:cNvPr>
          <p:cNvSpPr/>
          <p:nvPr/>
        </p:nvSpPr>
        <p:spPr>
          <a:xfrm>
            <a:off x="7963330" y="839252"/>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CNN</a:t>
            </a:r>
            <a:endParaRPr lang="en-US" sz="700" dirty="0"/>
          </a:p>
        </p:txBody>
      </p:sp>
      <p:sp>
        <p:nvSpPr>
          <p:cNvPr id="44" name="Text 24">
            <a:extLst>
              <a:ext uri="{FF2B5EF4-FFF2-40B4-BE49-F238E27FC236}">
                <a16:creationId xmlns:a16="http://schemas.microsoft.com/office/drawing/2014/main" id="{DC838243-2117-3706-BB93-9696F27C77D9}"/>
              </a:ext>
            </a:extLst>
          </p:cNvPr>
          <p:cNvSpPr/>
          <p:nvPr/>
        </p:nvSpPr>
        <p:spPr>
          <a:xfrm>
            <a:off x="7984136" y="941012"/>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VGGish | YAMNet</a:t>
            </a:r>
            <a:endParaRPr lang="en-US" sz="500" dirty="0"/>
          </a:p>
        </p:txBody>
      </p:sp>
      <p:sp>
        <p:nvSpPr>
          <p:cNvPr id="46" name="Text 26">
            <a:extLst>
              <a:ext uri="{FF2B5EF4-FFF2-40B4-BE49-F238E27FC236}">
                <a16:creationId xmlns:a16="http://schemas.microsoft.com/office/drawing/2014/main" id="{3CFCCBE6-76B2-DCDC-671C-B9F9E353B5AC}"/>
              </a:ext>
            </a:extLst>
          </p:cNvPr>
          <p:cNvSpPr/>
          <p:nvPr/>
        </p:nvSpPr>
        <p:spPr>
          <a:xfrm>
            <a:off x="9657605" y="848441"/>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transformers</a:t>
            </a:r>
            <a:endParaRPr lang="en-US" sz="700" dirty="0"/>
          </a:p>
        </p:txBody>
      </p:sp>
      <p:sp>
        <p:nvSpPr>
          <p:cNvPr id="47" name="Text 27">
            <a:extLst>
              <a:ext uri="{FF2B5EF4-FFF2-40B4-BE49-F238E27FC236}">
                <a16:creationId xmlns:a16="http://schemas.microsoft.com/office/drawing/2014/main" id="{2ED423B7-FF86-9200-B884-1F50FCB3D06F}"/>
              </a:ext>
            </a:extLst>
          </p:cNvPr>
          <p:cNvSpPr/>
          <p:nvPr/>
        </p:nvSpPr>
        <p:spPr>
          <a:xfrm>
            <a:off x="9657605" y="944489"/>
            <a:ext cx="1662902" cy="107931"/>
          </a:xfrm>
          <a:prstGeom prst="rect">
            <a:avLst/>
          </a:prstGeom>
          <a:noFill/>
          <a:ln/>
        </p:spPr>
        <p:txBody>
          <a:bodyPr wrap="square" lIns="0" tIns="0" rIns="0" bIns="0" rtlCol="0" anchor="t">
            <a:normAutofit/>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AST | BEATs</a:t>
            </a:r>
            <a:endParaRPr lang="en-US" sz="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5EF"/>
        </a:solidFill>
        <a:effectLst/>
      </p:bgPr>
    </p:bg>
    <p:spTree>
      <p:nvGrpSpPr>
        <p:cNvPr id="1" name=""/>
        <p:cNvGrpSpPr/>
        <p:nvPr/>
      </p:nvGrpSpPr>
      <p:grpSpPr>
        <a:xfrm>
          <a:off x="0" y="0"/>
          <a:ext cx="0" cy="0"/>
          <a:chOff x="0" y="0"/>
          <a:chExt cx="0" cy="0"/>
        </a:xfrm>
      </p:grpSpPr>
      <p:sp>
        <p:nvSpPr>
          <p:cNvPr id="5" name="Shape 25">
            <a:extLst>
              <a:ext uri="{FF2B5EF4-FFF2-40B4-BE49-F238E27FC236}">
                <a16:creationId xmlns:a16="http://schemas.microsoft.com/office/drawing/2014/main" id="{97735F49-CC80-E67F-2BF4-B53533E76338}"/>
              </a:ext>
            </a:extLst>
          </p:cNvPr>
          <p:cNvSpPr/>
          <p:nvPr/>
        </p:nvSpPr>
        <p:spPr>
          <a:xfrm>
            <a:off x="9550658" y="750101"/>
            <a:ext cx="1755200"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ERA 1: TRAINING FROM SCRATCH</a:t>
            </a:r>
            <a:endParaRPr lang="en-US" sz="880" dirty="0"/>
          </a:p>
        </p:txBody>
      </p:sp>
      <p:sp>
        <p:nvSpPr>
          <p:cNvPr id="3" name="Text 1"/>
          <p:cNvSpPr/>
          <p:nvPr/>
        </p:nvSpPr>
        <p:spPr>
          <a:xfrm>
            <a:off x="566928" y="512064"/>
            <a:ext cx="5555413"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Piczak CNN baseline</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05</a:t>
            </a:r>
            <a:endParaRPr lang="en-US" sz="750" dirty="0"/>
          </a:p>
        </p:txBody>
      </p:sp>
      <p:sp>
        <p:nvSpPr>
          <p:cNvPr id="13" name="Text 11"/>
          <p:cNvSpPr/>
          <p:nvPr/>
        </p:nvSpPr>
        <p:spPr>
          <a:xfrm>
            <a:off x="731520" y="2377916"/>
            <a:ext cx="2926080" cy="182880"/>
          </a:xfrm>
          <a:prstGeom prst="rect">
            <a:avLst/>
          </a:prstGeom>
          <a:noFill/>
          <a:ln>
            <a:noFill/>
          </a:ln>
        </p:spPr>
        <p:txBody>
          <a:bodyPr wrap="square" lIns="0" tIns="0" rIns="0" bIns="0" rtlCol="0" anchor="t">
            <a:normAutofit/>
          </a:bodyPr>
          <a:lstStyle/>
          <a:p>
            <a:pPr>
              <a:lnSpc>
                <a:spcPct val="90000"/>
              </a:lnSpc>
            </a:pPr>
            <a:r>
              <a:rPr lang="en-US" sz="1000" b="1" dirty="0" err="1">
                <a:solidFill>
                  <a:srgbClr val="426E9E"/>
                </a:solidFill>
                <a:latin typeface="Aptos" pitchFamily="34" charset="0"/>
              </a:rPr>
              <a:t>Piczak</a:t>
            </a:r>
            <a:r>
              <a:rPr lang="en-US" sz="1000" b="1" dirty="0">
                <a:solidFill>
                  <a:srgbClr val="426E9E"/>
                </a:solidFill>
                <a:latin typeface="Aptos" pitchFamily="34" charset="0"/>
              </a:rPr>
              <a:t> Model Architecture</a:t>
            </a:r>
          </a:p>
        </p:txBody>
      </p:sp>
      <p:sp>
        <p:nvSpPr>
          <p:cNvPr id="50" name="Shape 48"/>
          <p:cNvSpPr/>
          <p:nvPr/>
        </p:nvSpPr>
        <p:spPr>
          <a:xfrm>
            <a:off x="6957490" y="4123666"/>
            <a:ext cx="2011680" cy="772294"/>
          </a:xfrm>
          <a:prstGeom prst="rect">
            <a:avLst/>
          </a:prstGeom>
          <a:solidFill>
            <a:srgbClr val="FFFFFF">
              <a:alpha val="98000"/>
            </a:srgbClr>
          </a:solidFill>
          <a:ln w="17780">
            <a:solidFill>
              <a:schemeClr val="tx1">
                <a:lumMod val="75000"/>
                <a:lumOff val="25000"/>
              </a:schemeClr>
            </a:solidFill>
            <a:prstDash val="solid"/>
          </a:ln>
        </p:spPr>
        <p:txBody>
          <a:bodyPr/>
          <a:lstStyle/>
          <a:p>
            <a:endParaRPr lang="en-US"/>
          </a:p>
        </p:txBody>
      </p:sp>
      <p:sp>
        <p:nvSpPr>
          <p:cNvPr id="51" name="Text 49"/>
          <p:cNvSpPr/>
          <p:nvPr/>
        </p:nvSpPr>
        <p:spPr>
          <a:xfrm>
            <a:off x="7048930" y="4260826"/>
            <a:ext cx="18288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chemeClr val="tx1">
                    <a:lumMod val="75000"/>
                    <a:lumOff val="25000"/>
                  </a:schemeClr>
                </a:solidFill>
                <a:latin typeface="Aptos Display" pitchFamily="34" charset="0"/>
                <a:ea typeface="Aptos Display" pitchFamily="34" charset="-122"/>
                <a:cs typeface="Aptos Display" pitchFamily="34" charset="-120"/>
              </a:rPr>
              <a:t>64.5%</a:t>
            </a:r>
            <a:endParaRPr lang="en-US" sz="2100" dirty="0">
              <a:solidFill>
                <a:schemeClr val="tx1">
                  <a:lumMod val="75000"/>
                  <a:lumOff val="25000"/>
                </a:schemeClr>
              </a:solidFill>
            </a:endParaRPr>
          </a:p>
        </p:txBody>
      </p:sp>
      <p:sp>
        <p:nvSpPr>
          <p:cNvPr id="52" name="Text 50"/>
          <p:cNvSpPr/>
          <p:nvPr/>
        </p:nvSpPr>
        <p:spPr>
          <a:xfrm>
            <a:off x="7067218" y="4654018"/>
            <a:ext cx="17922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Piczak published LP clip-level reference</a:t>
            </a:r>
            <a:endParaRPr lang="en-US" sz="780" dirty="0"/>
          </a:p>
        </p:txBody>
      </p:sp>
      <p:sp>
        <p:nvSpPr>
          <p:cNvPr id="53" name="Shape 51"/>
          <p:cNvSpPr/>
          <p:nvPr/>
        </p:nvSpPr>
        <p:spPr>
          <a:xfrm>
            <a:off x="9216058" y="4123666"/>
            <a:ext cx="1828800" cy="772294"/>
          </a:xfrm>
          <a:prstGeom prst="rect">
            <a:avLst/>
          </a:prstGeom>
          <a:solidFill>
            <a:srgbClr val="FFFFFF">
              <a:alpha val="98000"/>
            </a:srgbClr>
          </a:solidFill>
          <a:ln w="17780">
            <a:solidFill>
              <a:srgbClr val="426E9E"/>
            </a:solidFill>
            <a:prstDash val="solid"/>
          </a:ln>
        </p:spPr>
        <p:txBody>
          <a:bodyPr/>
          <a:lstStyle/>
          <a:p>
            <a:endParaRPr lang="en-US"/>
          </a:p>
        </p:txBody>
      </p:sp>
      <p:sp>
        <p:nvSpPr>
          <p:cNvPr id="54" name="Text 52"/>
          <p:cNvSpPr/>
          <p:nvPr/>
        </p:nvSpPr>
        <p:spPr>
          <a:xfrm>
            <a:off x="9307498" y="4260826"/>
            <a:ext cx="164592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426E9E"/>
                </a:solidFill>
                <a:latin typeface="Aptos Display" pitchFamily="34" charset="0"/>
                <a:ea typeface="Aptos Display" pitchFamily="34" charset="-122"/>
                <a:cs typeface="Aptos Display" pitchFamily="34" charset="-120"/>
              </a:rPr>
              <a:t>63.5%</a:t>
            </a:r>
            <a:endParaRPr lang="en-US" sz="2100" dirty="0"/>
          </a:p>
        </p:txBody>
      </p:sp>
      <p:sp>
        <p:nvSpPr>
          <p:cNvPr id="55" name="Text 53"/>
          <p:cNvSpPr/>
          <p:nvPr/>
        </p:nvSpPr>
        <p:spPr>
          <a:xfrm>
            <a:off x="9325786" y="4654018"/>
            <a:ext cx="160934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Baseline Replication</a:t>
            </a:r>
            <a:endParaRPr lang="en-US" sz="780" dirty="0"/>
          </a:p>
        </p:txBody>
      </p:sp>
      <p:sp>
        <p:nvSpPr>
          <p:cNvPr id="57" name="Text 55"/>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05</a:t>
            </a:r>
            <a:endParaRPr lang="en-US" sz="750" dirty="0"/>
          </a:p>
        </p:txBody>
      </p:sp>
      <p:pic>
        <p:nvPicPr>
          <p:cNvPr id="65" name="Picture 2" descr="Cornell University Logo, symbol, meaning, history, PNG, brand">
            <a:extLst>
              <a:ext uri="{FF2B5EF4-FFF2-40B4-BE49-F238E27FC236}">
                <a16:creationId xmlns:a16="http://schemas.microsoft.com/office/drawing/2014/main" id="{C25CD2BE-7817-206E-1F06-E1ADB2C117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66" name="Shape 19">
            <a:extLst>
              <a:ext uri="{FF2B5EF4-FFF2-40B4-BE49-F238E27FC236}">
                <a16:creationId xmlns:a16="http://schemas.microsoft.com/office/drawing/2014/main" id="{E83816CA-4F3B-F6FD-061B-01F6FE1D8F6C}"/>
              </a:ext>
            </a:extLst>
          </p:cNvPr>
          <p:cNvSpPr/>
          <p:nvPr/>
        </p:nvSpPr>
        <p:spPr>
          <a:xfrm>
            <a:off x="6237447" y="751408"/>
            <a:ext cx="1809206" cy="295381"/>
          </a:xfrm>
          <a:prstGeom prst="chevron">
            <a:avLst/>
          </a:prstGeom>
          <a:solidFill>
            <a:srgbClr val="426E9E"/>
          </a:solidFill>
          <a:ln w="12700">
            <a:solidFill>
              <a:srgbClr val="F7F5EF"/>
            </a:solidFill>
            <a:prstDash val="solid"/>
          </a:ln>
        </p:spPr>
        <p:txBody>
          <a:bodyPr/>
          <a:lstStyle/>
          <a:p>
            <a:endParaRPr lang="en-US" sz="1100" dirty="0"/>
          </a:p>
        </p:txBody>
      </p:sp>
      <p:sp>
        <p:nvSpPr>
          <p:cNvPr id="67" name="Text 20">
            <a:extLst>
              <a:ext uri="{FF2B5EF4-FFF2-40B4-BE49-F238E27FC236}">
                <a16:creationId xmlns:a16="http://schemas.microsoft.com/office/drawing/2014/main" id="{413D12D4-8132-E24E-FD31-A7E441C1FBE3}"/>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FFFFFF"/>
                </a:solidFill>
                <a:latin typeface="Aptos" pitchFamily="34" charset="0"/>
                <a:ea typeface="Aptos" pitchFamily="34" charset="-122"/>
                <a:cs typeface="Aptos" pitchFamily="34" charset="-120"/>
              </a:rPr>
              <a:t>Training from scratch</a:t>
            </a:r>
            <a:endParaRPr lang="en-US" sz="700" dirty="0"/>
          </a:p>
        </p:txBody>
      </p:sp>
      <p:sp>
        <p:nvSpPr>
          <p:cNvPr id="68" name="Text 21">
            <a:extLst>
              <a:ext uri="{FF2B5EF4-FFF2-40B4-BE49-F238E27FC236}">
                <a16:creationId xmlns:a16="http://schemas.microsoft.com/office/drawing/2014/main" id="{18EFBBBB-3CF4-717D-5C25-509362FF8D1E}"/>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b="1" dirty="0" err="1">
                <a:solidFill>
                  <a:srgbClr val="FFFFFF"/>
                </a:solidFill>
                <a:latin typeface="Aptos" pitchFamily="34" charset="0"/>
              </a:rPr>
              <a:t>Piczak</a:t>
            </a:r>
            <a:r>
              <a:rPr lang="en-US" sz="500" b="1" dirty="0">
                <a:solidFill>
                  <a:srgbClr val="FFFFFF"/>
                </a:solidFill>
                <a:latin typeface="Aptos" pitchFamily="34" charset="0"/>
              </a:rPr>
              <a:t> CNN</a:t>
            </a:r>
            <a:r>
              <a:rPr lang="en-US" sz="500" dirty="0">
                <a:solidFill>
                  <a:srgbClr val="D9D9D9"/>
                </a:solidFill>
                <a:latin typeface="Aptos" pitchFamily="34" charset="0"/>
              </a:rPr>
              <a:t> | Variations </a:t>
            </a:r>
            <a:r>
              <a:rPr lang="en-US" sz="500" dirty="0">
                <a:solidFill>
                  <a:srgbClr val="D9D9D9"/>
                </a:solidFill>
                <a:latin typeface="Aptos" pitchFamily="34" charset="0"/>
                <a:ea typeface="Aptos" pitchFamily="34" charset="-122"/>
                <a:cs typeface="Aptos" pitchFamily="34" charset="-120"/>
              </a:rPr>
              <a:t>| LSTM</a:t>
            </a:r>
            <a:endParaRPr lang="en-US" sz="500" dirty="0">
              <a:solidFill>
                <a:srgbClr val="D9D9D9"/>
              </a:solidFill>
            </a:endParaRPr>
          </a:p>
        </p:txBody>
      </p:sp>
      <p:sp>
        <p:nvSpPr>
          <p:cNvPr id="69" name="Shape 22">
            <a:extLst>
              <a:ext uri="{FF2B5EF4-FFF2-40B4-BE49-F238E27FC236}">
                <a16:creationId xmlns:a16="http://schemas.microsoft.com/office/drawing/2014/main" id="{DC9119E4-629A-01A9-41A2-861B486C37B5}"/>
              </a:ext>
            </a:extLst>
          </p:cNvPr>
          <p:cNvSpPr/>
          <p:nvPr/>
        </p:nvSpPr>
        <p:spPr>
          <a:xfrm>
            <a:off x="7891484" y="750102"/>
            <a:ext cx="1809206"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70" name="Text 23">
            <a:extLst>
              <a:ext uri="{FF2B5EF4-FFF2-40B4-BE49-F238E27FC236}">
                <a16:creationId xmlns:a16="http://schemas.microsoft.com/office/drawing/2014/main" id="{AE97F5CD-CAF6-93AE-5F32-3A0B22DA47F3}"/>
              </a:ext>
            </a:extLst>
          </p:cNvPr>
          <p:cNvSpPr/>
          <p:nvPr/>
        </p:nvSpPr>
        <p:spPr>
          <a:xfrm>
            <a:off x="7963330" y="839252"/>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CNN</a:t>
            </a:r>
            <a:endParaRPr lang="en-US" sz="700" dirty="0"/>
          </a:p>
        </p:txBody>
      </p:sp>
      <p:sp>
        <p:nvSpPr>
          <p:cNvPr id="71" name="Text 24">
            <a:extLst>
              <a:ext uri="{FF2B5EF4-FFF2-40B4-BE49-F238E27FC236}">
                <a16:creationId xmlns:a16="http://schemas.microsoft.com/office/drawing/2014/main" id="{5E5C9F3B-92EF-5D32-9640-0484AF364E08}"/>
              </a:ext>
            </a:extLst>
          </p:cNvPr>
          <p:cNvSpPr/>
          <p:nvPr/>
        </p:nvSpPr>
        <p:spPr>
          <a:xfrm>
            <a:off x="7984136" y="941012"/>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VGGish | YAMNet</a:t>
            </a:r>
            <a:endParaRPr lang="en-US" sz="500" dirty="0"/>
          </a:p>
        </p:txBody>
      </p:sp>
      <p:sp>
        <p:nvSpPr>
          <p:cNvPr id="73" name="Text 26">
            <a:extLst>
              <a:ext uri="{FF2B5EF4-FFF2-40B4-BE49-F238E27FC236}">
                <a16:creationId xmlns:a16="http://schemas.microsoft.com/office/drawing/2014/main" id="{E983F73B-68E9-E20A-7974-403124188484}"/>
              </a:ext>
            </a:extLst>
          </p:cNvPr>
          <p:cNvSpPr/>
          <p:nvPr/>
        </p:nvSpPr>
        <p:spPr>
          <a:xfrm>
            <a:off x="9657605" y="848441"/>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transformers</a:t>
            </a:r>
            <a:endParaRPr lang="en-US" sz="700" dirty="0"/>
          </a:p>
        </p:txBody>
      </p:sp>
      <p:sp>
        <p:nvSpPr>
          <p:cNvPr id="74" name="Text 27">
            <a:extLst>
              <a:ext uri="{FF2B5EF4-FFF2-40B4-BE49-F238E27FC236}">
                <a16:creationId xmlns:a16="http://schemas.microsoft.com/office/drawing/2014/main" id="{719FC62E-FD44-6137-35E1-A1B5D52252EC}"/>
              </a:ext>
            </a:extLst>
          </p:cNvPr>
          <p:cNvSpPr/>
          <p:nvPr/>
        </p:nvSpPr>
        <p:spPr>
          <a:xfrm>
            <a:off x="9657605" y="944489"/>
            <a:ext cx="1662902" cy="107931"/>
          </a:xfrm>
          <a:prstGeom prst="rect">
            <a:avLst/>
          </a:prstGeom>
          <a:noFill/>
          <a:ln/>
        </p:spPr>
        <p:txBody>
          <a:bodyPr wrap="square" lIns="0" tIns="0" rIns="0" bIns="0" rtlCol="0" anchor="t">
            <a:normAutofit/>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AST | BEATs</a:t>
            </a:r>
            <a:endParaRPr lang="en-US" sz="500" dirty="0"/>
          </a:p>
        </p:txBody>
      </p:sp>
      <p:graphicFrame>
        <p:nvGraphicFramePr>
          <p:cNvPr id="77" name="Table 0">
            <a:extLst>
              <a:ext uri="{FF2B5EF4-FFF2-40B4-BE49-F238E27FC236}">
                <a16:creationId xmlns:a16="http://schemas.microsoft.com/office/drawing/2014/main" id="{D872496B-5045-EA29-731E-947CEFE0D427}"/>
              </a:ext>
            </a:extLst>
          </p:cNvPr>
          <p:cNvGraphicFramePr>
            <a:graphicFrameLocks noGrp="1"/>
          </p:cNvGraphicFramePr>
          <p:nvPr>
            <p:extLst>
              <p:ext uri="{D42A27DB-BD31-4B8C-83A1-F6EECF244321}">
                <p14:modId xmlns:p14="http://schemas.microsoft.com/office/powerpoint/2010/main" val="4227911563"/>
              </p:ext>
            </p:extLst>
          </p:nvPr>
        </p:nvGraphicFramePr>
        <p:xfrm>
          <a:off x="743871" y="2655680"/>
          <a:ext cx="4385222" cy="1821180"/>
        </p:xfrm>
        <a:graphic>
          <a:graphicData uri="http://schemas.openxmlformats.org/drawingml/2006/table">
            <a:tbl>
              <a:tblPr/>
              <a:tblGrid>
                <a:gridCol w="1046558">
                  <a:extLst>
                    <a:ext uri="{9D8B030D-6E8A-4147-A177-3AD203B41FA5}">
                      <a16:colId xmlns:a16="http://schemas.microsoft.com/office/drawing/2014/main" val="20000"/>
                    </a:ext>
                  </a:extLst>
                </a:gridCol>
                <a:gridCol w="3338664">
                  <a:extLst>
                    <a:ext uri="{9D8B030D-6E8A-4147-A177-3AD203B41FA5}">
                      <a16:colId xmlns:a16="http://schemas.microsoft.com/office/drawing/2014/main" val="20001"/>
                    </a:ext>
                  </a:extLst>
                </a:gridCol>
              </a:tblGrid>
              <a:tr h="144705">
                <a:tc>
                  <a:txBody>
                    <a:bodyPr/>
                    <a:lstStyle/>
                    <a:p>
                      <a:pPr marL="0" indent="0">
                        <a:buNone/>
                      </a:pPr>
                      <a:r>
                        <a:rPr lang="en-US" sz="1030" b="1" dirty="0">
                          <a:solidFill>
                            <a:srgbClr val="FFFFFF"/>
                          </a:solidFill>
                        </a:rPr>
                        <a:t>Step</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buNone/>
                      </a:pPr>
                      <a:r>
                        <a:rPr lang="en-US" sz="1030" b="1" dirty="0">
                          <a:solidFill>
                            <a:srgbClr val="FFFFFF"/>
                          </a:solidFill>
                        </a:rPr>
                        <a:t>Parameters / implementation</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extLst>
                  <a:ext uri="{0D108BD9-81ED-4DB2-BD59-A6C34878D82A}">
                    <a16:rowId xmlns:a16="http://schemas.microsoft.com/office/drawing/2014/main" val="10000"/>
                  </a:ext>
                </a:extLst>
              </a:tr>
              <a:tr h="0">
                <a:tc>
                  <a:txBody>
                    <a:bodyPr/>
                    <a:lstStyle/>
                    <a:p>
                      <a:pPr marL="0" indent="0">
                        <a:buNone/>
                      </a:pPr>
                      <a:r>
                        <a:rPr lang="en-US" sz="705" b="1" dirty="0">
                          <a:solidFill>
                            <a:srgbClr val="1F2528"/>
                          </a:solidFill>
                        </a:rPr>
                        <a:t>Input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ESC-50 waveform -&gt; log-mel spectrogram + delta, shape (2, 60, 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0">
                <a:tc>
                  <a:txBody>
                    <a:bodyPr/>
                    <a:lstStyle/>
                    <a:p>
                      <a:pPr marL="0" indent="0">
                        <a:buNone/>
                      </a:pPr>
                      <a:r>
                        <a:rPr lang="en-US" sz="705" b="1" dirty="0">
                          <a:solidFill>
                            <a:srgbClr val="1F2528"/>
                          </a:solidFill>
                        </a:rPr>
                        <a:t>Segments</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Short: 41 frames, hop 20; Long: 101 frames, hop 10</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0">
                <a:tc>
                  <a:txBody>
                    <a:bodyPr/>
                    <a:lstStyle/>
                    <a:p>
                      <a:pPr marL="0" indent="0">
                        <a:buNone/>
                      </a:pPr>
                      <a:r>
                        <a:rPr lang="en-US" sz="705" b="1" dirty="0">
                          <a:solidFill>
                            <a:srgbClr val="1F2528"/>
                          </a:solidFill>
                        </a:rPr>
                        <a:t>Conv block 1</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Conv2d 2-&gt;80, kernel 57x6; ReLU; Dropout 0.5; MaxPool 4x3</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0">
                <a:tc>
                  <a:txBody>
                    <a:bodyPr/>
                    <a:lstStyle/>
                    <a:p>
                      <a:pPr marL="0" indent="0">
                        <a:buNone/>
                      </a:pPr>
                      <a:r>
                        <a:rPr lang="en-US" sz="705" b="1" dirty="0">
                          <a:solidFill>
                            <a:srgbClr val="1F2528"/>
                          </a:solidFill>
                        </a:rPr>
                        <a:t>Conv block 2</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Conv2d 80-&gt;80, kernel 1x3; ReLU; MaxPool 1x3</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r h="0">
                <a:tc>
                  <a:txBody>
                    <a:bodyPr/>
                    <a:lstStyle/>
                    <a:p>
                      <a:pPr marL="0" indent="0">
                        <a:buNone/>
                      </a:pPr>
                      <a:r>
                        <a:rPr lang="en-US" sz="705" b="1" dirty="0">
                          <a:solidFill>
                            <a:srgbClr val="1F2528"/>
                          </a:solidFill>
                        </a:rPr>
                        <a:t>Dense head</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Flatten -&gt; FC 5000 ReLU Dropout -&gt; FC 5000 ReLU Dropout -&gt; FC 50</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5"/>
                  </a:ext>
                </a:extLst>
              </a:tr>
              <a:tr h="170837">
                <a:tc>
                  <a:txBody>
                    <a:bodyPr/>
                    <a:lstStyle/>
                    <a:p>
                      <a:pPr marL="0" indent="0">
                        <a:buNone/>
                      </a:pPr>
                      <a:r>
                        <a:rPr lang="en-US" sz="705" b="1" dirty="0">
                          <a:solidFill>
                            <a:srgbClr val="1F2528"/>
                          </a:solidFill>
                        </a:rPr>
                        <a:t>Optimization</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CrossEntropyLoss; SGD lr 0.002/0.01; momentum 0.9; Nesterov; weight decay 0.001</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6"/>
                  </a:ext>
                </a:extLst>
              </a:tr>
              <a:tr h="0">
                <a:tc>
                  <a:txBody>
                    <a:bodyPr/>
                    <a:lstStyle/>
                    <a:p>
                      <a:pPr marL="0" indent="0">
                        <a:buNone/>
                      </a:pPr>
                      <a:r>
                        <a:rPr lang="en-US" sz="705" b="1" dirty="0">
                          <a:solidFill>
                            <a:srgbClr val="1F2528"/>
                          </a:solidFill>
                        </a:rPr>
                        <a:t>Evaluation</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Softmax per segment; average probabilities by filename for clip-level vote</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7"/>
                  </a:ext>
                </a:extLst>
              </a:tr>
            </a:tbl>
          </a:graphicData>
        </a:graphic>
      </p:graphicFrame>
      <p:pic>
        <p:nvPicPr>
          <p:cNvPr id="6146" name="Picture 2">
            <a:extLst>
              <a:ext uri="{FF2B5EF4-FFF2-40B4-BE49-F238E27FC236}">
                <a16:creationId xmlns:a16="http://schemas.microsoft.com/office/drawing/2014/main" id="{6D8B3606-3B4D-72B8-AB36-768ADD1569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7692" y="1556753"/>
            <a:ext cx="5464127" cy="2411188"/>
          </a:xfrm>
          <a:prstGeom prst="rect">
            <a:avLst/>
          </a:prstGeom>
          <a:noFill/>
          <a:extLst>
            <a:ext uri="{909E8E84-426E-40DD-AFC4-6F175D3DCCD1}">
              <a14:hiddenFill xmlns:a14="http://schemas.microsoft.com/office/drawing/2010/main">
                <a:solidFill>
                  <a:srgbClr val="FFFFFF"/>
                </a:solidFill>
              </a14:hiddenFill>
            </a:ext>
          </a:extLst>
        </p:spPr>
      </p:pic>
      <p:sp>
        <p:nvSpPr>
          <p:cNvPr id="82" name="Text 36">
            <a:extLst>
              <a:ext uri="{FF2B5EF4-FFF2-40B4-BE49-F238E27FC236}">
                <a16:creationId xmlns:a16="http://schemas.microsoft.com/office/drawing/2014/main" id="{75040A3D-A3DD-DE79-FE2D-DE328C7F20F2}"/>
              </a:ext>
            </a:extLst>
          </p:cNvPr>
          <p:cNvSpPr/>
          <p:nvPr/>
        </p:nvSpPr>
        <p:spPr>
          <a:xfrm>
            <a:off x="731520" y="4713080"/>
            <a:ext cx="164592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426E9E"/>
                </a:solidFill>
                <a:latin typeface="Aptos" pitchFamily="34" charset="0"/>
              </a:rPr>
              <a:t>Results</a:t>
            </a:r>
          </a:p>
        </p:txBody>
      </p:sp>
      <p:sp>
        <p:nvSpPr>
          <p:cNvPr id="83" name="Text 37">
            <a:extLst>
              <a:ext uri="{FF2B5EF4-FFF2-40B4-BE49-F238E27FC236}">
                <a16:creationId xmlns:a16="http://schemas.microsoft.com/office/drawing/2014/main" id="{74AEBF92-4E48-053F-BD7A-6F0563C7AB0E}"/>
              </a:ext>
            </a:extLst>
          </p:cNvPr>
          <p:cNvSpPr/>
          <p:nvPr/>
        </p:nvSpPr>
        <p:spPr>
          <a:xfrm>
            <a:off x="731520" y="5014830"/>
            <a:ext cx="5277394" cy="1203089"/>
          </a:xfrm>
          <a:prstGeom prst="rect">
            <a:avLst/>
          </a:prstGeom>
          <a:noFill/>
          <a:ln/>
        </p:spPr>
        <p:txBody>
          <a:bodyPr wrap="square" lIns="0" tIns="0" rIns="0" bIns="0" rtlCol="0" anchor="t">
            <a:normAutofit/>
          </a:bodyPr>
          <a:lstStyle/>
          <a:p>
            <a:pPr>
              <a:lnSpc>
                <a:spcPct val="90000"/>
              </a:lnSpc>
            </a:pPr>
            <a:r>
              <a:rPr lang="en-US" sz="1200" dirty="0">
                <a:solidFill>
                  <a:srgbClr val="1F2528"/>
                </a:solidFill>
                <a:latin typeface="Aptos" pitchFamily="34" charset="0"/>
              </a:rPr>
              <a:t>We successfully recreated </a:t>
            </a:r>
            <a:r>
              <a:rPr lang="en-US" sz="1200" dirty="0" err="1">
                <a:solidFill>
                  <a:srgbClr val="1F2528"/>
                </a:solidFill>
                <a:latin typeface="Aptos" pitchFamily="34" charset="0"/>
              </a:rPr>
              <a:t>Piczak’s</a:t>
            </a:r>
            <a:r>
              <a:rPr lang="en-US" sz="1200" dirty="0">
                <a:solidFill>
                  <a:srgbClr val="1F2528"/>
                </a:solidFill>
                <a:latin typeface="Aptos" pitchFamily="34" charset="0"/>
              </a:rPr>
              <a:t> original model. </a:t>
            </a:r>
          </a:p>
          <a:p>
            <a:pPr>
              <a:lnSpc>
                <a:spcPct val="90000"/>
              </a:lnSpc>
            </a:pPr>
            <a:endParaRPr lang="en-US" sz="1200" dirty="0">
              <a:solidFill>
                <a:srgbClr val="1F2528"/>
              </a:solidFill>
              <a:latin typeface="Aptos" pitchFamily="34" charset="0"/>
            </a:endParaRPr>
          </a:p>
          <a:p>
            <a:pPr>
              <a:lnSpc>
                <a:spcPct val="90000"/>
              </a:lnSpc>
            </a:pPr>
            <a:r>
              <a:rPr lang="en-US" sz="1200" dirty="0">
                <a:solidFill>
                  <a:srgbClr val="1F2528"/>
                </a:solidFill>
                <a:latin typeface="Aptos" pitchFamily="34" charset="0"/>
              </a:rPr>
              <a:t>The rerun slightly underperformed vs. the original baseline, which may reflect implementation and library differences over the decade since the original work. </a:t>
            </a:r>
          </a:p>
          <a:p>
            <a:pPr>
              <a:lnSpc>
                <a:spcPct val="90000"/>
              </a:lnSpc>
            </a:pPr>
            <a:endParaRPr lang="en-US" sz="1200" dirty="0">
              <a:solidFill>
                <a:srgbClr val="1F2528"/>
              </a:solidFill>
              <a:latin typeface="Aptos" pitchFamily="34" charset="0"/>
            </a:endParaRPr>
          </a:p>
          <a:p>
            <a:pPr>
              <a:lnSpc>
                <a:spcPct val="90000"/>
              </a:lnSpc>
            </a:pPr>
            <a:r>
              <a:rPr lang="en-US" sz="1200" dirty="0">
                <a:solidFill>
                  <a:srgbClr val="1F2528"/>
                </a:solidFill>
                <a:latin typeface="Aptos" pitchFamily="34" charset="0"/>
              </a:rPr>
              <a:t>The reproduced baseline is a sufficient representation of </a:t>
            </a:r>
            <a:r>
              <a:rPr lang="en-US" sz="1200" dirty="0" err="1">
                <a:solidFill>
                  <a:srgbClr val="1F2528"/>
                </a:solidFill>
                <a:latin typeface="Aptos" pitchFamily="34" charset="0"/>
              </a:rPr>
              <a:t>Piczak’s</a:t>
            </a:r>
            <a:r>
              <a:rPr lang="en-US" sz="1200" dirty="0">
                <a:solidFill>
                  <a:srgbClr val="1F2528"/>
                </a:solidFill>
                <a:latin typeface="Aptos" pitchFamily="34" charset="0"/>
              </a:rPr>
              <a:t> model</a:t>
            </a:r>
          </a:p>
        </p:txBody>
      </p:sp>
      <p:sp>
        <p:nvSpPr>
          <p:cNvPr id="84" name="Text 11">
            <a:extLst>
              <a:ext uri="{FF2B5EF4-FFF2-40B4-BE49-F238E27FC236}">
                <a16:creationId xmlns:a16="http://schemas.microsoft.com/office/drawing/2014/main" id="{90570715-2678-B8CB-A761-32B6960626D5}"/>
              </a:ext>
            </a:extLst>
          </p:cNvPr>
          <p:cNvSpPr/>
          <p:nvPr/>
        </p:nvSpPr>
        <p:spPr>
          <a:xfrm>
            <a:off x="731520" y="1304947"/>
            <a:ext cx="1828800" cy="182880"/>
          </a:xfrm>
          <a:prstGeom prst="rect">
            <a:avLst/>
          </a:prstGeom>
          <a:noFill/>
          <a:ln>
            <a:noFill/>
          </a:ln>
        </p:spPr>
        <p:txBody>
          <a:bodyPr wrap="square" lIns="0" tIns="0" rIns="0" bIns="0" rtlCol="0" anchor="t">
            <a:normAutofit/>
          </a:bodyPr>
          <a:lstStyle/>
          <a:p>
            <a:pPr marL="0" indent="0" algn="l">
              <a:lnSpc>
                <a:spcPct val="90000"/>
              </a:lnSpc>
              <a:buNone/>
            </a:pPr>
            <a:r>
              <a:rPr lang="en-US" sz="1000" b="1" dirty="0">
                <a:solidFill>
                  <a:srgbClr val="426E9E"/>
                </a:solidFill>
                <a:latin typeface="Aptos" pitchFamily="34" charset="0"/>
                <a:ea typeface="Aptos" pitchFamily="34" charset="-122"/>
                <a:cs typeface="Aptos" pitchFamily="34" charset="-120"/>
              </a:rPr>
              <a:t>Baseline</a:t>
            </a:r>
            <a:endParaRPr lang="en-US" sz="1000" dirty="0"/>
          </a:p>
        </p:txBody>
      </p:sp>
      <p:sp>
        <p:nvSpPr>
          <p:cNvPr id="85" name="Text 12">
            <a:extLst>
              <a:ext uri="{FF2B5EF4-FFF2-40B4-BE49-F238E27FC236}">
                <a16:creationId xmlns:a16="http://schemas.microsoft.com/office/drawing/2014/main" id="{94FC8E45-A82A-CF53-FF50-FEACCB11CE0C}"/>
              </a:ext>
            </a:extLst>
          </p:cNvPr>
          <p:cNvSpPr/>
          <p:nvPr/>
        </p:nvSpPr>
        <p:spPr>
          <a:xfrm>
            <a:off x="731521" y="1600200"/>
            <a:ext cx="5059680" cy="658846"/>
          </a:xfrm>
          <a:prstGeom prst="rect">
            <a:avLst/>
          </a:prstGeom>
          <a:noFill/>
          <a:ln>
            <a:noFill/>
          </a:ln>
        </p:spPr>
        <p:txBody>
          <a:bodyPr wrap="square" lIns="0" tIns="0" rIns="0" bIns="0" rtlCol="0" anchor="t">
            <a:noAutofit/>
          </a:bodyPr>
          <a:lstStyle/>
          <a:p>
            <a:pPr>
              <a:lnSpc>
                <a:spcPct val="90000"/>
              </a:lnSpc>
            </a:pPr>
            <a:r>
              <a:rPr lang="en-US" sz="1200" dirty="0">
                <a:solidFill>
                  <a:srgbClr val="1F2528"/>
                </a:solidFill>
                <a:latin typeface="Aptos" pitchFamily="34" charset="0"/>
              </a:rPr>
              <a:t>We recreated </a:t>
            </a:r>
            <a:r>
              <a:rPr lang="en-US" sz="1200" dirty="0" err="1">
                <a:solidFill>
                  <a:srgbClr val="1F2528"/>
                </a:solidFill>
                <a:latin typeface="Aptos" pitchFamily="34" charset="0"/>
              </a:rPr>
              <a:t>Piczak’s</a:t>
            </a:r>
            <a:r>
              <a:rPr lang="en-US" sz="1200" dirty="0">
                <a:solidFill>
                  <a:srgbClr val="1F2528"/>
                </a:solidFill>
                <a:latin typeface="Aptos" pitchFamily="34" charset="0"/>
              </a:rPr>
              <a:t> CNN experiment to establish a defensible reference point. The comparison anchor is </a:t>
            </a:r>
            <a:r>
              <a:rPr lang="en-US" sz="1200" dirty="0" err="1">
                <a:solidFill>
                  <a:srgbClr val="1F2528"/>
                </a:solidFill>
                <a:latin typeface="Aptos" pitchFamily="34" charset="0"/>
              </a:rPr>
              <a:t>Piczak’s</a:t>
            </a:r>
            <a:r>
              <a:rPr lang="en-US" sz="1200" dirty="0">
                <a:solidFill>
                  <a:srgbClr val="1F2528"/>
                </a:solidFill>
                <a:latin typeface="Aptos" pitchFamily="34" charset="0"/>
              </a:rPr>
              <a:t> LP run: long spectrogram segments aggregated with probability voting into one clip-level prediction.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ERA 1: TRAINING FROM SCRATCH</a:t>
            </a:r>
            <a:endParaRPr lang="en-US" sz="880" dirty="0"/>
          </a:p>
        </p:txBody>
      </p:sp>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Piczak CNN variations</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4" name="Text 12"/>
          <p:cNvSpPr/>
          <p:nvPr/>
        </p:nvSpPr>
        <p:spPr>
          <a:xfrm>
            <a:off x="731520" y="1307591"/>
            <a:ext cx="1097280" cy="164592"/>
          </a:xfrm>
          <a:prstGeom prst="rect">
            <a:avLst/>
          </a:prstGeom>
          <a:noFill/>
          <a:ln>
            <a:noFill/>
          </a:ln>
        </p:spPr>
        <p:txBody>
          <a:bodyPr wrap="square" lIns="0" tIns="0" rIns="0" bIns="0" rtlCol="0" anchor="t">
            <a:normAutofit/>
          </a:bodyPr>
          <a:lstStyle/>
          <a:p>
            <a:pPr marL="0" indent="0" algn="l">
              <a:lnSpc>
                <a:spcPct val="90000"/>
              </a:lnSpc>
              <a:buNone/>
            </a:pPr>
            <a:r>
              <a:rPr lang="en-US" sz="1000" b="1" dirty="0">
                <a:solidFill>
                  <a:srgbClr val="426E9E"/>
                </a:solidFill>
                <a:latin typeface="Aptos" pitchFamily="34" charset="0"/>
                <a:ea typeface="Aptos" pitchFamily="34" charset="-122"/>
                <a:cs typeface="Aptos" pitchFamily="34" charset="-120"/>
              </a:rPr>
              <a:t>What changed?</a:t>
            </a:r>
            <a:endParaRPr lang="en-US" sz="1000" dirty="0"/>
          </a:p>
        </p:txBody>
      </p:sp>
      <p:sp>
        <p:nvSpPr>
          <p:cNvPr id="15" name="Text 13"/>
          <p:cNvSpPr/>
          <p:nvPr/>
        </p:nvSpPr>
        <p:spPr>
          <a:xfrm>
            <a:off x="731520" y="1601916"/>
            <a:ext cx="5285232" cy="457200"/>
          </a:xfrm>
          <a:prstGeom prst="rect">
            <a:avLst/>
          </a:prstGeom>
          <a:noFill/>
          <a:ln>
            <a:noFill/>
          </a:ln>
        </p:spPr>
        <p:txBody>
          <a:bodyPr wrap="square" lIns="0" tIns="0" rIns="0" bIns="0" rtlCol="0" anchor="t">
            <a:noAutofit/>
          </a:bodyPr>
          <a:lstStyle/>
          <a:p>
            <a:pPr>
              <a:lnSpc>
                <a:spcPct val="90000"/>
              </a:lnSpc>
            </a:pPr>
            <a:r>
              <a:rPr lang="en-US" sz="1200" dirty="0">
                <a:solidFill>
                  <a:srgbClr val="1F2528"/>
                </a:solidFill>
                <a:latin typeface="Aptos" pitchFamily="34" charset="0"/>
              </a:rPr>
              <a:t>Multiple iterations of hyperparameter tuning were performed to observe the impact of small changes to the original model.</a:t>
            </a:r>
          </a:p>
        </p:txBody>
      </p:sp>
      <p:sp>
        <p:nvSpPr>
          <p:cNvPr id="20" name="Text 18"/>
          <p:cNvSpPr/>
          <p:nvPr/>
        </p:nvSpPr>
        <p:spPr>
          <a:xfrm>
            <a:off x="731520" y="2381772"/>
            <a:ext cx="1627632" cy="164592"/>
          </a:xfrm>
          <a:prstGeom prst="rect">
            <a:avLst/>
          </a:prstGeom>
          <a:noFill/>
          <a:ln>
            <a:noFill/>
          </a:ln>
        </p:spPr>
        <p:txBody>
          <a:bodyPr wrap="square" lIns="0" tIns="0" rIns="0" bIns="0" rtlCol="0" anchor="t">
            <a:normAutofit/>
          </a:bodyPr>
          <a:lstStyle/>
          <a:p>
            <a:pPr>
              <a:lnSpc>
                <a:spcPct val="90000"/>
              </a:lnSpc>
            </a:pPr>
            <a:r>
              <a:rPr lang="en-US" sz="1000" b="1" dirty="0">
                <a:solidFill>
                  <a:srgbClr val="426E9E"/>
                </a:solidFill>
                <a:latin typeface="Aptos" pitchFamily="34" charset="0"/>
              </a:rPr>
              <a:t>Variation matrix</a:t>
            </a:r>
          </a:p>
        </p:txBody>
      </p:sp>
      <p:sp>
        <p:nvSpPr>
          <p:cNvPr id="22" name="Text 19"/>
          <p:cNvSpPr/>
          <p:nvPr/>
        </p:nvSpPr>
        <p:spPr>
          <a:xfrm>
            <a:off x="731520" y="4650734"/>
            <a:ext cx="1002270" cy="146304"/>
          </a:xfrm>
          <a:prstGeom prst="rect">
            <a:avLst/>
          </a:prstGeom>
          <a:noFill/>
          <a:ln/>
        </p:spPr>
        <p:txBody>
          <a:bodyPr wrap="square" lIns="0" tIns="0" rIns="0" bIns="0" rtlCol="0" anchor="t">
            <a:normAutofit/>
          </a:bodyPr>
          <a:lstStyle/>
          <a:p>
            <a:pPr>
              <a:lnSpc>
                <a:spcPct val="90000"/>
              </a:lnSpc>
            </a:pPr>
            <a:r>
              <a:rPr lang="en-US" sz="1000" b="1" dirty="0">
                <a:solidFill>
                  <a:srgbClr val="426E9E"/>
                </a:solidFill>
                <a:latin typeface="Aptos" pitchFamily="34" charset="0"/>
              </a:rPr>
              <a:t>Result</a:t>
            </a:r>
          </a:p>
        </p:txBody>
      </p:sp>
      <p:sp>
        <p:nvSpPr>
          <p:cNvPr id="23" name="Text 20"/>
          <p:cNvSpPr/>
          <p:nvPr/>
        </p:nvSpPr>
        <p:spPr>
          <a:xfrm>
            <a:off x="731520" y="4893150"/>
            <a:ext cx="5133821" cy="1281482"/>
          </a:xfrm>
          <a:prstGeom prst="rect">
            <a:avLst/>
          </a:prstGeom>
          <a:noFill/>
          <a:ln/>
        </p:spPr>
        <p:txBody>
          <a:bodyPr wrap="square" lIns="0" tIns="0" rIns="0" bIns="0" rtlCol="0" anchor="t">
            <a:noAutofit/>
          </a:bodyPr>
          <a:lstStyle/>
          <a:p>
            <a:pPr marL="0" indent="0" algn="l">
              <a:lnSpc>
                <a:spcPct val="90000"/>
              </a:lnSpc>
              <a:buNone/>
            </a:pPr>
            <a:r>
              <a:rPr lang="en-US" sz="1200" dirty="0">
                <a:solidFill>
                  <a:srgbClr val="1F2528"/>
                </a:solidFill>
                <a:latin typeface="Aptos" pitchFamily="34" charset="0"/>
                <a:ea typeface="Aptos" pitchFamily="34" charset="-122"/>
                <a:cs typeface="Aptos" pitchFamily="34" charset="-120"/>
              </a:rPr>
              <a:t>Best observed was 67.9% with Xavier initialization relative to </a:t>
            </a:r>
            <a:r>
              <a:rPr lang="en-US" sz="1200" dirty="0" err="1">
                <a:solidFill>
                  <a:srgbClr val="1F2528"/>
                </a:solidFill>
                <a:latin typeface="Aptos" pitchFamily="34" charset="0"/>
                <a:ea typeface="Aptos" pitchFamily="34" charset="-122"/>
                <a:cs typeface="Aptos" pitchFamily="34" charset="-120"/>
              </a:rPr>
              <a:t>Piczak's</a:t>
            </a:r>
            <a:r>
              <a:rPr lang="en-US" sz="1200" dirty="0">
                <a:solidFill>
                  <a:srgbClr val="1F2528"/>
                </a:solidFill>
                <a:latin typeface="Aptos" pitchFamily="34" charset="0"/>
                <a:ea typeface="Aptos" pitchFamily="34" charset="-122"/>
                <a:cs typeface="Aptos" pitchFamily="34" charset="-120"/>
              </a:rPr>
              <a:t> 64.5% LP baseline. </a:t>
            </a:r>
          </a:p>
          <a:p>
            <a:pPr marL="0" indent="0" algn="l">
              <a:lnSpc>
                <a:spcPct val="90000"/>
              </a:lnSpc>
              <a:buNone/>
            </a:pPr>
            <a:endParaRPr lang="en-US" sz="1200" dirty="0">
              <a:solidFill>
                <a:srgbClr val="1F2528"/>
              </a:solidFill>
              <a:latin typeface="Aptos" pitchFamily="34" charset="0"/>
              <a:ea typeface="Aptos" pitchFamily="34" charset="-122"/>
              <a:cs typeface="Aptos" pitchFamily="34" charset="-120"/>
            </a:endParaRPr>
          </a:p>
          <a:p>
            <a:pPr marL="0" indent="0" algn="l">
              <a:lnSpc>
                <a:spcPct val="90000"/>
              </a:lnSpc>
              <a:buNone/>
            </a:pPr>
            <a:r>
              <a:rPr lang="en-US" sz="1200" dirty="0">
                <a:solidFill>
                  <a:srgbClr val="1F2528"/>
                </a:solidFill>
                <a:latin typeface="Aptos" pitchFamily="34" charset="0"/>
                <a:ea typeface="Aptos" pitchFamily="34" charset="-122"/>
                <a:cs typeface="Aptos" pitchFamily="34" charset="-120"/>
              </a:rPr>
              <a:t>Resulted in a measurable improvement, but still the same from-scratch CNN performance band.</a:t>
            </a:r>
          </a:p>
          <a:p>
            <a:pPr marL="0" indent="0" algn="l">
              <a:lnSpc>
                <a:spcPct val="90000"/>
              </a:lnSpc>
              <a:buNone/>
            </a:pPr>
            <a:endParaRPr lang="en-US" sz="1200" dirty="0">
              <a:solidFill>
                <a:srgbClr val="1F2528"/>
              </a:solidFill>
              <a:latin typeface="Aptos" pitchFamily="34" charset="0"/>
            </a:endParaRPr>
          </a:p>
          <a:p>
            <a:pPr>
              <a:lnSpc>
                <a:spcPct val="90000"/>
              </a:lnSpc>
            </a:pPr>
            <a:r>
              <a:rPr lang="en-US" sz="1200" dirty="0">
                <a:solidFill>
                  <a:srgbClr val="1F2528"/>
                </a:solidFill>
                <a:latin typeface="Aptos" pitchFamily="34" charset="0"/>
                <a:ea typeface="Aptos" pitchFamily="34" charset="-122"/>
                <a:cs typeface="Aptos" pitchFamily="34" charset="-120"/>
              </a:rPr>
              <a:t>Hyperparameter tuning helped but did not create a step-change improvement</a:t>
            </a:r>
            <a:endParaRPr lang="en-US" sz="1200" dirty="0"/>
          </a:p>
        </p:txBody>
      </p:sp>
      <p:pic>
        <p:nvPicPr>
          <p:cNvPr id="27" name="Image 0" descr="/Users/andrew/Library/CloudStorage/OneDrive-CornellUniversity/Courses/SYSEN5888/ Project/cnn_variations_summary_curve.png"/>
          <p:cNvPicPr>
            <a:picLocks noChangeAspect="1"/>
          </p:cNvPicPr>
          <p:nvPr/>
        </p:nvPicPr>
        <p:blipFill>
          <a:blip r:embed="rId3"/>
          <a:srcRect/>
          <a:stretch/>
        </p:blipFill>
        <p:spPr>
          <a:xfrm>
            <a:off x="6460360" y="1411800"/>
            <a:ext cx="5065776" cy="3858768"/>
          </a:xfrm>
          <a:prstGeom prst="rect">
            <a:avLst/>
          </a:prstGeom>
        </p:spPr>
      </p:pic>
      <p:sp>
        <p:nvSpPr>
          <p:cNvPr id="28" name="Text 24"/>
          <p:cNvSpPr/>
          <p:nvPr/>
        </p:nvSpPr>
        <p:spPr>
          <a:xfrm>
            <a:off x="11082528" y="6473952"/>
            <a:ext cx="384048" cy="128016"/>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06</a:t>
            </a:r>
            <a:endParaRPr lang="en-US" sz="750" dirty="0"/>
          </a:p>
        </p:txBody>
      </p:sp>
      <p:sp>
        <p:nvSpPr>
          <p:cNvPr id="29" name="Text 25"/>
          <p:cNvSpPr/>
          <p:nvPr/>
        </p:nvSpPr>
        <p:spPr>
          <a:xfrm>
            <a:off x="594360" y="6446520"/>
            <a:ext cx="1828800" cy="128016"/>
          </a:xfrm>
          <a:prstGeom prst="rect">
            <a:avLst/>
          </a:prstGeom>
          <a:noFill/>
          <a:ln/>
        </p:spPr>
        <p:txBody>
          <a:bodyPr wrap="square" lIns="0" tIns="0" rIns="0" bIns="0" rtlCol="0" anchor="t">
            <a:normAutofit/>
          </a:bodyPr>
          <a:lstStyle/>
          <a:p>
            <a:pPr marL="0" indent="0" algn="l">
              <a:lnSpc>
                <a:spcPct val="90000"/>
              </a:lnSpc>
              <a:buNone/>
            </a:pPr>
            <a:r>
              <a:rPr lang="en-US" sz="800" dirty="0">
                <a:solidFill>
                  <a:srgbClr val="6B7176"/>
                </a:solidFill>
                <a:latin typeface="Aptos" pitchFamily="34" charset="0"/>
                <a:ea typeface="Aptos" pitchFamily="34" charset="-122"/>
                <a:cs typeface="Aptos" pitchFamily="34" charset="-120"/>
              </a:rPr>
              <a:t>Era 1</a:t>
            </a:r>
            <a:endParaRPr lang="en-US" sz="800" dirty="0"/>
          </a:p>
        </p:txBody>
      </p:sp>
      <p:sp>
        <p:nvSpPr>
          <p:cNvPr id="19" name="Shape 25">
            <a:extLst>
              <a:ext uri="{FF2B5EF4-FFF2-40B4-BE49-F238E27FC236}">
                <a16:creationId xmlns:a16="http://schemas.microsoft.com/office/drawing/2014/main" id="{6B621938-6C9B-F684-C6E1-1EF4408FAEE1}"/>
              </a:ext>
            </a:extLst>
          </p:cNvPr>
          <p:cNvSpPr/>
          <p:nvPr/>
        </p:nvSpPr>
        <p:spPr>
          <a:xfrm>
            <a:off x="9550658" y="750101"/>
            <a:ext cx="1755200" cy="295381"/>
          </a:xfrm>
          <a:prstGeom prst="chevron">
            <a:avLst/>
          </a:prstGeom>
          <a:solidFill>
            <a:srgbClr val="D7DDE0">
              <a:alpha val="90000"/>
            </a:srgbClr>
          </a:solidFill>
          <a:ln w="12700">
            <a:solidFill>
              <a:srgbClr val="F7F5EF"/>
            </a:solidFill>
            <a:prstDash val="solid"/>
          </a:ln>
        </p:spPr>
        <p:txBody>
          <a:bodyPr/>
          <a:lstStyle/>
          <a:p>
            <a:endParaRPr lang="en-US" sz="1100"/>
          </a:p>
        </p:txBody>
      </p:sp>
      <p:pic>
        <p:nvPicPr>
          <p:cNvPr id="24" name="Picture 2" descr="Cornell University Logo, symbol, meaning, history, PNG, brand">
            <a:extLst>
              <a:ext uri="{FF2B5EF4-FFF2-40B4-BE49-F238E27FC236}">
                <a16:creationId xmlns:a16="http://schemas.microsoft.com/office/drawing/2014/main" id="{C5A74DF1-464E-5E32-8310-9B3BBC7FD90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25" name="Shape 19">
            <a:extLst>
              <a:ext uri="{FF2B5EF4-FFF2-40B4-BE49-F238E27FC236}">
                <a16:creationId xmlns:a16="http://schemas.microsoft.com/office/drawing/2014/main" id="{A19E6E09-7436-0334-603F-AE64A504872B}"/>
              </a:ext>
            </a:extLst>
          </p:cNvPr>
          <p:cNvSpPr/>
          <p:nvPr/>
        </p:nvSpPr>
        <p:spPr>
          <a:xfrm>
            <a:off x="6237447" y="751408"/>
            <a:ext cx="1809206" cy="295381"/>
          </a:xfrm>
          <a:prstGeom prst="chevron">
            <a:avLst/>
          </a:prstGeom>
          <a:solidFill>
            <a:srgbClr val="426E9E"/>
          </a:solidFill>
          <a:ln w="12700">
            <a:solidFill>
              <a:srgbClr val="F7F5EF"/>
            </a:solidFill>
            <a:prstDash val="solid"/>
          </a:ln>
        </p:spPr>
        <p:txBody>
          <a:bodyPr/>
          <a:lstStyle/>
          <a:p>
            <a:endParaRPr lang="en-US" sz="1100" dirty="0"/>
          </a:p>
        </p:txBody>
      </p:sp>
      <p:sp>
        <p:nvSpPr>
          <p:cNvPr id="30" name="Text 20">
            <a:extLst>
              <a:ext uri="{FF2B5EF4-FFF2-40B4-BE49-F238E27FC236}">
                <a16:creationId xmlns:a16="http://schemas.microsoft.com/office/drawing/2014/main" id="{8F3484FD-8FEB-AA36-CF7E-00275362D9A7}"/>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FFFFFF"/>
                </a:solidFill>
                <a:latin typeface="Aptos" pitchFamily="34" charset="0"/>
                <a:ea typeface="Aptos" pitchFamily="34" charset="-122"/>
                <a:cs typeface="Aptos" pitchFamily="34" charset="-120"/>
              </a:rPr>
              <a:t>Training from scratch</a:t>
            </a:r>
            <a:endParaRPr lang="en-US" sz="700" dirty="0"/>
          </a:p>
        </p:txBody>
      </p:sp>
      <p:sp>
        <p:nvSpPr>
          <p:cNvPr id="31" name="Text 21">
            <a:extLst>
              <a:ext uri="{FF2B5EF4-FFF2-40B4-BE49-F238E27FC236}">
                <a16:creationId xmlns:a16="http://schemas.microsoft.com/office/drawing/2014/main" id="{3039B58A-3FBD-163E-F613-615D44EC9D2A}"/>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D9D9D9"/>
                </a:solidFill>
                <a:latin typeface="Aptos" pitchFamily="34" charset="0"/>
              </a:rPr>
              <a:t>Piczak</a:t>
            </a:r>
            <a:r>
              <a:rPr lang="en-US" sz="500" dirty="0">
                <a:solidFill>
                  <a:srgbClr val="D9D9D9"/>
                </a:solidFill>
                <a:latin typeface="Aptos" pitchFamily="34" charset="0"/>
              </a:rPr>
              <a:t> CNN | </a:t>
            </a:r>
            <a:r>
              <a:rPr lang="en-US" sz="500" b="1" dirty="0">
                <a:solidFill>
                  <a:srgbClr val="FFFFFF"/>
                </a:solidFill>
                <a:latin typeface="Aptos" pitchFamily="34" charset="0"/>
              </a:rPr>
              <a:t>Variations</a:t>
            </a:r>
            <a:r>
              <a:rPr lang="en-US" sz="500" dirty="0">
                <a:solidFill>
                  <a:srgbClr val="D9D9D9"/>
                </a:solidFill>
                <a:latin typeface="Aptos" pitchFamily="34" charset="0"/>
              </a:rPr>
              <a:t> </a:t>
            </a:r>
            <a:r>
              <a:rPr lang="en-US" sz="500" dirty="0">
                <a:solidFill>
                  <a:srgbClr val="D9D9D9"/>
                </a:solidFill>
                <a:latin typeface="Aptos" pitchFamily="34" charset="0"/>
                <a:ea typeface="Aptos" pitchFamily="34" charset="-122"/>
                <a:cs typeface="Aptos" pitchFamily="34" charset="-120"/>
              </a:rPr>
              <a:t>| LSTM</a:t>
            </a:r>
            <a:endParaRPr lang="en-US" sz="500" dirty="0">
              <a:solidFill>
                <a:srgbClr val="D9D9D9"/>
              </a:solidFill>
            </a:endParaRPr>
          </a:p>
        </p:txBody>
      </p:sp>
      <p:sp>
        <p:nvSpPr>
          <p:cNvPr id="32" name="Shape 22">
            <a:extLst>
              <a:ext uri="{FF2B5EF4-FFF2-40B4-BE49-F238E27FC236}">
                <a16:creationId xmlns:a16="http://schemas.microsoft.com/office/drawing/2014/main" id="{FF38F45D-D531-EDE8-2EF6-54A906C11034}"/>
              </a:ext>
            </a:extLst>
          </p:cNvPr>
          <p:cNvSpPr/>
          <p:nvPr/>
        </p:nvSpPr>
        <p:spPr>
          <a:xfrm>
            <a:off x="7891484" y="750102"/>
            <a:ext cx="1809206"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33" name="Text 23">
            <a:extLst>
              <a:ext uri="{FF2B5EF4-FFF2-40B4-BE49-F238E27FC236}">
                <a16:creationId xmlns:a16="http://schemas.microsoft.com/office/drawing/2014/main" id="{16945683-C0E3-8CA8-E873-71FD2C589403}"/>
              </a:ext>
            </a:extLst>
          </p:cNvPr>
          <p:cNvSpPr/>
          <p:nvPr/>
        </p:nvSpPr>
        <p:spPr>
          <a:xfrm>
            <a:off x="7963330" y="839252"/>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CNN</a:t>
            </a:r>
            <a:endParaRPr lang="en-US" sz="700" dirty="0"/>
          </a:p>
        </p:txBody>
      </p:sp>
      <p:sp>
        <p:nvSpPr>
          <p:cNvPr id="34" name="Text 24">
            <a:extLst>
              <a:ext uri="{FF2B5EF4-FFF2-40B4-BE49-F238E27FC236}">
                <a16:creationId xmlns:a16="http://schemas.microsoft.com/office/drawing/2014/main" id="{F5B6A1B0-9974-9455-2C1F-AC8FDA91CEEE}"/>
              </a:ext>
            </a:extLst>
          </p:cNvPr>
          <p:cNvSpPr/>
          <p:nvPr/>
        </p:nvSpPr>
        <p:spPr>
          <a:xfrm>
            <a:off x="7984136" y="941012"/>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VGGish | YAMNet</a:t>
            </a:r>
            <a:endParaRPr lang="en-US" sz="500" dirty="0"/>
          </a:p>
        </p:txBody>
      </p:sp>
      <p:sp>
        <p:nvSpPr>
          <p:cNvPr id="35" name="Text 26">
            <a:extLst>
              <a:ext uri="{FF2B5EF4-FFF2-40B4-BE49-F238E27FC236}">
                <a16:creationId xmlns:a16="http://schemas.microsoft.com/office/drawing/2014/main" id="{AE247940-4F28-A462-FB2C-F4B9C01AB7A7}"/>
              </a:ext>
            </a:extLst>
          </p:cNvPr>
          <p:cNvSpPr/>
          <p:nvPr/>
        </p:nvSpPr>
        <p:spPr>
          <a:xfrm>
            <a:off x="9657605" y="848441"/>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transformers</a:t>
            </a:r>
            <a:endParaRPr lang="en-US" sz="700" dirty="0"/>
          </a:p>
        </p:txBody>
      </p:sp>
      <p:sp>
        <p:nvSpPr>
          <p:cNvPr id="36" name="Text 27">
            <a:extLst>
              <a:ext uri="{FF2B5EF4-FFF2-40B4-BE49-F238E27FC236}">
                <a16:creationId xmlns:a16="http://schemas.microsoft.com/office/drawing/2014/main" id="{84C7863A-378B-51E0-045C-B3C1A3462236}"/>
              </a:ext>
            </a:extLst>
          </p:cNvPr>
          <p:cNvSpPr/>
          <p:nvPr/>
        </p:nvSpPr>
        <p:spPr>
          <a:xfrm>
            <a:off x="9657605" y="944489"/>
            <a:ext cx="1662902" cy="107931"/>
          </a:xfrm>
          <a:prstGeom prst="rect">
            <a:avLst/>
          </a:prstGeom>
          <a:noFill/>
          <a:ln/>
        </p:spPr>
        <p:txBody>
          <a:bodyPr wrap="square" lIns="0" tIns="0" rIns="0" bIns="0" rtlCol="0" anchor="t">
            <a:normAutofit/>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AST | BEATs</a:t>
            </a:r>
            <a:endParaRPr lang="en-US" sz="500" dirty="0"/>
          </a:p>
        </p:txBody>
      </p:sp>
      <p:grpSp>
        <p:nvGrpSpPr>
          <p:cNvPr id="5" name="Group 4">
            <a:extLst>
              <a:ext uri="{FF2B5EF4-FFF2-40B4-BE49-F238E27FC236}">
                <a16:creationId xmlns:a16="http://schemas.microsoft.com/office/drawing/2014/main" id="{B7A61841-D52D-B6ED-BE68-D3F4238C713B}"/>
              </a:ext>
            </a:extLst>
          </p:cNvPr>
          <p:cNvGrpSpPr/>
          <p:nvPr/>
        </p:nvGrpSpPr>
        <p:grpSpPr>
          <a:xfrm>
            <a:off x="8993248" y="5363330"/>
            <a:ext cx="1920240" cy="772294"/>
            <a:chOff x="9328755" y="4704960"/>
            <a:chExt cx="1920240" cy="772294"/>
          </a:xfrm>
        </p:grpSpPr>
        <p:sp>
          <p:nvSpPr>
            <p:cNvPr id="6" name="Shape 32">
              <a:extLst>
                <a:ext uri="{FF2B5EF4-FFF2-40B4-BE49-F238E27FC236}">
                  <a16:creationId xmlns:a16="http://schemas.microsoft.com/office/drawing/2014/main" id="{D34D283E-8F3F-58DC-D8B0-040877B49717}"/>
                </a:ext>
              </a:extLst>
            </p:cNvPr>
            <p:cNvSpPr/>
            <p:nvPr/>
          </p:nvSpPr>
          <p:spPr>
            <a:xfrm>
              <a:off x="9328755" y="4704960"/>
              <a:ext cx="1920240" cy="772294"/>
            </a:xfrm>
            <a:prstGeom prst="rect">
              <a:avLst/>
            </a:prstGeom>
            <a:solidFill>
              <a:srgbClr val="FFFFFF">
                <a:alpha val="98000"/>
              </a:srgbClr>
            </a:solidFill>
            <a:ln w="17780">
              <a:solidFill>
                <a:srgbClr val="426E9E"/>
              </a:solidFill>
              <a:prstDash val="solid"/>
            </a:ln>
          </p:spPr>
          <p:txBody>
            <a:bodyPr/>
            <a:lstStyle/>
            <a:p>
              <a:endParaRPr lang="en-US"/>
            </a:p>
          </p:txBody>
        </p:sp>
        <p:sp>
          <p:nvSpPr>
            <p:cNvPr id="7" name="Text 33">
              <a:extLst>
                <a:ext uri="{FF2B5EF4-FFF2-40B4-BE49-F238E27FC236}">
                  <a16:creationId xmlns:a16="http://schemas.microsoft.com/office/drawing/2014/main" id="{05EBC001-8BA1-01F3-9C9D-2CBA1E2632EA}"/>
                </a:ext>
              </a:extLst>
            </p:cNvPr>
            <p:cNvSpPr/>
            <p:nvPr/>
          </p:nvSpPr>
          <p:spPr>
            <a:xfrm>
              <a:off x="9420195" y="4864606"/>
              <a:ext cx="173736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426E9E"/>
                  </a:solidFill>
                  <a:latin typeface="Aptos Display" pitchFamily="34" charset="0"/>
                  <a:ea typeface="Aptos Display" pitchFamily="34" charset="-122"/>
                  <a:cs typeface="Aptos Display" pitchFamily="34" charset="-120"/>
                </a:rPr>
                <a:t>67.9%</a:t>
              </a:r>
              <a:endParaRPr lang="en-US" sz="2100" dirty="0"/>
            </a:p>
          </p:txBody>
        </p:sp>
        <p:sp>
          <p:nvSpPr>
            <p:cNvPr id="8" name="Text 34">
              <a:extLst>
                <a:ext uri="{FF2B5EF4-FFF2-40B4-BE49-F238E27FC236}">
                  <a16:creationId xmlns:a16="http://schemas.microsoft.com/office/drawing/2014/main" id="{D075690B-04D5-1C0A-A05B-39A0811D8E67}"/>
                </a:ext>
              </a:extLst>
            </p:cNvPr>
            <p:cNvSpPr/>
            <p:nvPr/>
          </p:nvSpPr>
          <p:spPr>
            <a:xfrm>
              <a:off x="9438483" y="5257798"/>
              <a:ext cx="170078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best 5-fold clip-level accuracy</a:t>
              </a:r>
              <a:endParaRPr lang="en-US" sz="780" dirty="0"/>
            </a:p>
          </p:txBody>
        </p:sp>
      </p:grpSp>
      <p:sp>
        <p:nvSpPr>
          <p:cNvPr id="13" name="Shape 48">
            <a:extLst>
              <a:ext uri="{FF2B5EF4-FFF2-40B4-BE49-F238E27FC236}">
                <a16:creationId xmlns:a16="http://schemas.microsoft.com/office/drawing/2014/main" id="{F0ED0800-8F54-1D75-841E-B4777E72BD3D}"/>
              </a:ext>
            </a:extLst>
          </p:cNvPr>
          <p:cNvSpPr/>
          <p:nvPr/>
        </p:nvSpPr>
        <p:spPr>
          <a:xfrm>
            <a:off x="6871840" y="5363330"/>
            <a:ext cx="2011680" cy="772294"/>
          </a:xfrm>
          <a:prstGeom prst="rect">
            <a:avLst/>
          </a:prstGeom>
          <a:solidFill>
            <a:srgbClr val="FFFFFF">
              <a:alpha val="98000"/>
            </a:srgbClr>
          </a:solidFill>
          <a:ln w="17780">
            <a:solidFill>
              <a:schemeClr val="tx1">
                <a:lumMod val="75000"/>
                <a:lumOff val="25000"/>
              </a:schemeClr>
            </a:solidFill>
            <a:prstDash val="solid"/>
          </a:ln>
        </p:spPr>
        <p:txBody>
          <a:bodyPr/>
          <a:lstStyle/>
          <a:p>
            <a:endParaRPr lang="en-US"/>
          </a:p>
        </p:txBody>
      </p:sp>
      <p:sp>
        <p:nvSpPr>
          <p:cNvPr id="37" name="Text 49">
            <a:extLst>
              <a:ext uri="{FF2B5EF4-FFF2-40B4-BE49-F238E27FC236}">
                <a16:creationId xmlns:a16="http://schemas.microsoft.com/office/drawing/2014/main" id="{3CB76337-AD7A-110B-1F98-C1EF005752F5}"/>
              </a:ext>
            </a:extLst>
          </p:cNvPr>
          <p:cNvSpPr/>
          <p:nvPr/>
        </p:nvSpPr>
        <p:spPr>
          <a:xfrm>
            <a:off x="6963280" y="5500490"/>
            <a:ext cx="18288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chemeClr val="tx1">
                    <a:lumMod val="75000"/>
                    <a:lumOff val="25000"/>
                  </a:schemeClr>
                </a:solidFill>
                <a:latin typeface="Aptos Display" pitchFamily="34" charset="0"/>
                <a:ea typeface="Aptos Display" pitchFamily="34" charset="-122"/>
                <a:cs typeface="Aptos Display" pitchFamily="34" charset="-120"/>
              </a:rPr>
              <a:t>64.5%</a:t>
            </a:r>
            <a:endParaRPr lang="en-US" sz="2100" dirty="0">
              <a:solidFill>
                <a:schemeClr val="tx1">
                  <a:lumMod val="75000"/>
                  <a:lumOff val="25000"/>
                </a:schemeClr>
              </a:solidFill>
            </a:endParaRPr>
          </a:p>
        </p:txBody>
      </p:sp>
      <p:sp>
        <p:nvSpPr>
          <p:cNvPr id="38" name="Text 50">
            <a:extLst>
              <a:ext uri="{FF2B5EF4-FFF2-40B4-BE49-F238E27FC236}">
                <a16:creationId xmlns:a16="http://schemas.microsoft.com/office/drawing/2014/main" id="{47B0723B-AE1A-E10C-ED1C-FAB1AFE23E00}"/>
              </a:ext>
            </a:extLst>
          </p:cNvPr>
          <p:cNvSpPr/>
          <p:nvPr/>
        </p:nvSpPr>
        <p:spPr>
          <a:xfrm>
            <a:off x="6981568" y="5893682"/>
            <a:ext cx="17922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Piczak published LP clip-level reference</a:t>
            </a:r>
            <a:endParaRPr lang="en-US" sz="780" dirty="0"/>
          </a:p>
        </p:txBody>
      </p:sp>
      <p:graphicFrame>
        <p:nvGraphicFramePr>
          <p:cNvPr id="39" name="Table 0">
            <a:extLst>
              <a:ext uri="{FF2B5EF4-FFF2-40B4-BE49-F238E27FC236}">
                <a16:creationId xmlns:a16="http://schemas.microsoft.com/office/drawing/2014/main" id="{101D0C41-7C7A-4370-08A2-E926EFE3F6F4}"/>
              </a:ext>
            </a:extLst>
          </p:cNvPr>
          <p:cNvGraphicFramePr>
            <a:graphicFrameLocks noGrp="1"/>
          </p:cNvGraphicFramePr>
          <p:nvPr>
            <p:extLst>
              <p:ext uri="{D42A27DB-BD31-4B8C-83A1-F6EECF244321}">
                <p14:modId xmlns:p14="http://schemas.microsoft.com/office/powerpoint/2010/main" val="3406380302"/>
              </p:ext>
            </p:extLst>
          </p:nvPr>
        </p:nvGraphicFramePr>
        <p:xfrm>
          <a:off x="731520" y="2655678"/>
          <a:ext cx="5115532" cy="1386496"/>
        </p:xfrm>
        <a:graphic>
          <a:graphicData uri="http://schemas.openxmlformats.org/drawingml/2006/table">
            <a:tbl>
              <a:tblPr/>
              <a:tblGrid>
                <a:gridCol w="978580">
                  <a:extLst>
                    <a:ext uri="{9D8B030D-6E8A-4147-A177-3AD203B41FA5}">
                      <a16:colId xmlns:a16="http://schemas.microsoft.com/office/drawing/2014/main" val="20000"/>
                    </a:ext>
                  </a:extLst>
                </a:gridCol>
                <a:gridCol w="2674648">
                  <a:extLst>
                    <a:ext uri="{9D8B030D-6E8A-4147-A177-3AD203B41FA5}">
                      <a16:colId xmlns:a16="http://schemas.microsoft.com/office/drawing/2014/main" val="20001"/>
                    </a:ext>
                  </a:extLst>
                </a:gridCol>
                <a:gridCol w="1462304">
                  <a:extLst>
                    <a:ext uri="{9D8B030D-6E8A-4147-A177-3AD203B41FA5}">
                      <a16:colId xmlns:a16="http://schemas.microsoft.com/office/drawing/2014/main" val="35711274"/>
                    </a:ext>
                  </a:extLst>
                </a:gridCol>
              </a:tblGrid>
              <a:tr h="145187">
                <a:tc>
                  <a:txBody>
                    <a:bodyPr/>
                    <a:lstStyle/>
                    <a:p>
                      <a:pPr marL="0" indent="0" algn="l" defTabSz="914400" rtl="0" eaLnBrk="1" latinLnBrk="0" hangingPunct="1">
                        <a:buNone/>
                      </a:pPr>
                      <a:r>
                        <a:rPr lang="en-US" sz="1030" b="1" kern="1200" dirty="0">
                          <a:solidFill>
                            <a:srgbClr val="FFFFFF"/>
                          </a:solidFill>
                          <a:latin typeface="+mn-lt"/>
                          <a:ea typeface="+mn-ea"/>
                          <a:cs typeface="+mn-cs"/>
                        </a:rPr>
                        <a:t>Dimension</a:t>
                      </a: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Conditions</a:t>
                      </a: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Best observed</a:t>
                      </a: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extLst>
                  <a:ext uri="{0D108BD9-81ED-4DB2-BD59-A6C34878D82A}">
                    <a16:rowId xmlns:a16="http://schemas.microsoft.com/office/drawing/2014/main" val="10000"/>
                  </a:ext>
                </a:extLst>
              </a:tr>
              <a:tr h="282235">
                <a:tc>
                  <a:txBody>
                    <a:bodyPr/>
                    <a:lstStyle/>
                    <a:p>
                      <a:pPr marL="0" indent="0">
                        <a:buNone/>
                      </a:pPr>
                      <a:r>
                        <a:rPr lang="en-US" sz="715" dirty="0">
                          <a:solidFill>
                            <a:srgbClr val="1F2528"/>
                          </a:solidFill>
                          <a:latin typeface="Aptos" pitchFamily="34" charset="0"/>
                          <a:ea typeface="Aptos" pitchFamily="34" charset="-122"/>
                          <a:cs typeface="Aptos" pitchFamily="34" charset="-120"/>
                        </a:rPr>
                        <a:t>Learning rate (4)</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0.001, 0.002, 0.005, 0.010</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65.6% at LR 0.005</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282235">
                <a:tc>
                  <a:txBody>
                    <a:bodyPr/>
                    <a:lstStyle/>
                    <a:p>
                      <a:pPr marL="0" indent="0">
                        <a:buNone/>
                      </a:pPr>
                      <a:r>
                        <a:rPr lang="en-US" sz="715" dirty="0">
                          <a:solidFill>
                            <a:srgbClr val="1F2528"/>
                          </a:solidFill>
                          <a:latin typeface="Aptos" pitchFamily="34" charset="0"/>
                          <a:ea typeface="Aptos" pitchFamily="34" charset="-122"/>
                          <a:cs typeface="Aptos" pitchFamily="34" charset="-120"/>
                        </a:rPr>
                        <a:t>Initialization (2)</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Kaiming, Xavier</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67.9% with Xavier</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282235">
                <a:tc>
                  <a:txBody>
                    <a:bodyPr/>
                    <a:lstStyle/>
                    <a:p>
                      <a:pPr marL="0" indent="0">
                        <a:buNone/>
                      </a:pPr>
                      <a:r>
                        <a:rPr lang="en-US" sz="715" dirty="0">
                          <a:solidFill>
                            <a:srgbClr val="1F2528"/>
                          </a:solidFill>
                          <a:latin typeface="Aptos" pitchFamily="34" charset="0"/>
                          <a:ea typeface="Aptos" pitchFamily="34" charset="-122"/>
                          <a:cs typeface="Aptos" pitchFamily="34" charset="-120"/>
                        </a:rPr>
                        <a:t>Max-norm (2)</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off, on</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67.0% with max-norm on</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282235">
                <a:tc>
                  <a:txBody>
                    <a:bodyPr/>
                    <a:lstStyle/>
                    <a:p>
                      <a:pPr marL="0" indent="0">
                        <a:buNone/>
                      </a:pPr>
                      <a:r>
                        <a:rPr lang="en-US" sz="715" dirty="0">
                          <a:solidFill>
                            <a:srgbClr val="1F2528"/>
                          </a:solidFill>
                          <a:latin typeface="Aptos" pitchFamily="34" charset="0"/>
                          <a:ea typeface="Aptos" pitchFamily="34" charset="-122"/>
                          <a:cs typeface="Aptos" pitchFamily="34" charset="-120"/>
                        </a:rPr>
                        <a:t>Segment length (2)</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long, short*</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65.8% short*; 64.9% long</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a:extLst>
            <a:ext uri="{FF2B5EF4-FFF2-40B4-BE49-F238E27FC236}">
              <a16:creationId xmlns:a16="http://schemas.microsoft.com/office/drawing/2014/main" id="{F41C97DB-BC19-6435-8846-FCEC91B13FD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1CAFF36-C817-0F66-4C76-7FC92CA2E24C}"/>
              </a:ext>
            </a:extLst>
          </p:cNvPr>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ERA 1: TRAINING FROM SCRATCH</a:t>
            </a:r>
            <a:endParaRPr lang="en-US" sz="880" dirty="0"/>
          </a:p>
        </p:txBody>
      </p:sp>
      <p:sp>
        <p:nvSpPr>
          <p:cNvPr id="3" name="Text 1">
            <a:extLst>
              <a:ext uri="{FF2B5EF4-FFF2-40B4-BE49-F238E27FC236}">
                <a16:creationId xmlns:a16="http://schemas.microsoft.com/office/drawing/2014/main" id="{50D3A4D1-19B6-AD0E-C270-083F318FBAA9}"/>
              </a:ext>
            </a:extLst>
          </p:cNvPr>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LSTM extension</a:t>
            </a:r>
            <a:endParaRPr lang="en-US" sz="2600" dirty="0"/>
          </a:p>
        </p:txBody>
      </p:sp>
      <p:sp>
        <p:nvSpPr>
          <p:cNvPr id="4" name="Shape 2">
            <a:extLst>
              <a:ext uri="{FF2B5EF4-FFF2-40B4-BE49-F238E27FC236}">
                <a16:creationId xmlns:a16="http://schemas.microsoft.com/office/drawing/2014/main" id="{AB641436-F006-086B-BC5F-2C4834B5F4B6}"/>
              </a:ext>
            </a:extLst>
          </p:cNvPr>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a:extLst>
              <a:ext uri="{FF2B5EF4-FFF2-40B4-BE49-F238E27FC236}">
                <a16:creationId xmlns:a16="http://schemas.microsoft.com/office/drawing/2014/main" id="{DC7055E1-8925-AF1D-7F3C-D4699CD8ED64}"/>
              </a:ext>
            </a:extLst>
          </p:cNvPr>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06</a:t>
            </a:r>
            <a:endParaRPr lang="en-US" sz="750" dirty="0"/>
          </a:p>
        </p:txBody>
      </p:sp>
      <p:sp>
        <p:nvSpPr>
          <p:cNvPr id="41" name="Text 38">
            <a:extLst>
              <a:ext uri="{FF2B5EF4-FFF2-40B4-BE49-F238E27FC236}">
                <a16:creationId xmlns:a16="http://schemas.microsoft.com/office/drawing/2014/main" id="{AE669EFF-8921-06E7-D2C8-DF3EDC06D18B}"/>
              </a:ext>
            </a:extLst>
          </p:cNvPr>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06</a:t>
            </a:r>
            <a:endParaRPr lang="en-US" sz="750" dirty="0"/>
          </a:p>
        </p:txBody>
      </p:sp>
      <p:pic>
        <p:nvPicPr>
          <p:cNvPr id="49" name="Picture 2" descr="Cornell University Logo, symbol, meaning, history, PNG, brand">
            <a:extLst>
              <a:ext uri="{FF2B5EF4-FFF2-40B4-BE49-F238E27FC236}">
                <a16:creationId xmlns:a16="http://schemas.microsoft.com/office/drawing/2014/main" id="{448B9743-FBA7-4BDF-55D9-9169C49E7C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50" name="Shape 19">
            <a:extLst>
              <a:ext uri="{FF2B5EF4-FFF2-40B4-BE49-F238E27FC236}">
                <a16:creationId xmlns:a16="http://schemas.microsoft.com/office/drawing/2014/main" id="{B6AA43A2-909E-AD3E-2A93-0D300CE2BC80}"/>
              </a:ext>
            </a:extLst>
          </p:cNvPr>
          <p:cNvSpPr/>
          <p:nvPr/>
        </p:nvSpPr>
        <p:spPr>
          <a:xfrm>
            <a:off x="6237447" y="751408"/>
            <a:ext cx="1809206" cy="295381"/>
          </a:xfrm>
          <a:prstGeom prst="chevron">
            <a:avLst/>
          </a:prstGeom>
          <a:solidFill>
            <a:srgbClr val="426E9E"/>
          </a:solidFill>
          <a:ln w="12700">
            <a:solidFill>
              <a:srgbClr val="F7F5EF"/>
            </a:solidFill>
            <a:prstDash val="solid"/>
          </a:ln>
        </p:spPr>
        <p:txBody>
          <a:bodyPr/>
          <a:lstStyle/>
          <a:p>
            <a:endParaRPr lang="en-US" sz="1100" dirty="0"/>
          </a:p>
        </p:txBody>
      </p:sp>
      <p:sp>
        <p:nvSpPr>
          <p:cNvPr id="51" name="Text 20">
            <a:extLst>
              <a:ext uri="{FF2B5EF4-FFF2-40B4-BE49-F238E27FC236}">
                <a16:creationId xmlns:a16="http://schemas.microsoft.com/office/drawing/2014/main" id="{CAE12ADD-DED0-8CB2-B319-56E05563680F}"/>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FFFFFF"/>
                </a:solidFill>
                <a:latin typeface="Aptos" pitchFamily="34" charset="0"/>
                <a:ea typeface="Aptos" pitchFamily="34" charset="-122"/>
                <a:cs typeface="Aptos" pitchFamily="34" charset="-120"/>
              </a:rPr>
              <a:t>Training from scratch</a:t>
            </a:r>
            <a:endParaRPr lang="en-US" sz="700" dirty="0"/>
          </a:p>
        </p:txBody>
      </p:sp>
      <p:sp>
        <p:nvSpPr>
          <p:cNvPr id="52" name="Text 21">
            <a:extLst>
              <a:ext uri="{FF2B5EF4-FFF2-40B4-BE49-F238E27FC236}">
                <a16:creationId xmlns:a16="http://schemas.microsoft.com/office/drawing/2014/main" id="{FA420A26-FFBE-4FE2-0AED-311301EE3258}"/>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D9D9D9"/>
                </a:solidFill>
                <a:latin typeface="Aptos" pitchFamily="34" charset="0"/>
              </a:rPr>
              <a:t>Piczak</a:t>
            </a:r>
            <a:r>
              <a:rPr lang="en-US" sz="500" dirty="0">
                <a:solidFill>
                  <a:srgbClr val="D9D9D9"/>
                </a:solidFill>
                <a:latin typeface="Aptos" pitchFamily="34" charset="0"/>
              </a:rPr>
              <a:t> CNN | Variations </a:t>
            </a:r>
            <a:r>
              <a:rPr lang="en-US" sz="500" dirty="0">
                <a:solidFill>
                  <a:srgbClr val="D9D9D9"/>
                </a:solidFill>
                <a:latin typeface="Aptos" pitchFamily="34" charset="0"/>
                <a:ea typeface="Aptos" pitchFamily="34" charset="-122"/>
                <a:cs typeface="Aptos" pitchFamily="34" charset="-120"/>
              </a:rPr>
              <a:t>| </a:t>
            </a:r>
            <a:r>
              <a:rPr lang="en-US" sz="500" b="1" dirty="0">
                <a:solidFill>
                  <a:srgbClr val="FFFFFF"/>
                </a:solidFill>
                <a:latin typeface="Aptos" pitchFamily="34" charset="0"/>
              </a:rPr>
              <a:t>LSTM</a:t>
            </a:r>
          </a:p>
        </p:txBody>
      </p:sp>
      <p:sp>
        <p:nvSpPr>
          <p:cNvPr id="53" name="Shape 22">
            <a:extLst>
              <a:ext uri="{FF2B5EF4-FFF2-40B4-BE49-F238E27FC236}">
                <a16:creationId xmlns:a16="http://schemas.microsoft.com/office/drawing/2014/main" id="{EA90C4A5-C844-6BA1-484F-5C5B040C33C9}"/>
              </a:ext>
            </a:extLst>
          </p:cNvPr>
          <p:cNvSpPr/>
          <p:nvPr/>
        </p:nvSpPr>
        <p:spPr>
          <a:xfrm>
            <a:off x="7891484" y="750102"/>
            <a:ext cx="1809206"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54" name="Text 23">
            <a:extLst>
              <a:ext uri="{FF2B5EF4-FFF2-40B4-BE49-F238E27FC236}">
                <a16:creationId xmlns:a16="http://schemas.microsoft.com/office/drawing/2014/main" id="{47273933-F65F-BFD7-4E08-8C62D8AEC10F}"/>
              </a:ext>
            </a:extLst>
          </p:cNvPr>
          <p:cNvSpPr/>
          <p:nvPr/>
        </p:nvSpPr>
        <p:spPr>
          <a:xfrm>
            <a:off x="7963330" y="839252"/>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CNN</a:t>
            </a:r>
            <a:endParaRPr lang="en-US" sz="700" dirty="0"/>
          </a:p>
        </p:txBody>
      </p:sp>
      <p:sp>
        <p:nvSpPr>
          <p:cNvPr id="55" name="Text 24">
            <a:extLst>
              <a:ext uri="{FF2B5EF4-FFF2-40B4-BE49-F238E27FC236}">
                <a16:creationId xmlns:a16="http://schemas.microsoft.com/office/drawing/2014/main" id="{90CD8AEC-FE0C-6EA0-4943-FAA722DDA812}"/>
              </a:ext>
            </a:extLst>
          </p:cNvPr>
          <p:cNvSpPr/>
          <p:nvPr/>
        </p:nvSpPr>
        <p:spPr>
          <a:xfrm>
            <a:off x="7984136" y="941012"/>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VGGish | YAMNet</a:t>
            </a:r>
            <a:endParaRPr lang="en-US" sz="500" dirty="0"/>
          </a:p>
        </p:txBody>
      </p:sp>
      <p:sp>
        <p:nvSpPr>
          <p:cNvPr id="56" name="Shape 25">
            <a:extLst>
              <a:ext uri="{FF2B5EF4-FFF2-40B4-BE49-F238E27FC236}">
                <a16:creationId xmlns:a16="http://schemas.microsoft.com/office/drawing/2014/main" id="{8859A24F-A8F5-3A3E-86FD-49864D853AA9}"/>
              </a:ext>
            </a:extLst>
          </p:cNvPr>
          <p:cNvSpPr/>
          <p:nvPr/>
        </p:nvSpPr>
        <p:spPr>
          <a:xfrm>
            <a:off x="9550658" y="750101"/>
            <a:ext cx="1755200"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57" name="Text 26">
            <a:extLst>
              <a:ext uri="{FF2B5EF4-FFF2-40B4-BE49-F238E27FC236}">
                <a16:creationId xmlns:a16="http://schemas.microsoft.com/office/drawing/2014/main" id="{98E83EF8-0EE1-658D-644A-BAE37491DB46}"/>
              </a:ext>
            </a:extLst>
          </p:cNvPr>
          <p:cNvSpPr/>
          <p:nvPr/>
        </p:nvSpPr>
        <p:spPr>
          <a:xfrm>
            <a:off x="9657605" y="848441"/>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transformers</a:t>
            </a:r>
            <a:endParaRPr lang="en-US" sz="700" dirty="0"/>
          </a:p>
        </p:txBody>
      </p:sp>
      <p:sp>
        <p:nvSpPr>
          <p:cNvPr id="58" name="Text 27">
            <a:extLst>
              <a:ext uri="{FF2B5EF4-FFF2-40B4-BE49-F238E27FC236}">
                <a16:creationId xmlns:a16="http://schemas.microsoft.com/office/drawing/2014/main" id="{D62C1BCF-363D-9568-0D6B-2D1F2D5B09F4}"/>
              </a:ext>
            </a:extLst>
          </p:cNvPr>
          <p:cNvSpPr/>
          <p:nvPr/>
        </p:nvSpPr>
        <p:spPr>
          <a:xfrm>
            <a:off x="9657605" y="944489"/>
            <a:ext cx="1662902" cy="107931"/>
          </a:xfrm>
          <a:prstGeom prst="rect">
            <a:avLst/>
          </a:prstGeom>
          <a:noFill/>
          <a:ln/>
        </p:spPr>
        <p:txBody>
          <a:bodyPr wrap="square" lIns="0" tIns="0" rIns="0" bIns="0" rtlCol="0" anchor="t">
            <a:normAutofit/>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AST | BEATs</a:t>
            </a:r>
            <a:endParaRPr lang="en-US" sz="500" dirty="0"/>
          </a:p>
        </p:txBody>
      </p:sp>
      <p:sp>
        <p:nvSpPr>
          <p:cNvPr id="5" name="Text 11">
            <a:extLst>
              <a:ext uri="{FF2B5EF4-FFF2-40B4-BE49-F238E27FC236}">
                <a16:creationId xmlns:a16="http://schemas.microsoft.com/office/drawing/2014/main" id="{EDC9412E-8BEB-8FA2-B8E4-2C8EDB278B5A}"/>
              </a:ext>
            </a:extLst>
          </p:cNvPr>
          <p:cNvSpPr/>
          <p:nvPr/>
        </p:nvSpPr>
        <p:spPr>
          <a:xfrm>
            <a:off x="731520" y="1307591"/>
            <a:ext cx="1828800" cy="182880"/>
          </a:xfrm>
          <a:prstGeom prst="rect">
            <a:avLst/>
          </a:prstGeom>
          <a:noFill/>
          <a:ln>
            <a:noFill/>
          </a:ln>
        </p:spPr>
        <p:txBody>
          <a:bodyPr wrap="square" lIns="0" tIns="0" rIns="0" bIns="0" rtlCol="0" anchor="t">
            <a:normAutofit/>
          </a:bodyPr>
          <a:lstStyle/>
          <a:p>
            <a:pPr marL="0" indent="0" algn="l">
              <a:lnSpc>
                <a:spcPct val="90000"/>
              </a:lnSpc>
              <a:buNone/>
            </a:pPr>
            <a:r>
              <a:rPr lang="en-US" sz="1000" b="1" dirty="0">
                <a:solidFill>
                  <a:srgbClr val="426E9E"/>
                </a:solidFill>
                <a:latin typeface="Aptos" pitchFamily="34" charset="0"/>
                <a:ea typeface="Aptos" pitchFamily="34" charset="-122"/>
                <a:cs typeface="Aptos" pitchFamily="34" charset="-120"/>
              </a:rPr>
              <a:t>What changed?</a:t>
            </a:r>
            <a:endParaRPr lang="en-US" sz="1000" dirty="0"/>
          </a:p>
        </p:txBody>
      </p:sp>
      <p:sp>
        <p:nvSpPr>
          <p:cNvPr id="6" name="Text 12">
            <a:extLst>
              <a:ext uri="{FF2B5EF4-FFF2-40B4-BE49-F238E27FC236}">
                <a16:creationId xmlns:a16="http://schemas.microsoft.com/office/drawing/2014/main" id="{4AB891C6-8664-C02E-BBE9-2814BCB9893B}"/>
              </a:ext>
            </a:extLst>
          </p:cNvPr>
          <p:cNvSpPr/>
          <p:nvPr/>
        </p:nvSpPr>
        <p:spPr>
          <a:xfrm>
            <a:off x="731520" y="1603618"/>
            <a:ext cx="4691231" cy="515419"/>
          </a:xfrm>
          <a:prstGeom prst="rect">
            <a:avLst/>
          </a:prstGeom>
          <a:noFill/>
          <a:ln/>
        </p:spPr>
        <p:txBody>
          <a:bodyPr wrap="square" lIns="0" tIns="0" rIns="0" bIns="0" rtlCol="0" anchor="t">
            <a:normAutofit/>
          </a:bodyPr>
          <a:lstStyle/>
          <a:p>
            <a:pPr marL="0" indent="0" algn="l">
              <a:lnSpc>
                <a:spcPct val="90000"/>
              </a:lnSpc>
              <a:buNone/>
            </a:pPr>
            <a:r>
              <a:rPr lang="en-US" sz="1200" dirty="0">
                <a:solidFill>
                  <a:srgbClr val="1F2528"/>
                </a:solidFill>
                <a:latin typeface="Aptos Display" pitchFamily="34" charset="0"/>
                <a:ea typeface="Aptos Display" pitchFamily="34" charset="-122"/>
                <a:cs typeface="Aptos Display" pitchFamily="34" charset="-120"/>
              </a:rPr>
              <a:t>From local spectrogram patterns to temporal sequence modeling – LSTM baseline defined, Design of Experiments created to vary 4 factors</a:t>
            </a:r>
            <a:endParaRPr lang="en-US" sz="1200" dirty="0"/>
          </a:p>
        </p:txBody>
      </p:sp>
      <p:grpSp>
        <p:nvGrpSpPr>
          <p:cNvPr id="7" name="Group 6">
            <a:extLst>
              <a:ext uri="{FF2B5EF4-FFF2-40B4-BE49-F238E27FC236}">
                <a16:creationId xmlns:a16="http://schemas.microsoft.com/office/drawing/2014/main" id="{E2EFBF54-1ED1-CC64-FFC6-EBA1BF516FC7}"/>
              </a:ext>
            </a:extLst>
          </p:cNvPr>
          <p:cNvGrpSpPr/>
          <p:nvPr/>
        </p:nvGrpSpPr>
        <p:grpSpPr>
          <a:xfrm>
            <a:off x="9022199" y="4392875"/>
            <a:ext cx="1920240" cy="772294"/>
            <a:chOff x="9328755" y="4727446"/>
            <a:chExt cx="1920240" cy="772294"/>
          </a:xfrm>
        </p:grpSpPr>
        <p:sp>
          <p:nvSpPr>
            <p:cNvPr id="8" name="Shape 32">
              <a:extLst>
                <a:ext uri="{FF2B5EF4-FFF2-40B4-BE49-F238E27FC236}">
                  <a16:creationId xmlns:a16="http://schemas.microsoft.com/office/drawing/2014/main" id="{BC53EE3E-33F1-0F60-BD58-02A3EB6D50A6}"/>
                </a:ext>
              </a:extLst>
            </p:cNvPr>
            <p:cNvSpPr/>
            <p:nvPr/>
          </p:nvSpPr>
          <p:spPr>
            <a:xfrm>
              <a:off x="9328755" y="4727446"/>
              <a:ext cx="1920240" cy="772294"/>
            </a:xfrm>
            <a:prstGeom prst="rect">
              <a:avLst/>
            </a:prstGeom>
            <a:solidFill>
              <a:srgbClr val="FFFFFF">
                <a:alpha val="98000"/>
              </a:srgbClr>
            </a:solidFill>
            <a:ln w="17780">
              <a:solidFill>
                <a:srgbClr val="426E9E"/>
              </a:solidFill>
              <a:prstDash val="solid"/>
            </a:ln>
          </p:spPr>
          <p:txBody>
            <a:bodyPr/>
            <a:lstStyle/>
            <a:p>
              <a:endParaRPr lang="en-US"/>
            </a:p>
          </p:txBody>
        </p:sp>
        <p:sp>
          <p:nvSpPr>
            <p:cNvPr id="9" name="Text 33">
              <a:extLst>
                <a:ext uri="{FF2B5EF4-FFF2-40B4-BE49-F238E27FC236}">
                  <a16:creationId xmlns:a16="http://schemas.microsoft.com/office/drawing/2014/main" id="{B81D0B21-FBB5-AF54-C538-322B8DD28F83}"/>
                </a:ext>
              </a:extLst>
            </p:cNvPr>
            <p:cNvSpPr/>
            <p:nvPr/>
          </p:nvSpPr>
          <p:spPr>
            <a:xfrm>
              <a:off x="9420195" y="4864606"/>
              <a:ext cx="173736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426E9E"/>
                  </a:solidFill>
                  <a:latin typeface="Aptos Display" pitchFamily="34" charset="0"/>
                  <a:ea typeface="Aptos Display" pitchFamily="34" charset="-122"/>
                  <a:cs typeface="Aptos Display" pitchFamily="34" charset="-120"/>
                </a:rPr>
                <a:t>56.8%</a:t>
              </a:r>
              <a:endParaRPr lang="en-US" sz="2100" dirty="0"/>
            </a:p>
          </p:txBody>
        </p:sp>
        <p:sp>
          <p:nvSpPr>
            <p:cNvPr id="10" name="Text 34">
              <a:extLst>
                <a:ext uri="{FF2B5EF4-FFF2-40B4-BE49-F238E27FC236}">
                  <a16:creationId xmlns:a16="http://schemas.microsoft.com/office/drawing/2014/main" id="{281C091C-236F-80E5-B558-83A4C2C099F5}"/>
                </a:ext>
              </a:extLst>
            </p:cNvPr>
            <p:cNvSpPr/>
            <p:nvPr/>
          </p:nvSpPr>
          <p:spPr>
            <a:xfrm>
              <a:off x="9438483" y="5257798"/>
              <a:ext cx="170078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final 5-fold clip-level accuracy</a:t>
              </a:r>
              <a:endParaRPr lang="en-US" sz="780" dirty="0"/>
            </a:p>
          </p:txBody>
        </p:sp>
      </p:grpSp>
      <p:sp>
        <p:nvSpPr>
          <p:cNvPr id="15" name="Text 36">
            <a:extLst>
              <a:ext uri="{FF2B5EF4-FFF2-40B4-BE49-F238E27FC236}">
                <a16:creationId xmlns:a16="http://schemas.microsoft.com/office/drawing/2014/main" id="{7731452C-7FB8-AAF1-4B70-4F8BEF45CBD8}"/>
              </a:ext>
            </a:extLst>
          </p:cNvPr>
          <p:cNvSpPr/>
          <p:nvPr/>
        </p:nvSpPr>
        <p:spPr>
          <a:xfrm>
            <a:off x="6215141" y="5271940"/>
            <a:ext cx="175000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426E9E"/>
                </a:solidFill>
                <a:latin typeface="Aptos" pitchFamily="34" charset="0"/>
              </a:rPr>
              <a:t>Results</a:t>
            </a:r>
          </a:p>
        </p:txBody>
      </p:sp>
      <p:sp>
        <p:nvSpPr>
          <p:cNvPr id="16" name="Text 37">
            <a:extLst>
              <a:ext uri="{FF2B5EF4-FFF2-40B4-BE49-F238E27FC236}">
                <a16:creationId xmlns:a16="http://schemas.microsoft.com/office/drawing/2014/main" id="{F59854C2-C32C-81EB-38A2-A570A7096A30}"/>
              </a:ext>
            </a:extLst>
          </p:cNvPr>
          <p:cNvSpPr/>
          <p:nvPr/>
        </p:nvSpPr>
        <p:spPr>
          <a:xfrm>
            <a:off x="6287692" y="5477218"/>
            <a:ext cx="5026569" cy="996734"/>
          </a:xfrm>
          <a:prstGeom prst="rect">
            <a:avLst/>
          </a:prstGeom>
          <a:noFill/>
          <a:ln/>
        </p:spPr>
        <p:txBody>
          <a:bodyPr wrap="square" lIns="0" tIns="0" rIns="0" bIns="0" rtlCol="0" anchor="t">
            <a:noAutofit/>
          </a:bodyPr>
          <a:lstStyle/>
          <a:p>
            <a:pPr marL="0" indent="0" algn="l">
              <a:lnSpc>
                <a:spcPct val="90000"/>
              </a:lnSpc>
              <a:buNone/>
            </a:pPr>
            <a:r>
              <a:rPr lang="en-US" sz="1200" dirty="0">
                <a:solidFill>
                  <a:schemeClr val="tx1">
                    <a:lumMod val="75000"/>
                    <a:lumOff val="25000"/>
                  </a:schemeClr>
                </a:solidFill>
                <a:latin typeface="Aptos" pitchFamily="34" charset="0"/>
                <a:ea typeface="Aptos" pitchFamily="34" charset="-122"/>
                <a:cs typeface="Aptos" pitchFamily="34" charset="-120"/>
              </a:rPr>
              <a:t>LSTM architectures performed </a:t>
            </a:r>
            <a:r>
              <a:rPr lang="en-US" sz="1200" b="1" dirty="0">
                <a:solidFill>
                  <a:schemeClr val="tx1">
                    <a:lumMod val="75000"/>
                    <a:lumOff val="25000"/>
                  </a:schemeClr>
                </a:solidFill>
                <a:latin typeface="Aptos" pitchFamily="34" charset="0"/>
                <a:ea typeface="Aptos" pitchFamily="34" charset="-122"/>
                <a:cs typeface="Aptos" pitchFamily="34" charset="-120"/>
              </a:rPr>
              <a:t>worse</a:t>
            </a:r>
            <a:r>
              <a:rPr lang="en-US" sz="1200" dirty="0">
                <a:solidFill>
                  <a:schemeClr val="tx1">
                    <a:lumMod val="75000"/>
                    <a:lumOff val="25000"/>
                  </a:schemeClr>
                </a:solidFill>
                <a:latin typeface="Aptos" pitchFamily="34" charset="0"/>
                <a:ea typeface="Aptos" pitchFamily="34" charset="-122"/>
                <a:cs typeface="Aptos" pitchFamily="34" charset="-120"/>
              </a:rPr>
              <a:t> than CNN baseline. </a:t>
            </a:r>
          </a:p>
          <a:p>
            <a:pPr marL="0" indent="0" algn="l">
              <a:lnSpc>
                <a:spcPct val="90000"/>
              </a:lnSpc>
              <a:buNone/>
            </a:pPr>
            <a:r>
              <a:rPr lang="en-US" sz="1200" dirty="0">
                <a:solidFill>
                  <a:schemeClr val="tx1">
                    <a:lumMod val="75000"/>
                    <a:lumOff val="25000"/>
                  </a:schemeClr>
                </a:solidFill>
              </a:rPr>
              <a:t>Some reasons may include:</a:t>
            </a:r>
          </a:p>
          <a:p>
            <a:pPr marL="171450" indent="-171450" algn="l">
              <a:lnSpc>
                <a:spcPct val="90000"/>
              </a:lnSpc>
              <a:buFont typeface="Arial" panose="020B0604020202020204" pitchFamily="34" charset="0"/>
              <a:buChar char="•"/>
            </a:pPr>
            <a:r>
              <a:rPr lang="en-US" sz="1200" dirty="0">
                <a:solidFill>
                  <a:schemeClr val="tx1">
                    <a:lumMod val="75000"/>
                    <a:lumOff val="25000"/>
                  </a:schemeClr>
                </a:solidFill>
              </a:rPr>
              <a:t>CNNs are inherently designed for 2D time-frequency patterns like audio clips</a:t>
            </a:r>
          </a:p>
          <a:p>
            <a:pPr marL="171450" indent="-171450" algn="l">
              <a:lnSpc>
                <a:spcPct val="90000"/>
              </a:lnSpc>
              <a:buFont typeface="Arial" panose="020B0604020202020204" pitchFamily="34" charset="0"/>
              <a:buChar char="•"/>
            </a:pPr>
            <a:r>
              <a:rPr lang="en-US" sz="1200" dirty="0">
                <a:solidFill>
                  <a:schemeClr val="tx1">
                    <a:lumMod val="75000"/>
                    <a:lumOff val="25000"/>
                  </a:schemeClr>
                </a:solidFill>
              </a:rPr>
              <a:t>Dataset not large enough for LSTM</a:t>
            </a:r>
          </a:p>
          <a:p>
            <a:pPr marL="171450" indent="-171450" algn="l">
              <a:lnSpc>
                <a:spcPct val="90000"/>
              </a:lnSpc>
              <a:buFont typeface="Arial" panose="020B0604020202020204" pitchFamily="34" charset="0"/>
              <a:buChar char="•"/>
            </a:pPr>
            <a:r>
              <a:rPr lang="en-US" sz="1200" dirty="0">
                <a:solidFill>
                  <a:schemeClr val="tx1">
                    <a:lumMod val="75000"/>
                    <a:lumOff val="25000"/>
                  </a:schemeClr>
                </a:solidFill>
              </a:rPr>
              <a:t>5 second audio clips not long enough to take advantage of LSTM’s strengths in modeling long temporal dependencies</a:t>
            </a:r>
          </a:p>
        </p:txBody>
      </p:sp>
      <p:sp>
        <p:nvSpPr>
          <p:cNvPr id="17" name="Text 13">
            <a:extLst>
              <a:ext uri="{FF2B5EF4-FFF2-40B4-BE49-F238E27FC236}">
                <a16:creationId xmlns:a16="http://schemas.microsoft.com/office/drawing/2014/main" id="{75EC9908-19CF-5D9D-20CA-9227F21E59F5}"/>
              </a:ext>
            </a:extLst>
          </p:cNvPr>
          <p:cNvSpPr/>
          <p:nvPr/>
        </p:nvSpPr>
        <p:spPr>
          <a:xfrm>
            <a:off x="731520" y="2163539"/>
            <a:ext cx="5489989" cy="164592"/>
          </a:xfrm>
          <a:prstGeom prst="rect">
            <a:avLst/>
          </a:prstGeom>
          <a:noFill/>
          <a:ln/>
        </p:spPr>
        <p:txBody>
          <a:bodyPr wrap="square" lIns="0" tIns="0" rIns="0" bIns="0" rtlCol="0" anchor="t">
            <a:normAutofit/>
          </a:bodyPr>
          <a:lstStyle/>
          <a:p>
            <a:pPr>
              <a:lnSpc>
                <a:spcPct val="90000"/>
              </a:lnSpc>
            </a:pPr>
            <a:r>
              <a:rPr lang="en-US" sz="1000" b="1" dirty="0">
                <a:solidFill>
                  <a:srgbClr val="426E9E"/>
                </a:solidFill>
                <a:latin typeface="Aptos" pitchFamily="34" charset="0"/>
              </a:rPr>
              <a:t>LSTM architecture</a:t>
            </a:r>
          </a:p>
        </p:txBody>
      </p:sp>
      <p:graphicFrame>
        <p:nvGraphicFramePr>
          <p:cNvPr id="18" name="Table 0">
            <a:extLst>
              <a:ext uri="{FF2B5EF4-FFF2-40B4-BE49-F238E27FC236}">
                <a16:creationId xmlns:a16="http://schemas.microsoft.com/office/drawing/2014/main" id="{79D18BAC-EC8F-C430-2B3E-BF86B9AF65FD}"/>
              </a:ext>
            </a:extLst>
          </p:cNvPr>
          <p:cNvGraphicFramePr>
            <a:graphicFrameLocks noGrp="1"/>
          </p:cNvGraphicFramePr>
          <p:nvPr>
            <p:extLst>
              <p:ext uri="{D42A27DB-BD31-4B8C-83A1-F6EECF244321}">
                <p14:modId xmlns:p14="http://schemas.microsoft.com/office/powerpoint/2010/main" val="989276497"/>
              </p:ext>
            </p:extLst>
          </p:nvPr>
        </p:nvGraphicFramePr>
        <p:xfrm>
          <a:off x="731521" y="2354342"/>
          <a:ext cx="4479886" cy="1821180"/>
        </p:xfrm>
        <a:graphic>
          <a:graphicData uri="http://schemas.openxmlformats.org/drawingml/2006/table">
            <a:tbl>
              <a:tblPr/>
              <a:tblGrid>
                <a:gridCol w="1039032">
                  <a:extLst>
                    <a:ext uri="{9D8B030D-6E8A-4147-A177-3AD203B41FA5}">
                      <a16:colId xmlns:a16="http://schemas.microsoft.com/office/drawing/2014/main" val="20000"/>
                    </a:ext>
                  </a:extLst>
                </a:gridCol>
                <a:gridCol w="3440854">
                  <a:extLst>
                    <a:ext uri="{9D8B030D-6E8A-4147-A177-3AD203B41FA5}">
                      <a16:colId xmlns:a16="http://schemas.microsoft.com/office/drawing/2014/main" val="20001"/>
                    </a:ext>
                  </a:extLst>
                </a:gridCol>
              </a:tblGrid>
              <a:tr h="155414">
                <a:tc>
                  <a:txBody>
                    <a:bodyPr/>
                    <a:lstStyle/>
                    <a:p>
                      <a:pPr marL="0" indent="0">
                        <a:buNone/>
                      </a:pPr>
                      <a:r>
                        <a:rPr lang="en-US" sz="1030" b="1" dirty="0">
                          <a:solidFill>
                            <a:srgbClr val="FFFFFF"/>
                          </a:solidFill>
                        </a:rPr>
                        <a:t>Model Step</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buNone/>
                      </a:pPr>
                      <a:r>
                        <a:rPr lang="en-US" sz="1030" b="1" dirty="0">
                          <a:solidFill>
                            <a:srgbClr val="FFFFFF"/>
                          </a:solidFill>
                        </a:rPr>
                        <a:t>LSTM Baseline Parameters / implementation</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extLst>
                  <a:ext uri="{0D108BD9-81ED-4DB2-BD59-A6C34878D82A}">
                    <a16:rowId xmlns:a16="http://schemas.microsoft.com/office/drawing/2014/main" val="10000"/>
                  </a:ext>
                </a:extLst>
              </a:tr>
              <a:tr h="0">
                <a:tc>
                  <a:txBody>
                    <a:bodyPr/>
                    <a:lstStyle/>
                    <a:p>
                      <a:pPr marL="0" indent="0">
                        <a:buNone/>
                      </a:pPr>
                      <a:r>
                        <a:rPr lang="en-US" sz="705" b="1" dirty="0">
                          <a:solidFill>
                            <a:srgbClr val="1F2528"/>
                          </a:solidFill>
                        </a:rPr>
                        <a:t>Input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Piczak log-mel + delta segment tensor, shape (B, 2, 60, 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0">
                <a:tc>
                  <a:txBody>
                    <a:bodyPr/>
                    <a:lstStyle/>
                    <a:p>
                      <a:pPr marL="0" indent="0">
                        <a:buNone/>
                      </a:pPr>
                      <a:r>
                        <a:rPr lang="en-US" sz="705" b="1" dirty="0">
                          <a:solidFill>
                            <a:srgbClr val="1F2528"/>
                          </a:solidFill>
                        </a:rPr>
                        <a:t>Reshape</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(B, 2, 60, T) -&gt; (B, T, 120); one sequence step per time frame</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0">
                <a:tc>
                  <a:txBody>
                    <a:bodyPr/>
                    <a:lstStyle/>
                    <a:p>
                      <a:pPr marL="0" indent="0">
                        <a:buNone/>
                      </a:pPr>
                      <a:r>
                        <a:rPr lang="en-US" sz="705" b="1" dirty="0">
                          <a:solidFill>
                            <a:srgbClr val="1F2528"/>
                          </a:solidFill>
                        </a:rPr>
                        <a:t>Recurrent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2-layer bidirectional LSTM; hidden size 128; Xavier/orthogonal init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0">
                <a:tc>
                  <a:txBody>
                    <a:bodyPr/>
                    <a:lstStyle/>
                    <a:p>
                      <a:pPr marL="0" indent="0">
                        <a:buNone/>
                      </a:pPr>
                      <a:r>
                        <a:rPr lang="en-US" sz="705" b="1" dirty="0">
                          <a:solidFill>
                            <a:srgbClr val="1F2528"/>
                          </a:solidFill>
                        </a:rPr>
                        <a:t>Pooling</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Final pooling</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r h="0">
                <a:tc>
                  <a:txBody>
                    <a:bodyPr/>
                    <a:lstStyle/>
                    <a:p>
                      <a:pPr marL="0" indent="0">
                        <a:buNone/>
                      </a:pPr>
                      <a:r>
                        <a:rPr lang="en-US" sz="705" b="1" dirty="0">
                          <a:solidFill>
                            <a:srgbClr val="1F2528"/>
                          </a:solidFill>
                        </a:rPr>
                        <a:t>Head</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Dropout 0.3 -&gt; Linear 512-&gt;50 logits</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5"/>
                  </a:ext>
                </a:extLst>
              </a:tr>
              <a:tr h="0">
                <a:tc>
                  <a:txBody>
                    <a:bodyPr/>
                    <a:lstStyle/>
                    <a:p>
                      <a:pPr marL="0" indent="0">
                        <a:buNone/>
                      </a:pPr>
                      <a:r>
                        <a:rPr lang="en-US" sz="705" b="1" dirty="0">
                          <a:solidFill>
                            <a:srgbClr val="1F2528"/>
                          </a:solidFill>
                        </a:rPr>
                        <a:t>Optimization</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CrossEntropyLoss; Adam lr 1e-3; weight decay 1e-4; cosine LR; grad clip 1.0</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6"/>
                  </a:ext>
                </a:extLst>
              </a:tr>
              <a:tr h="190359">
                <a:tc>
                  <a:txBody>
                    <a:bodyPr/>
                    <a:lstStyle/>
                    <a:p>
                      <a:pPr marL="0" indent="0">
                        <a:buNone/>
                      </a:pPr>
                      <a:r>
                        <a:rPr lang="en-US" sz="705" b="1" dirty="0">
                          <a:solidFill>
                            <a:srgbClr val="1F2528"/>
                          </a:solidFill>
                        </a:rPr>
                        <a:t>Evaluation</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Clip-level probability voting; 60 epochs ran but accuracy reported at best value attained over all epochs; batch size 64</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7"/>
                  </a:ext>
                </a:extLst>
              </a:tr>
            </a:tbl>
          </a:graphicData>
        </a:graphic>
      </p:graphicFrame>
      <p:graphicFrame>
        <p:nvGraphicFramePr>
          <p:cNvPr id="25" name="Table 0">
            <a:extLst>
              <a:ext uri="{FF2B5EF4-FFF2-40B4-BE49-F238E27FC236}">
                <a16:creationId xmlns:a16="http://schemas.microsoft.com/office/drawing/2014/main" id="{BA8CFEBA-D2CC-605B-97AF-3DF0C107D71D}"/>
              </a:ext>
            </a:extLst>
          </p:cNvPr>
          <p:cNvGraphicFramePr>
            <a:graphicFrameLocks noGrp="1"/>
          </p:cNvGraphicFramePr>
          <p:nvPr>
            <p:extLst>
              <p:ext uri="{D42A27DB-BD31-4B8C-83A1-F6EECF244321}">
                <p14:modId xmlns:p14="http://schemas.microsoft.com/office/powerpoint/2010/main" val="1793188872"/>
              </p:ext>
            </p:extLst>
          </p:nvPr>
        </p:nvGraphicFramePr>
        <p:xfrm>
          <a:off x="731520" y="4328425"/>
          <a:ext cx="4479886" cy="1158240"/>
        </p:xfrm>
        <a:graphic>
          <a:graphicData uri="http://schemas.openxmlformats.org/drawingml/2006/table">
            <a:tbl>
              <a:tblPr/>
              <a:tblGrid>
                <a:gridCol w="1697179">
                  <a:extLst>
                    <a:ext uri="{9D8B030D-6E8A-4147-A177-3AD203B41FA5}">
                      <a16:colId xmlns:a16="http://schemas.microsoft.com/office/drawing/2014/main" val="20000"/>
                    </a:ext>
                  </a:extLst>
                </a:gridCol>
                <a:gridCol w="1245320">
                  <a:extLst>
                    <a:ext uri="{9D8B030D-6E8A-4147-A177-3AD203B41FA5}">
                      <a16:colId xmlns:a16="http://schemas.microsoft.com/office/drawing/2014/main" val="20001"/>
                    </a:ext>
                  </a:extLst>
                </a:gridCol>
                <a:gridCol w="1537387">
                  <a:extLst>
                    <a:ext uri="{9D8B030D-6E8A-4147-A177-3AD203B41FA5}">
                      <a16:colId xmlns:a16="http://schemas.microsoft.com/office/drawing/2014/main" val="3678863950"/>
                    </a:ext>
                  </a:extLst>
                </a:gridCol>
              </a:tblGrid>
              <a:tr h="0">
                <a:tc>
                  <a:txBody>
                    <a:bodyPr/>
                    <a:lstStyle/>
                    <a:p>
                      <a:pPr marL="0" indent="0" algn="l" defTabSz="914400" rtl="0" eaLnBrk="1" latinLnBrk="0" hangingPunct="1">
                        <a:buNone/>
                      </a:pPr>
                      <a:r>
                        <a:rPr lang="en-US" sz="1030" b="1" kern="1200" dirty="0">
                          <a:solidFill>
                            <a:srgbClr val="FFFFFF"/>
                          </a:solidFill>
                          <a:latin typeface="+mn-lt"/>
                          <a:ea typeface="+mn-ea"/>
                          <a:cs typeface="+mn-cs"/>
                        </a:rPr>
                        <a:t>Experimental Factor</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Baseline Value</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Levels Tested</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extLst>
                  <a:ext uri="{0D108BD9-81ED-4DB2-BD59-A6C34878D82A}">
                    <a16:rowId xmlns:a16="http://schemas.microsoft.com/office/drawing/2014/main" val="10000"/>
                  </a:ext>
                </a:extLst>
              </a:tr>
              <a:tr h="0">
                <a:tc>
                  <a:txBody>
                    <a:bodyPr/>
                    <a:lstStyle/>
                    <a:p>
                      <a:pPr marL="0" indent="0" algn="l" defTabSz="914400" rtl="0" eaLnBrk="1" latinLnBrk="0" hangingPunct="1">
                        <a:buNone/>
                      </a:pPr>
                      <a:r>
                        <a:rPr lang="en-US" sz="705" b="1" kern="1200" dirty="0" err="1">
                          <a:solidFill>
                            <a:srgbClr val="1F2528"/>
                          </a:solidFill>
                          <a:latin typeface="+mn-lt"/>
                          <a:ea typeface="+mn-ea"/>
                          <a:cs typeface="+mn-cs"/>
                        </a:rPr>
                        <a:t>hidden_size</a:t>
                      </a:r>
                      <a:endParaRPr lang="en-US" sz="705" b="1" kern="1200" dirty="0">
                        <a:solidFill>
                          <a:srgbClr val="1F2528"/>
                        </a:solidFill>
                        <a:latin typeface="+mn-lt"/>
                        <a:ea typeface="+mn-ea"/>
                        <a:cs typeface="+mn-cs"/>
                      </a:endParaRP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128</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64, 128, 256</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0">
                <a:tc>
                  <a:txBody>
                    <a:bodyPr/>
                    <a:lstStyle/>
                    <a:p>
                      <a:pPr marL="0" indent="0" algn="l" defTabSz="914400" rtl="0" eaLnBrk="1" latinLnBrk="0" hangingPunct="1">
                        <a:buNone/>
                      </a:pPr>
                      <a:r>
                        <a:rPr lang="en-US" sz="705" b="1" kern="1200" dirty="0" err="1">
                          <a:solidFill>
                            <a:srgbClr val="1F2528"/>
                          </a:solidFill>
                          <a:latin typeface="+mn-lt"/>
                          <a:ea typeface="+mn-ea"/>
                          <a:cs typeface="+mn-cs"/>
                        </a:rPr>
                        <a:t>num_layers</a:t>
                      </a:r>
                      <a:endParaRPr lang="en-US" sz="705" b="1" kern="1200" dirty="0">
                        <a:solidFill>
                          <a:srgbClr val="1F2528"/>
                        </a:solidFill>
                        <a:latin typeface="+mn-lt"/>
                        <a:ea typeface="+mn-ea"/>
                        <a:cs typeface="+mn-cs"/>
                      </a:endParaRP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2</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1, 2, 3</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0">
                <a:tc>
                  <a:txBody>
                    <a:bodyPr/>
                    <a:lstStyle/>
                    <a:p>
                      <a:pPr marL="0" indent="0" algn="l" defTabSz="914400" rtl="0" eaLnBrk="1" latinLnBrk="0" hangingPunct="1">
                        <a:buNone/>
                      </a:pPr>
                      <a:r>
                        <a:rPr lang="en-US" sz="705" b="1" kern="1200" dirty="0">
                          <a:solidFill>
                            <a:srgbClr val="1F2528"/>
                          </a:solidFill>
                          <a:latin typeface="+mn-lt"/>
                          <a:ea typeface="+mn-ea"/>
                          <a:cs typeface="+mn-cs"/>
                        </a:rPr>
                        <a:t>bidirectional</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True</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True, False</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0">
                <a:tc>
                  <a:txBody>
                    <a:bodyPr/>
                    <a:lstStyle/>
                    <a:p>
                      <a:pPr marL="0" indent="0" algn="l" defTabSz="914400" rtl="0" eaLnBrk="1" latinLnBrk="0" hangingPunct="1">
                        <a:buNone/>
                      </a:pPr>
                      <a:r>
                        <a:rPr lang="en-US" sz="705" b="1" kern="1200" dirty="0">
                          <a:solidFill>
                            <a:srgbClr val="1F2528"/>
                          </a:solidFill>
                          <a:latin typeface="+mn-lt"/>
                          <a:ea typeface="+mn-ea"/>
                          <a:cs typeface="+mn-cs"/>
                        </a:rPr>
                        <a:t>pooling</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Final</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Final, Mean</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bl>
          </a:graphicData>
        </a:graphic>
      </p:graphicFrame>
      <p:graphicFrame>
        <p:nvGraphicFramePr>
          <p:cNvPr id="13" name="Table 0">
            <a:extLst>
              <a:ext uri="{FF2B5EF4-FFF2-40B4-BE49-F238E27FC236}">
                <a16:creationId xmlns:a16="http://schemas.microsoft.com/office/drawing/2014/main" id="{1EFA659D-D326-BADD-FBBD-D67323DDD7A2}"/>
              </a:ext>
            </a:extLst>
          </p:cNvPr>
          <p:cNvGraphicFramePr>
            <a:graphicFrameLocks noGrp="1"/>
          </p:cNvGraphicFramePr>
          <p:nvPr>
            <p:extLst>
              <p:ext uri="{D42A27DB-BD31-4B8C-83A1-F6EECF244321}">
                <p14:modId xmlns:p14="http://schemas.microsoft.com/office/powerpoint/2010/main" val="519187257"/>
              </p:ext>
            </p:extLst>
          </p:nvPr>
        </p:nvGraphicFramePr>
        <p:xfrm>
          <a:off x="731522" y="5639568"/>
          <a:ext cx="4479884" cy="600456"/>
        </p:xfrm>
        <a:graphic>
          <a:graphicData uri="http://schemas.openxmlformats.org/drawingml/2006/table">
            <a:tbl>
              <a:tblPr/>
              <a:tblGrid>
                <a:gridCol w="507285">
                  <a:extLst>
                    <a:ext uri="{9D8B030D-6E8A-4147-A177-3AD203B41FA5}">
                      <a16:colId xmlns:a16="http://schemas.microsoft.com/office/drawing/2014/main" val="20000"/>
                    </a:ext>
                  </a:extLst>
                </a:gridCol>
                <a:gridCol w="683633">
                  <a:extLst>
                    <a:ext uri="{9D8B030D-6E8A-4147-A177-3AD203B41FA5}">
                      <a16:colId xmlns:a16="http://schemas.microsoft.com/office/drawing/2014/main" val="20001"/>
                    </a:ext>
                  </a:extLst>
                </a:gridCol>
                <a:gridCol w="617118">
                  <a:extLst>
                    <a:ext uri="{9D8B030D-6E8A-4147-A177-3AD203B41FA5}">
                      <a16:colId xmlns:a16="http://schemas.microsoft.com/office/drawing/2014/main" val="3678863950"/>
                    </a:ext>
                  </a:extLst>
                </a:gridCol>
                <a:gridCol w="524734">
                  <a:extLst>
                    <a:ext uri="{9D8B030D-6E8A-4147-A177-3AD203B41FA5}">
                      <a16:colId xmlns:a16="http://schemas.microsoft.com/office/drawing/2014/main" val="2782421059"/>
                    </a:ext>
                  </a:extLst>
                </a:gridCol>
                <a:gridCol w="713196">
                  <a:extLst>
                    <a:ext uri="{9D8B030D-6E8A-4147-A177-3AD203B41FA5}">
                      <a16:colId xmlns:a16="http://schemas.microsoft.com/office/drawing/2014/main" val="3043373647"/>
                    </a:ext>
                  </a:extLst>
                </a:gridCol>
                <a:gridCol w="1433918">
                  <a:extLst>
                    <a:ext uri="{9D8B030D-6E8A-4147-A177-3AD203B41FA5}">
                      <a16:colId xmlns:a16="http://schemas.microsoft.com/office/drawing/2014/main" val="670270140"/>
                    </a:ext>
                  </a:extLst>
                </a:gridCol>
              </a:tblGrid>
              <a:tr h="0">
                <a:tc>
                  <a:txBody>
                    <a:bodyPr/>
                    <a:lstStyle/>
                    <a:p>
                      <a:pPr marL="0" indent="0" algn="l" defTabSz="914400" rtl="0" eaLnBrk="1" latinLnBrk="0" hangingPunct="1">
                        <a:buNone/>
                      </a:pPr>
                      <a:r>
                        <a:rPr lang="en-US" sz="1030" b="1" kern="1200" dirty="0">
                          <a:solidFill>
                            <a:srgbClr val="FFFFFF"/>
                          </a:solidFill>
                          <a:latin typeface="+mn-lt"/>
                          <a:ea typeface="+mn-ea"/>
                          <a:cs typeface="+mn-cs"/>
                        </a:rPr>
                        <a:t>Run </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hidden</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layers</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err="1">
                          <a:solidFill>
                            <a:srgbClr val="FFFFFF"/>
                          </a:solidFill>
                          <a:latin typeface="+mn-lt"/>
                          <a:ea typeface="+mn-ea"/>
                          <a:cs typeface="+mn-cs"/>
                        </a:rPr>
                        <a:t>bidir</a:t>
                      </a:r>
                      <a:endParaRPr lang="en-US" sz="1030" b="1" kern="1200" dirty="0">
                        <a:solidFill>
                          <a:srgbClr val="FFFFFF"/>
                        </a:solidFill>
                        <a:latin typeface="+mn-lt"/>
                        <a:ea typeface="+mn-ea"/>
                        <a:cs typeface="+mn-cs"/>
                      </a:endParaRP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pooling</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Question</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extLst>
                  <a:ext uri="{0D108BD9-81ED-4DB2-BD59-A6C34878D82A}">
                    <a16:rowId xmlns:a16="http://schemas.microsoft.com/office/drawing/2014/main" val="10000"/>
                  </a:ext>
                </a:extLst>
              </a:tr>
              <a:tr h="0">
                <a:tc>
                  <a:txBody>
                    <a:bodyPr/>
                    <a:lstStyle/>
                    <a:p>
                      <a:pPr>
                        <a:buNone/>
                      </a:pPr>
                      <a:r>
                        <a:rPr lang="en-US" sz="705" kern="1200" dirty="0">
                          <a:solidFill>
                            <a:srgbClr val="1F2528"/>
                          </a:solidFill>
                          <a:latin typeface="+mn-lt"/>
                          <a:ea typeface="+mn-ea"/>
                          <a:cs typeface="+mn-cs"/>
                        </a:rPr>
                        <a:t>8</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a:buNone/>
                      </a:pPr>
                      <a:r>
                        <a:rPr lang="en-US" sz="705" kern="1200" dirty="0">
                          <a:solidFill>
                            <a:srgbClr val="1F2528"/>
                          </a:solidFill>
                          <a:latin typeface="+mn-lt"/>
                          <a:ea typeface="+mn-ea"/>
                          <a:cs typeface="+mn-cs"/>
                        </a:rPr>
                        <a:t>256</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a:buNone/>
                      </a:pPr>
                      <a:r>
                        <a:rPr lang="en-US" sz="705" kern="1200" dirty="0">
                          <a:solidFill>
                            <a:srgbClr val="1F2528"/>
                          </a:solidFill>
                          <a:latin typeface="+mn-lt"/>
                          <a:ea typeface="+mn-ea"/>
                          <a:cs typeface="+mn-cs"/>
                        </a:rPr>
                        <a:t>1</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a:buNone/>
                      </a:pPr>
                      <a:r>
                        <a:rPr lang="en-US" sz="705" kern="1200" dirty="0">
                          <a:solidFill>
                            <a:srgbClr val="1F2528"/>
                          </a:solidFill>
                          <a:latin typeface="+mn-lt"/>
                          <a:ea typeface="+mn-ea"/>
                          <a:cs typeface="+mn-cs"/>
                        </a:rPr>
                        <a:t>True</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a:buNone/>
                      </a:pPr>
                      <a:r>
                        <a:rPr lang="en-US" sz="705" kern="1200" dirty="0">
                          <a:solidFill>
                            <a:srgbClr val="1F2528"/>
                          </a:solidFill>
                          <a:latin typeface="+mn-lt"/>
                          <a:ea typeface="+mn-ea"/>
                          <a:cs typeface="+mn-cs"/>
                        </a:rPr>
                        <a:t>mean</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a:buNone/>
                      </a:pPr>
                      <a:r>
                        <a:rPr lang="en-US" sz="705" kern="1200" dirty="0">
                          <a:solidFill>
                            <a:srgbClr val="1F2528"/>
                          </a:solidFill>
                          <a:latin typeface="+mn-lt"/>
                          <a:ea typeface="+mn-ea"/>
                          <a:cs typeface="+mn-cs"/>
                        </a:rPr>
                        <a:t>Does mean pooling substitute for depth?</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bl>
          </a:graphicData>
        </a:graphic>
      </p:graphicFrame>
      <p:grpSp>
        <p:nvGrpSpPr>
          <p:cNvPr id="26" name="Group 25">
            <a:extLst>
              <a:ext uri="{FF2B5EF4-FFF2-40B4-BE49-F238E27FC236}">
                <a16:creationId xmlns:a16="http://schemas.microsoft.com/office/drawing/2014/main" id="{3A03BEB1-9537-04EC-8635-B1F54022D681}"/>
              </a:ext>
            </a:extLst>
          </p:cNvPr>
          <p:cNvGrpSpPr/>
          <p:nvPr/>
        </p:nvGrpSpPr>
        <p:grpSpPr>
          <a:xfrm>
            <a:off x="6900791" y="4392875"/>
            <a:ext cx="2011680" cy="772294"/>
            <a:chOff x="6957490" y="4123666"/>
            <a:chExt cx="2011680" cy="772294"/>
          </a:xfrm>
        </p:grpSpPr>
        <p:sp>
          <p:nvSpPr>
            <p:cNvPr id="14" name="Shape 48">
              <a:extLst>
                <a:ext uri="{FF2B5EF4-FFF2-40B4-BE49-F238E27FC236}">
                  <a16:creationId xmlns:a16="http://schemas.microsoft.com/office/drawing/2014/main" id="{8A7B5248-96C6-6827-8A09-7A319015BD4F}"/>
                </a:ext>
              </a:extLst>
            </p:cNvPr>
            <p:cNvSpPr/>
            <p:nvPr/>
          </p:nvSpPr>
          <p:spPr>
            <a:xfrm>
              <a:off x="6957490" y="4123666"/>
              <a:ext cx="2011680" cy="772294"/>
            </a:xfrm>
            <a:prstGeom prst="rect">
              <a:avLst/>
            </a:prstGeom>
            <a:solidFill>
              <a:srgbClr val="FFFFFF">
                <a:alpha val="98000"/>
              </a:srgbClr>
            </a:solidFill>
            <a:ln w="17780">
              <a:solidFill>
                <a:schemeClr val="tx1">
                  <a:lumMod val="75000"/>
                  <a:lumOff val="25000"/>
                </a:schemeClr>
              </a:solidFill>
              <a:prstDash val="solid"/>
            </a:ln>
          </p:spPr>
          <p:txBody>
            <a:bodyPr/>
            <a:lstStyle/>
            <a:p>
              <a:endParaRPr lang="en-US"/>
            </a:p>
          </p:txBody>
        </p:sp>
        <p:sp>
          <p:nvSpPr>
            <p:cNvPr id="23" name="Text 49">
              <a:extLst>
                <a:ext uri="{FF2B5EF4-FFF2-40B4-BE49-F238E27FC236}">
                  <a16:creationId xmlns:a16="http://schemas.microsoft.com/office/drawing/2014/main" id="{2CBC18AD-3BA9-18DC-7639-15930BA3D4F6}"/>
                </a:ext>
              </a:extLst>
            </p:cNvPr>
            <p:cNvSpPr/>
            <p:nvPr/>
          </p:nvSpPr>
          <p:spPr>
            <a:xfrm>
              <a:off x="7048930" y="4260826"/>
              <a:ext cx="18288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chemeClr val="tx1">
                      <a:lumMod val="75000"/>
                      <a:lumOff val="25000"/>
                    </a:schemeClr>
                  </a:solidFill>
                  <a:latin typeface="Aptos Display" pitchFamily="34" charset="0"/>
                  <a:ea typeface="Aptos Display" pitchFamily="34" charset="-122"/>
                  <a:cs typeface="Aptos Display" pitchFamily="34" charset="-120"/>
                </a:rPr>
                <a:t>64.5%</a:t>
              </a:r>
              <a:endParaRPr lang="en-US" sz="2100" dirty="0">
                <a:solidFill>
                  <a:schemeClr val="tx1">
                    <a:lumMod val="75000"/>
                    <a:lumOff val="25000"/>
                  </a:schemeClr>
                </a:solidFill>
              </a:endParaRPr>
            </a:p>
          </p:txBody>
        </p:sp>
        <p:sp>
          <p:nvSpPr>
            <p:cNvPr id="24" name="Text 50">
              <a:extLst>
                <a:ext uri="{FF2B5EF4-FFF2-40B4-BE49-F238E27FC236}">
                  <a16:creationId xmlns:a16="http://schemas.microsoft.com/office/drawing/2014/main" id="{7653CAB9-2395-EFC2-BD44-9AA6BEED2CF3}"/>
                </a:ext>
              </a:extLst>
            </p:cNvPr>
            <p:cNvSpPr/>
            <p:nvPr/>
          </p:nvSpPr>
          <p:spPr>
            <a:xfrm>
              <a:off x="7067218" y="4654018"/>
              <a:ext cx="17922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Piczak published LP clip-level reference</a:t>
              </a:r>
              <a:endParaRPr lang="en-US" sz="780" dirty="0"/>
            </a:p>
          </p:txBody>
        </p:sp>
      </p:grpSp>
      <p:pic>
        <p:nvPicPr>
          <p:cNvPr id="19" name="Image 0" descr="/Users/andrew/Library/CloudStorage/OneDrive-CornellUniversity/Courses/SYSEN5888/ Project/DeepLearning5888Project/Plots and Data/LSTM/LSTM_Run8_CapacityMeanPool_long/curves.png">
            <a:extLst>
              <a:ext uri="{FF2B5EF4-FFF2-40B4-BE49-F238E27FC236}">
                <a16:creationId xmlns:a16="http://schemas.microsoft.com/office/drawing/2014/main" id="{9D6112E5-F266-FE2C-C0FA-41BF056F9FA8}"/>
              </a:ext>
            </a:extLst>
          </p:cNvPr>
          <p:cNvPicPr>
            <a:picLocks noChangeAspect="1"/>
          </p:cNvPicPr>
          <p:nvPr/>
        </p:nvPicPr>
        <p:blipFill>
          <a:blip r:embed="rId4"/>
          <a:srcRect/>
          <a:stretch/>
        </p:blipFill>
        <p:spPr>
          <a:xfrm>
            <a:off x="6096000" y="1204314"/>
            <a:ext cx="5530488" cy="3063240"/>
          </a:xfrm>
          <a:prstGeom prst="rect">
            <a:avLst/>
          </a:prstGeom>
        </p:spPr>
      </p:pic>
    </p:spTree>
    <p:extLst>
      <p:ext uri="{BB962C8B-B14F-4D97-AF65-F5344CB8AC3E}">
        <p14:creationId xmlns:p14="http://schemas.microsoft.com/office/powerpoint/2010/main" val="1825942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7F5EF"/>
        </a:solidFill>
        <a:effectLst/>
      </p:bgPr>
    </p:bg>
    <p:spTree>
      <p:nvGrpSpPr>
        <p:cNvPr id="1" name=""/>
        <p:cNvGrpSpPr/>
        <p:nvPr/>
      </p:nvGrpSpPr>
      <p:grpSpPr>
        <a:xfrm>
          <a:off x="0" y="0"/>
          <a:ext cx="0" cy="0"/>
          <a:chOff x="0" y="0"/>
          <a:chExt cx="0" cy="0"/>
        </a:xfrm>
      </p:grpSpPr>
      <p:sp>
        <p:nvSpPr>
          <p:cNvPr id="7" name="Shape 22">
            <a:extLst>
              <a:ext uri="{FF2B5EF4-FFF2-40B4-BE49-F238E27FC236}">
                <a16:creationId xmlns:a16="http://schemas.microsoft.com/office/drawing/2014/main" id="{7ACFBABF-3D5C-09AD-F3B0-125485337F99}"/>
              </a:ext>
            </a:extLst>
          </p:cNvPr>
          <p:cNvSpPr/>
          <p:nvPr/>
        </p:nvSpPr>
        <p:spPr>
          <a:xfrm>
            <a:off x="7904546" y="750102"/>
            <a:ext cx="1809206" cy="295381"/>
          </a:xfrm>
          <a:prstGeom prst="chevron">
            <a:avLst/>
          </a:prstGeom>
          <a:solidFill>
            <a:srgbClr val="17677D"/>
          </a:solidFill>
          <a:ln w="12700">
            <a:solidFill>
              <a:srgbClr val="17677D">
                <a:alpha val="0"/>
              </a:srgbClr>
            </a:solidFill>
            <a:prstDash val="solid"/>
          </a:ln>
        </p:spPr>
        <p:txBody>
          <a:bodyPr/>
          <a:lstStyle/>
          <a:p>
            <a:endParaRPr lang="en-US"/>
          </a:p>
        </p:txBody>
      </p:sp>
      <p:sp>
        <p:nvSpPr>
          <p:cNvPr id="8" name="Shape 25">
            <a:extLst>
              <a:ext uri="{FF2B5EF4-FFF2-40B4-BE49-F238E27FC236}">
                <a16:creationId xmlns:a16="http://schemas.microsoft.com/office/drawing/2014/main" id="{51526EBD-33F1-B231-E296-C457BDC10BA7}"/>
              </a:ext>
            </a:extLst>
          </p:cNvPr>
          <p:cNvSpPr/>
          <p:nvPr/>
        </p:nvSpPr>
        <p:spPr>
          <a:xfrm>
            <a:off x="9550658" y="750101"/>
            <a:ext cx="1755200"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SECOND TECHNICAL ERA</a:t>
            </a:r>
            <a:endParaRPr lang="en-US" sz="880" dirty="0"/>
          </a:p>
        </p:txBody>
      </p:sp>
      <p:sp>
        <p:nvSpPr>
          <p:cNvPr id="3" name="Text 1"/>
          <p:cNvSpPr/>
          <p:nvPr/>
        </p:nvSpPr>
        <p:spPr>
          <a:xfrm>
            <a:off x="566928" y="512064"/>
            <a:ext cx="5657347" cy="502920"/>
          </a:xfrm>
          <a:prstGeom prst="rect">
            <a:avLst/>
          </a:prstGeom>
          <a:noFill/>
          <a:ln/>
        </p:spPr>
        <p:txBody>
          <a:bodyPr wrap="square" lIns="0" tIns="0" rIns="0" bIns="0" rtlCol="0" anchor="t">
            <a:normAutofit fontScale="85000" lnSpcReduction="20000"/>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Era shift: transfer learning with pretrained CNN models</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822960" y="1371600"/>
            <a:ext cx="82296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17677D"/>
                </a:solidFill>
                <a:latin typeface="Aptos" pitchFamily="34" charset="0"/>
                <a:ea typeface="Aptos" pitchFamily="34" charset="-122"/>
                <a:cs typeface="Aptos" pitchFamily="34" charset="-120"/>
              </a:rPr>
              <a:t>Shift</a:t>
            </a:r>
            <a:endParaRPr lang="en-US" sz="1000" dirty="0"/>
          </a:p>
        </p:txBody>
      </p:sp>
      <p:sp>
        <p:nvSpPr>
          <p:cNvPr id="12" name="Text 10"/>
          <p:cNvSpPr/>
          <p:nvPr/>
        </p:nvSpPr>
        <p:spPr>
          <a:xfrm>
            <a:off x="822960" y="1664208"/>
            <a:ext cx="5486400" cy="438912"/>
          </a:xfrm>
          <a:prstGeom prst="rect">
            <a:avLst/>
          </a:prstGeom>
          <a:noFill/>
          <a:ln/>
        </p:spPr>
        <p:txBody>
          <a:bodyPr wrap="square" lIns="0" tIns="0" rIns="0" bIns="0" rtlCol="0" anchor="t">
            <a:normAutofit fontScale="85000" lnSpcReduction="10000"/>
          </a:bodyPr>
          <a:lstStyle/>
          <a:p>
            <a:pPr marL="0" indent="0" algn="l">
              <a:lnSpc>
                <a:spcPct val="90000"/>
              </a:lnSpc>
              <a:buNone/>
            </a:pPr>
            <a:r>
              <a:rPr lang="en-US" sz="2400" b="1" dirty="0">
                <a:solidFill>
                  <a:srgbClr val="1F2528"/>
                </a:solidFill>
                <a:latin typeface="Aptos Display" pitchFamily="34" charset="0"/>
                <a:ea typeface="Aptos Display" pitchFamily="34" charset="-122"/>
                <a:cs typeface="Aptos Display" pitchFamily="34" charset="-120"/>
              </a:rPr>
              <a:t>Learn the representation elsewhere. Adapt it here.</a:t>
            </a:r>
            <a:endParaRPr lang="en-US" sz="2400" dirty="0"/>
          </a:p>
        </p:txBody>
      </p:sp>
      <p:sp>
        <p:nvSpPr>
          <p:cNvPr id="13" name="Shape 11"/>
          <p:cNvSpPr/>
          <p:nvPr/>
        </p:nvSpPr>
        <p:spPr>
          <a:xfrm>
            <a:off x="914400" y="2743200"/>
            <a:ext cx="2743200" cy="1005840"/>
          </a:xfrm>
          <a:prstGeom prst="rect">
            <a:avLst/>
          </a:prstGeom>
          <a:solidFill>
            <a:srgbClr val="FFFFFF"/>
          </a:solidFill>
          <a:ln w="15240">
            <a:solidFill>
              <a:srgbClr val="17677D"/>
            </a:solidFill>
            <a:prstDash val="solid"/>
          </a:ln>
        </p:spPr>
        <p:txBody>
          <a:bodyPr/>
          <a:lstStyle/>
          <a:p>
            <a:endParaRPr lang="en-US"/>
          </a:p>
        </p:txBody>
      </p:sp>
      <p:sp>
        <p:nvSpPr>
          <p:cNvPr id="14" name="Text 12"/>
          <p:cNvSpPr/>
          <p:nvPr/>
        </p:nvSpPr>
        <p:spPr>
          <a:xfrm>
            <a:off x="1097280" y="2971800"/>
            <a:ext cx="2377440" cy="182880"/>
          </a:xfrm>
          <a:prstGeom prst="rect">
            <a:avLst/>
          </a:prstGeom>
          <a:noFill/>
          <a:ln/>
        </p:spPr>
        <p:txBody>
          <a:bodyPr wrap="square" lIns="0" tIns="0" rIns="0" bIns="0" rtlCol="0" anchor="t">
            <a:normAutofit lnSpcReduction="10000"/>
          </a:bodyPr>
          <a:lstStyle/>
          <a:p>
            <a:pPr marL="0" indent="0" algn="ctr">
              <a:lnSpc>
                <a:spcPct val="90000"/>
              </a:lnSpc>
              <a:buNone/>
            </a:pPr>
            <a:r>
              <a:rPr lang="en-US" sz="1350" b="1" dirty="0">
                <a:solidFill>
                  <a:srgbClr val="17677D"/>
                </a:solidFill>
                <a:latin typeface="Aptos" pitchFamily="34" charset="0"/>
                <a:ea typeface="Aptos" pitchFamily="34" charset="-122"/>
                <a:cs typeface="Aptos" pitchFamily="34" charset="-120"/>
              </a:rPr>
              <a:t>Large audio datasets</a:t>
            </a:r>
            <a:endParaRPr lang="en-US" sz="1350" dirty="0"/>
          </a:p>
        </p:txBody>
      </p:sp>
      <p:sp>
        <p:nvSpPr>
          <p:cNvPr id="15" name="Text 13"/>
          <p:cNvSpPr/>
          <p:nvPr/>
        </p:nvSpPr>
        <p:spPr>
          <a:xfrm>
            <a:off x="1097280" y="3246120"/>
            <a:ext cx="2377440" cy="146304"/>
          </a:xfrm>
          <a:prstGeom prst="rect">
            <a:avLst/>
          </a:prstGeom>
          <a:noFill/>
          <a:ln/>
        </p:spPr>
        <p:txBody>
          <a:bodyPr wrap="square" lIns="0" tIns="0" rIns="0" bIns="0" rtlCol="0" anchor="t">
            <a:normAutofit/>
          </a:bodyPr>
          <a:lstStyle/>
          <a:p>
            <a:pPr marL="0" indent="0" algn="ctr">
              <a:lnSpc>
                <a:spcPct val="90000"/>
              </a:lnSpc>
              <a:buNone/>
            </a:pPr>
            <a:r>
              <a:rPr lang="en-US" sz="850" dirty="0">
                <a:solidFill>
                  <a:srgbClr val="6B7176"/>
                </a:solidFill>
                <a:latin typeface="Aptos" pitchFamily="34" charset="0"/>
                <a:ea typeface="Aptos" pitchFamily="34" charset="-122"/>
                <a:cs typeface="Aptos" pitchFamily="34" charset="-120"/>
              </a:rPr>
              <a:t>pretraining</a:t>
            </a:r>
            <a:endParaRPr lang="en-US" sz="850" dirty="0"/>
          </a:p>
        </p:txBody>
      </p:sp>
      <p:sp>
        <p:nvSpPr>
          <p:cNvPr id="16" name="Shape 14"/>
          <p:cNvSpPr/>
          <p:nvPr/>
        </p:nvSpPr>
        <p:spPr>
          <a:xfrm>
            <a:off x="3886200" y="3246120"/>
            <a:ext cx="1069848" cy="0"/>
          </a:xfrm>
          <a:prstGeom prst="line">
            <a:avLst/>
          </a:prstGeom>
          <a:noFill/>
          <a:ln w="19050">
            <a:solidFill>
              <a:srgbClr val="BFC6C8"/>
            </a:solidFill>
            <a:prstDash val="solid"/>
            <a:tailEnd type="triangle"/>
          </a:ln>
        </p:spPr>
        <p:txBody>
          <a:bodyPr/>
          <a:lstStyle/>
          <a:p>
            <a:endParaRPr lang="en-US"/>
          </a:p>
        </p:txBody>
      </p:sp>
      <p:sp>
        <p:nvSpPr>
          <p:cNvPr id="17" name="Shape 15"/>
          <p:cNvSpPr/>
          <p:nvPr/>
        </p:nvSpPr>
        <p:spPr>
          <a:xfrm>
            <a:off x="5138928" y="2743200"/>
            <a:ext cx="2148840" cy="1005840"/>
          </a:xfrm>
          <a:prstGeom prst="rect">
            <a:avLst/>
          </a:prstGeom>
          <a:solidFill>
            <a:srgbClr val="FDFDFB"/>
          </a:solidFill>
          <a:ln w="10160">
            <a:solidFill>
              <a:srgbClr val="17677D"/>
            </a:solidFill>
            <a:prstDash val="solid"/>
          </a:ln>
        </p:spPr>
        <p:txBody>
          <a:bodyPr/>
          <a:lstStyle/>
          <a:p>
            <a:endParaRPr lang="en-US"/>
          </a:p>
        </p:txBody>
      </p:sp>
      <p:sp>
        <p:nvSpPr>
          <p:cNvPr id="18" name="Text 16"/>
          <p:cNvSpPr/>
          <p:nvPr/>
        </p:nvSpPr>
        <p:spPr>
          <a:xfrm>
            <a:off x="5212080" y="3172968"/>
            <a:ext cx="2002536" cy="164592"/>
          </a:xfrm>
          <a:prstGeom prst="rect">
            <a:avLst/>
          </a:prstGeom>
          <a:noFill/>
          <a:ln/>
        </p:spPr>
        <p:txBody>
          <a:bodyPr wrap="square" lIns="0" tIns="0" rIns="0" bIns="0" rtlCol="0" anchor="ctr">
            <a:normAutofit fontScale="62500" lnSpcReduction="20000"/>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Pretrained</a:t>
            </a:r>
            <a:endParaRPr lang="en-US" sz="1100" dirty="0"/>
          </a:p>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CNN-style encoder</a:t>
            </a:r>
            <a:endParaRPr lang="en-US" sz="1100" dirty="0"/>
          </a:p>
        </p:txBody>
      </p:sp>
      <p:sp>
        <p:nvSpPr>
          <p:cNvPr id="19" name="Shape 17"/>
          <p:cNvSpPr/>
          <p:nvPr/>
        </p:nvSpPr>
        <p:spPr>
          <a:xfrm>
            <a:off x="7452360" y="3246120"/>
            <a:ext cx="1005840" cy="0"/>
          </a:xfrm>
          <a:prstGeom prst="line">
            <a:avLst/>
          </a:prstGeom>
          <a:noFill/>
          <a:ln w="19050">
            <a:solidFill>
              <a:srgbClr val="BFC6C8"/>
            </a:solidFill>
            <a:prstDash val="solid"/>
            <a:tailEnd type="triangle"/>
          </a:ln>
        </p:spPr>
        <p:txBody>
          <a:bodyPr/>
          <a:lstStyle/>
          <a:p>
            <a:endParaRPr lang="en-US"/>
          </a:p>
        </p:txBody>
      </p:sp>
      <p:sp>
        <p:nvSpPr>
          <p:cNvPr id="20" name="Shape 18"/>
          <p:cNvSpPr/>
          <p:nvPr/>
        </p:nvSpPr>
        <p:spPr>
          <a:xfrm>
            <a:off x="8641080" y="2743200"/>
            <a:ext cx="1920240" cy="1005840"/>
          </a:xfrm>
          <a:prstGeom prst="rect">
            <a:avLst/>
          </a:prstGeom>
          <a:solidFill>
            <a:srgbClr val="FDFDFB"/>
          </a:solidFill>
          <a:ln w="10160">
            <a:solidFill>
              <a:srgbClr val="BFC6C8"/>
            </a:solidFill>
            <a:prstDash val="solid"/>
          </a:ln>
        </p:spPr>
        <p:txBody>
          <a:bodyPr/>
          <a:lstStyle/>
          <a:p>
            <a:endParaRPr lang="en-US"/>
          </a:p>
        </p:txBody>
      </p:sp>
      <p:sp>
        <p:nvSpPr>
          <p:cNvPr id="21" name="Text 19"/>
          <p:cNvSpPr/>
          <p:nvPr/>
        </p:nvSpPr>
        <p:spPr>
          <a:xfrm>
            <a:off x="8714232" y="3172968"/>
            <a:ext cx="1773936" cy="164592"/>
          </a:xfrm>
          <a:prstGeom prst="rect">
            <a:avLst/>
          </a:prstGeom>
          <a:noFill/>
          <a:ln/>
        </p:spPr>
        <p:txBody>
          <a:bodyPr wrap="square" lIns="0" tIns="0" rIns="0" bIns="0" rtlCol="0" anchor="ctr">
            <a:normAutofit fontScale="62500" lnSpcReduction="20000"/>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ESC-50</a:t>
            </a:r>
            <a:endParaRPr lang="en-US" sz="1100" dirty="0"/>
          </a:p>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fine-tuning</a:t>
            </a:r>
            <a:endParaRPr lang="en-US" sz="1100" dirty="0"/>
          </a:p>
        </p:txBody>
      </p:sp>
      <p:sp>
        <p:nvSpPr>
          <p:cNvPr id="22" name="Text 20"/>
          <p:cNvSpPr/>
          <p:nvPr/>
        </p:nvSpPr>
        <p:spPr>
          <a:xfrm>
            <a:off x="914400" y="4572000"/>
            <a:ext cx="9509760" cy="1024128"/>
          </a:xfrm>
          <a:prstGeom prst="rect">
            <a:avLst/>
          </a:prstGeom>
          <a:noFill/>
          <a:ln/>
        </p:spPr>
        <p:txBody>
          <a:bodyPr wrap="square" lIns="254" tIns="254" rIns="254" bIns="254" rtlCol="0" anchor="ctr">
            <a:normAutofit/>
          </a:bodyPr>
          <a:lstStyle/>
          <a:p>
            <a:r>
              <a:rPr lang="en-US" sz="1300" dirty="0">
                <a:solidFill>
                  <a:srgbClr val="1F2528"/>
                </a:solidFill>
                <a:latin typeface="Aptos" pitchFamily="34" charset="0"/>
                <a:ea typeface="Aptos" pitchFamily="34" charset="-122"/>
                <a:cs typeface="Aptos" pitchFamily="34" charset="-120"/>
              </a:rPr>
              <a:t>ESC-50 is small for learning robust audio features from scratch.</a:t>
            </a:r>
            <a:endParaRPr lang="en-US" sz="1300" dirty="0"/>
          </a:p>
          <a:p>
            <a:endParaRPr lang="en-US" sz="1300" dirty="0"/>
          </a:p>
          <a:p>
            <a:r>
              <a:rPr lang="en-US" sz="1300" dirty="0">
                <a:solidFill>
                  <a:srgbClr val="1F2528"/>
                </a:solidFill>
                <a:latin typeface="Aptos" pitchFamily="34" charset="0"/>
                <a:ea typeface="Aptos" pitchFamily="34" charset="-122"/>
                <a:cs typeface="Aptos" pitchFamily="34" charset="-120"/>
              </a:rPr>
              <a:t>Transfer learning imports representations learned from much larger audio datasets.</a:t>
            </a:r>
            <a:endParaRPr lang="en-US" sz="1300" dirty="0"/>
          </a:p>
          <a:p>
            <a:endParaRPr lang="en-US" sz="1300" dirty="0"/>
          </a:p>
          <a:p>
            <a:r>
              <a:rPr lang="en-US" sz="1300" dirty="0">
                <a:solidFill>
                  <a:srgbClr val="1F2528"/>
                </a:solidFill>
                <a:latin typeface="Aptos" pitchFamily="34" charset="0"/>
                <a:ea typeface="Aptos" pitchFamily="34" charset="-122"/>
                <a:cs typeface="Aptos" pitchFamily="34" charset="-120"/>
              </a:rPr>
              <a:t>This era tests pretrained CNN-style audio models before transformer-based audio encoders.</a:t>
            </a:r>
            <a:endParaRPr lang="en-US" sz="1300" dirty="0"/>
          </a:p>
        </p:txBody>
      </p:sp>
      <p:sp>
        <p:nvSpPr>
          <p:cNvPr id="23" name="Text 21"/>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07</a:t>
            </a:r>
            <a:endParaRPr lang="en-US" sz="750" dirty="0"/>
          </a:p>
        </p:txBody>
      </p:sp>
      <p:pic>
        <p:nvPicPr>
          <p:cNvPr id="31" name="Picture 2" descr="Cornell University Logo, symbol, meaning, history, PNG, brand">
            <a:extLst>
              <a:ext uri="{FF2B5EF4-FFF2-40B4-BE49-F238E27FC236}">
                <a16:creationId xmlns:a16="http://schemas.microsoft.com/office/drawing/2014/main" id="{62E0AF86-B513-90EF-C7B7-DDB5A9E396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32" name="Shape 19">
            <a:extLst>
              <a:ext uri="{FF2B5EF4-FFF2-40B4-BE49-F238E27FC236}">
                <a16:creationId xmlns:a16="http://schemas.microsoft.com/office/drawing/2014/main" id="{260A39BB-675D-9A5C-9111-93699EA456EF}"/>
              </a:ext>
            </a:extLst>
          </p:cNvPr>
          <p:cNvSpPr/>
          <p:nvPr/>
        </p:nvSpPr>
        <p:spPr>
          <a:xfrm>
            <a:off x="6237447" y="751408"/>
            <a:ext cx="1809206" cy="295381"/>
          </a:xfrm>
          <a:prstGeom prst="chevron">
            <a:avLst/>
          </a:prstGeom>
          <a:solidFill>
            <a:srgbClr val="D7DDE0">
              <a:alpha val="90000"/>
            </a:srgbClr>
          </a:solidFill>
          <a:ln w="12700">
            <a:solidFill>
              <a:srgbClr val="F7F5EF"/>
            </a:solidFill>
            <a:prstDash val="solid"/>
          </a:ln>
        </p:spPr>
        <p:txBody>
          <a:bodyPr/>
          <a:lstStyle/>
          <a:p>
            <a:endParaRPr lang="en-US" sz="1100" dirty="0"/>
          </a:p>
        </p:txBody>
      </p:sp>
      <p:sp>
        <p:nvSpPr>
          <p:cNvPr id="33" name="Text 20">
            <a:extLst>
              <a:ext uri="{FF2B5EF4-FFF2-40B4-BE49-F238E27FC236}">
                <a16:creationId xmlns:a16="http://schemas.microsoft.com/office/drawing/2014/main" id="{BA526180-DF64-53B3-1180-B6DBF5A9B1C8}"/>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Training from scratch</a:t>
            </a:r>
          </a:p>
        </p:txBody>
      </p:sp>
      <p:sp>
        <p:nvSpPr>
          <p:cNvPr id="34" name="Text 21">
            <a:extLst>
              <a:ext uri="{FF2B5EF4-FFF2-40B4-BE49-F238E27FC236}">
                <a16:creationId xmlns:a16="http://schemas.microsoft.com/office/drawing/2014/main" id="{91AA0ADC-A28C-7C05-372C-FD6A76EC5657}"/>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6B7176"/>
                </a:solidFill>
                <a:latin typeface="Aptos" pitchFamily="34" charset="0"/>
              </a:rPr>
              <a:t>Piczak</a:t>
            </a:r>
            <a:r>
              <a:rPr lang="en-US" sz="500" dirty="0">
                <a:solidFill>
                  <a:srgbClr val="6B7176"/>
                </a:solidFill>
                <a:latin typeface="Aptos" pitchFamily="34" charset="0"/>
              </a:rPr>
              <a:t> CNN | Variations | LSTM</a:t>
            </a:r>
          </a:p>
        </p:txBody>
      </p:sp>
      <p:sp>
        <p:nvSpPr>
          <p:cNvPr id="36" name="Text 23">
            <a:extLst>
              <a:ext uri="{FF2B5EF4-FFF2-40B4-BE49-F238E27FC236}">
                <a16:creationId xmlns:a16="http://schemas.microsoft.com/office/drawing/2014/main" id="{5795C228-2271-C0A9-F5DA-A886FEE6BFCA}"/>
              </a:ext>
            </a:extLst>
          </p:cNvPr>
          <p:cNvSpPr/>
          <p:nvPr/>
        </p:nvSpPr>
        <p:spPr>
          <a:xfrm>
            <a:off x="7976392" y="839252"/>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FFFFFF"/>
                </a:solidFill>
                <a:latin typeface="Aptos" pitchFamily="34" charset="0"/>
              </a:rPr>
              <a:t>Transfer learning: pretrained CNN</a:t>
            </a:r>
          </a:p>
        </p:txBody>
      </p:sp>
      <p:sp>
        <p:nvSpPr>
          <p:cNvPr id="39" name="Text 26">
            <a:extLst>
              <a:ext uri="{FF2B5EF4-FFF2-40B4-BE49-F238E27FC236}">
                <a16:creationId xmlns:a16="http://schemas.microsoft.com/office/drawing/2014/main" id="{180CCBB2-1146-638B-A7EE-280D19E1094A}"/>
              </a:ext>
            </a:extLst>
          </p:cNvPr>
          <p:cNvSpPr/>
          <p:nvPr/>
        </p:nvSpPr>
        <p:spPr>
          <a:xfrm>
            <a:off x="9657605" y="848441"/>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transformers</a:t>
            </a:r>
            <a:endParaRPr lang="en-US" sz="700" dirty="0"/>
          </a:p>
        </p:txBody>
      </p:sp>
      <p:sp>
        <p:nvSpPr>
          <p:cNvPr id="40" name="Text 27">
            <a:extLst>
              <a:ext uri="{FF2B5EF4-FFF2-40B4-BE49-F238E27FC236}">
                <a16:creationId xmlns:a16="http://schemas.microsoft.com/office/drawing/2014/main" id="{3FEF8C9C-411D-2FBC-9DE3-A476A096BB75}"/>
              </a:ext>
            </a:extLst>
          </p:cNvPr>
          <p:cNvSpPr/>
          <p:nvPr/>
        </p:nvSpPr>
        <p:spPr>
          <a:xfrm>
            <a:off x="9657605" y="944489"/>
            <a:ext cx="1662902" cy="107931"/>
          </a:xfrm>
          <a:prstGeom prst="rect">
            <a:avLst/>
          </a:prstGeom>
          <a:noFill/>
          <a:ln/>
        </p:spPr>
        <p:txBody>
          <a:bodyPr wrap="square" lIns="0" tIns="0" rIns="0" bIns="0" rtlCol="0" anchor="t">
            <a:normAutofit/>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AST | BEATs</a:t>
            </a:r>
            <a:endParaRPr lang="en-US" sz="500" dirty="0"/>
          </a:p>
        </p:txBody>
      </p:sp>
      <p:sp>
        <p:nvSpPr>
          <p:cNvPr id="10" name="Text 24">
            <a:extLst>
              <a:ext uri="{FF2B5EF4-FFF2-40B4-BE49-F238E27FC236}">
                <a16:creationId xmlns:a16="http://schemas.microsoft.com/office/drawing/2014/main" id="{1C039644-5A2D-090F-2305-74160B1D24BB}"/>
              </a:ext>
            </a:extLst>
          </p:cNvPr>
          <p:cNvSpPr/>
          <p:nvPr/>
        </p:nvSpPr>
        <p:spPr>
          <a:xfrm>
            <a:off x="7997198" y="941012"/>
            <a:ext cx="1597682" cy="58389"/>
          </a:xfrm>
          <a:prstGeom prst="rect">
            <a:avLst/>
          </a:prstGeom>
          <a:noFill/>
          <a:ln/>
        </p:spPr>
        <p:txBody>
          <a:bodyPr wrap="square" lIns="0" tIns="0" rIns="0" bIns="0" rtlCol="0" anchor="t">
            <a:normAutofit fontScale="92500" lnSpcReduction="20000"/>
          </a:bodyPr>
          <a:lstStyle/>
          <a:p>
            <a:pPr algn="ctr">
              <a:lnSpc>
                <a:spcPct val="90000"/>
              </a:lnSpc>
            </a:pPr>
            <a:r>
              <a:rPr lang="en-US" sz="500" dirty="0">
                <a:solidFill>
                  <a:schemeClr val="bg1">
                    <a:lumMod val="75000"/>
                  </a:schemeClr>
                </a:solidFill>
                <a:latin typeface="Aptos" pitchFamily="34" charset="0"/>
              </a:rPr>
              <a:t>VGGish | YAMNet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7" name="Shape 22">
            <a:extLst>
              <a:ext uri="{FF2B5EF4-FFF2-40B4-BE49-F238E27FC236}">
                <a16:creationId xmlns:a16="http://schemas.microsoft.com/office/drawing/2014/main" id="{4E8E16E2-37B9-346D-B13E-9C3F8B2A7500}"/>
              </a:ext>
            </a:extLst>
          </p:cNvPr>
          <p:cNvSpPr/>
          <p:nvPr/>
        </p:nvSpPr>
        <p:spPr>
          <a:xfrm>
            <a:off x="7904546" y="750102"/>
            <a:ext cx="1809206" cy="295381"/>
          </a:xfrm>
          <a:prstGeom prst="chevron">
            <a:avLst/>
          </a:prstGeom>
          <a:solidFill>
            <a:srgbClr val="17677D"/>
          </a:solidFill>
          <a:ln w="12700">
            <a:solidFill>
              <a:srgbClr val="17677D">
                <a:alpha val="0"/>
              </a:srgbClr>
            </a:solidFill>
            <a:prstDash val="solid"/>
          </a:ln>
        </p:spPr>
        <p:txBody>
          <a:bodyPr/>
          <a:lstStyle/>
          <a:p>
            <a:endParaRPr lang="en-US"/>
          </a:p>
        </p:txBody>
      </p:sp>
      <p:sp>
        <p:nvSpPr>
          <p:cNvPr id="5" name="Shape 25">
            <a:extLst>
              <a:ext uri="{FF2B5EF4-FFF2-40B4-BE49-F238E27FC236}">
                <a16:creationId xmlns:a16="http://schemas.microsoft.com/office/drawing/2014/main" id="{9F30B7A7-BFD8-075B-34FF-ABCDEB723B59}"/>
              </a:ext>
            </a:extLst>
          </p:cNvPr>
          <p:cNvSpPr/>
          <p:nvPr/>
        </p:nvSpPr>
        <p:spPr>
          <a:xfrm>
            <a:off x="9550658" y="750101"/>
            <a:ext cx="1755200"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ERA 2: PRETRAINED CNN MODELS</a:t>
            </a:r>
            <a:endParaRPr lang="en-US" sz="880" dirty="0"/>
          </a:p>
        </p:txBody>
      </p:sp>
      <p:sp>
        <p:nvSpPr>
          <p:cNvPr id="3" name="Text 1"/>
          <p:cNvSpPr/>
          <p:nvPr/>
        </p:nvSpPr>
        <p:spPr>
          <a:xfrm>
            <a:off x="566928" y="512064"/>
            <a:ext cx="5574228"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VGGish</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08</a:t>
            </a:r>
            <a:endParaRPr lang="en-US" sz="750" dirty="0"/>
          </a:p>
        </p:txBody>
      </p:sp>
      <p:sp>
        <p:nvSpPr>
          <p:cNvPr id="14" name="Text 12"/>
          <p:cNvSpPr/>
          <p:nvPr/>
        </p:nvSpPr>
        <p:spPr>
          <a:xfrm>
            <a:off x="731520" y="1591056"/>
            <a:ext cx="4937760" cy="411480"/>
          </a:xfrm>
          <a:prstGeom prst="rect">
            <a:avLst/>
          </a:prstGeom>
          <a:noFill/>
          <a:ln/>
        </p:spPr>
        <p:txBody>
          <a:bodyPr wrap="square" lIns="0" tIns="0" rIns="0" bIns="0" rtlCol="0" anchor="t">
            <a:normAutofit fontScale="62500" lnSpcReduction="20000"/>
          </a:bodyPr>
          <a:lstStyle/>
          <a:p>
            <a:pPr marL="0" indent="0" algn="l">
              <a:lnSpc>
                <a:spcPct val="90000"/>
              </a:lnSpc>
              <a:buNone/>
            </a:pPr>
            <a:r>
              <a:rPr lang="en-US" sz="1850" dirty="0" err="1">
                <a:solidFill>
                  <a:srgbClr val="1F2528"/>
                </a:solidFill>
                <a:latin typeface="Aptos Display" pitchFamily="34" charset="0"/>
              </a:rPr>
              <a:t>VGGish</a:t>
            </a:r>
            <a:r>
              <a:rPr lang="en-US" sz="1850" dirty="0">
                <a:solidFill>
                  <a:srgbClr val="1F2528"/>
                </a:solidFill>
                <a:latin typeface="Aptos Display" pitchFamily="34" charset="0"/>
              </a:rPr>
              <a:t> as a pretrained model has already trained to detect acoustic patterns and differences between sound types (speech, music, etc.) This acts as a catalyst for feature extraction on the ESC-50 dataset.</a:t>
            </a:r>
            <a:endParaRPr lang="en-US" sz="1850" dirty="0"/>
          </a:p>
        </p:txBody>
      </p:sp>
      <p:pic>
        <p:nvPicPr>
          <p:cNvPr id="28" name="Image 0"/>
          <p:cNvPicPr>
            <a:picLocks noChangeAspect="1"/>
          </p:cNvPicPr>
          <p:nvPr/>
        </p:nvPicPr>
        <p:blipFill>
          <a:blip r:embed="rId3"/>
          <a:srcRect/>
          <a:stretch/>
        </p:blipFill>
        <p:spPr>
          <a:xfrm>
            <a:off x="6012932" y="1680632"/>
            <a:ext cx="5739517" cy="2232034"/>
          </a:xfrm>
          <a:prstGeom prst="rect">
            <a:avLst/>
          </a:prstGeom>
        </p:spPr>
      </p:pic>
      <p:sp>
        <p:nvSpPr>
          <p:cNvPr id="31" name="Text 27"/>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08</a:t>
            </a:r>
            <a:endParaRPr lang="en-US" sz="750" dirty="0"/>
          </a:p>
        </p:txBody>
      </p:sp>
      <p:pic>
        <p:nvPicPr>
          <p:cNvPr id="39" name="Picture 2" descr="Cornell University Logo, symbol, meaning, history, PNG, brand">
            <a:extLst>
              <a:ext uri="{FF2B5EF4-FFF2-40B4-BE49-F238E27FC236}">
                <a16:creationId xmlns:a16="http://schemas.microsoft.com/office/drawing/2014/main" id="{70581EA3-7FD6-9274-5A7F-2276042D870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49" name="Shape 19">
            <a:extLst>
              <a:ext uri="{FF2B5EF4-FFF2-40B4-BE49-F238E27FC236}">
                <a16:creationId xmlns:a16="http://schemas.microsoft.com/office/drawing/2014/main" id="{F4B1D313-400F-C86F-F1BC-66831C991BF8}"/>
              </a:ext>
            </a:extLst>
          </p:cNvPr>
          <p:cNvSpPr/>
          <p:nvPr/>
        </p:nvSpPr>
        <p:spPr>
          <a:xfrm>
            <a:off x="6237447" y="751408"/>
            <a:ext cx="1809206" cy="295381"/>
          </a:xfrm>
          <a:prstGeom prst="chevron">
            <a:avLst/>
          </a:prstGeom>
          <a:solidFill>
            <a:srgbClr val="D7DDE0">
              <a:alpha val="90000"/>
            </a:srgbClr>
          </a:solidFill>
          <a:ln w="12700">
            <a:solidFill>
              <a:srgbClr val="F7F5EF"/>
            </a:solidFill>
            <a:prstDash val="solid"/>
          </a:ln>
        </p:spPr>
        <p:txBody>
          <a:bodyPr/>
          <a:lstStyle/>
          <a:p>
            <a:endParaRPr lang="en-US" sz="1100" dirty="0"/>
          </a:p>
        </p:txBody>
      </p:sp>
      <p:sp>
        <p:nvSpPr>
          <p:cNvPr id="50" name="Text 20">
            <a:extLst>
              <a:ext uri="{FF2B5EF4-FFF2-40B4-BE49-F238E27FC236}">
                <a16:creationId xmlns:a16="http://schemas.microsoft.com/office/drawing/2014/main" id="{E1448172-5396-E3C6-4D40-8BDEEC0A707A}"/>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Training from scratch</a:t>
            </a:r>
          </a:p>
        </p:txBody>
      </p:sp>
      <p:sp>
        <p:nvSpPr>
          <p:cNvPr id="51" name="Text 21">
            <a:extLst>
              <a:ext uri="{FF2B5EF4-FFF2-40B4-BE49-F238E27FC236}">
                <a16:creationId xmlns:a16="http://schemas.microsoft.com/office/drawing/2014/main" id="{B54F4DD5-DC85-A01E-61D4-C388D677A0B4}"/>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6B7176"/>
                </a:solidFill>
                <a:latin typeface="Aptos" pitchFamily="34" charset="0"/>
              </a:rPr>
              <a:t>Piczak</a:t>
            </a:r>
            <a:r>
              <a:rPr lang="en-US" sz="500" dirty="0">
                <a:solidFill>
                  <a:srgbClr val="6B7176"/>
                </a:solidFill>
                <a:latin typeface="Aptos" pitchFamily="34" charset="0"/>
              </a:rPr>
              <a:t> CNN | Variations | LSTM</a:t>
            </a:r>
          </a:p>
        </p:txBody>
      </p:sp>
      <p:sp>
        <p:nvSpPr>
          <p:cNvPr id="53" name="Text 23">
            <a:extLst>
              <a:ext uri="{FF2B5EF4-FFF2-40B4-BE49-F238E27FC236}">
                <a16:creationId xmlns:a16="http://schemas.microsoft.com/office/drawing/2014/main" id="{95E66961-629E-D6C7-A190-6EAAC2228176}"/>
              </a:ext>
            </a:extLst>
          </p:cNvPr>
          <p:cNvSpPr/>
          <p:nvPr/>
        </p:nvSpPr>
        <p:spPr>
          <a:xfrm>
            <a:off x="7976392" y="839252"/>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FFFFFF"/>
                </a:solidFill>
                <a:latin typeface="Aptos" pitchFamily="34" charset="0"/>
              </a:rPr>
              <a:t>Transfer learning: pretrained CNN</a:t>
            </a:r>
          </a:p>
        </p:txBody>
      </p:sp>
      <p:sp>
        <p:nvSpPr>
          <p:cNvPr id="54" name="Text 24">
            <a:extLst>
              <a:ext uri="{FF2B5EF4-FFF2-40B4-BE49-F238E27FC236}">
                <a16:creationId xmlns:a16="http://schemas.microsoft.com/office/drawing/2014/main" id="{0289B8E7-D505-8143-3E78-9A71FD0CFFD8}"/>
              </a:ext>
            </a:extLst>
          </p:cNvPr>
          <p:cNvSpPr/>
          <p:nvPr/>
        </p:nvSpPr>
        <p:spPr>
          <a:xfrm>
            <a:off x="7997198" y="941012"/>
            <a:ext cx="1597682" cy="58389"/>
          </a:xfrm>
          <a:prstGeom prst="rect">
            <a:avLst/>
          </a:prstGeom>
          <a:noFill/>
          <a:ln/>
        </p:spPr>
        <p:txBody>
          <a:bodyPr wrap="square" lIns="0" tIns="0" rIns="0" bIns="0" rtlCol="0" anchor="t">
            <a:normAutofit fontScale="92500" lnSpcReduction="20000"/>
          </a:bodyPr>
          <a:lstStyle/>
          <a:p>
            <a:pPr algn="ctr">
              <a:lnSpc>
                <a:spcPct val="90000"/>
              </a:lnSpc>
            </a:pPr>
            <a:r>
              <a:rPr lang="en-US" sz="500" b="1" dirty="0">
                <a:solidFill>
                  <a:srgbClr val="FFFFFF"/>
                </a:solidFill>
                <a:latin typeface="Aptos" pitchFamily="34" charset="0"/>
              </a:rPr>
              <a:t>VGGish</a:t>
            </a:r>
            <a:r>
              <a:rPr lang="en-US" sz="500" dirty="0">
                <a:solidFill>
                  <a:srgbClr val="FFFFFF"/>
                </a:solidFill>
                <a:latin typeface="Aptos" pitchFamily="34" charset="0"/>
              </a:rPr>
              <a:t> </a:t>
            </a:r>
            <a:r>
              <a:rPr lang="en-US" sz="500" dirty="0">
                <a:solidFill>
                  <a:schemeClr val="bg1">
                    <a:lumMod val="75000"/>
                  </a:schemeClr>
                </a:solidFill>
                <a:latin typeface="Aptos" pitchFamily="34" charset="0"/>
              </a:rPr>
              <a:t>| YAMNet</a:t>
            </a:r>
          </a:p>
        </p:txBody>
      </p:sp>
      <p:sp>
        <p:nvSpPr>
          <p:cNvPr id="56" name="Text 26">
            <a:extLst>
              <a:ext uri="{FF2B5EF4-FFF2-40B4-BE49-F238E27FC236}">
                <a16:creationId xmlns:a16="http://schemas.microsoft.com/office/drawing/2014/main" id="{E0FD8DBC-AB01-E774-B34D-96709E6C3731}"/>
              </a:ext>
            </a:extLst>
          </p:cNvPr>
          <p:cNvSpPr/>
          <p:nvPr/>
        </p:nvSpPr>
        <p:spPr>
          <a:xfrm>
            <a:off x="9657605" y="848441"/>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transformers</a:t>
            </a:r>
            <a:endParaRPr lang="en-US" sz="700" dirty="0"/>
          </a:p>
        </p:txBody>
      </p:sp>
      <p:sp>
        <p:nvSpPr>
          <p:cNvPr id="57" name="Text 27">
            <a:extLst>
              <a:ext uri="{FF2B5EF4-FFF2-40B4-BE49-F238E27FC236}">
                <a16:creationId xmlns:a16="http://schemas.microsoft.com/office/drawing/2014/main" id="{18261ED5-3C63-046F-BC20-333C41372F6E}"/>
              </a:ext>
            </a:extLst>
          </p:cNvPr>
          <p:cNvSpPr/>
          <p:nvPr/>
        </p:nvSpPr>
        <p:spPr>
          <a:xfrm>
            <a:off x="9657605" y="944489"/>
            <a:ext cx="1662902" cy="107931"/>
          </a:xfrm>
          <a:prstGeom prst="rect">
            <a:avLst/>
          </a:prstGeom>
          <a:noFill/>
          <a:ln/>
        </p:spPr>
        <p:txBody>
          <a:bodyPr wrap="square" lIns="0" tIns="0" rIns="0" bIns="0" rtlCol="0" anchor="t">
            <a:normAutofit/>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AST | BEATs</a:t>
            </a:r>
            <a:endParaRPr lang="en-US" sz="500" dirty="0"/>
          </a:p>
        </p:txBody>
      </p:sp>
      <p:sp>
        <p:nvSpPr>
          <p:cNvPr id="62" name="Text 13">
            <a:extLst>
              <a:ext uri="{FF2B5EF4-FFF2-40B4-BE49-F238E27FC236}">
                <a16:creationId xmlns:a16="http://schemas.microsoft.com/office/drawing/2014/main" id="{229E2658-112E-F719-49CE-9985BC24BC31}"/>
              </a:ext>
            </a:extLst>
          </p:cNvPr>
          <p:cNvSpPr/>
          <p:nvPr/>
        </p:nvSpPr>
        <p:spPr>
          <a:xfrm>
            <a:off x="749808" y="2121408"/>
            <a:ext cx="4892040" cy="164592"/>
          </a:xfrm>
          <a:prstGeom prst="rect">
            <a:avLst/>
          </a:prstGeom>
          <a:noFill/>
          <a:ln/>
        </p:spPr>
        <p:txBody>
          <a:bodyPr wrap="square" lIns="0" tIns="0" rIns="0" bIns="0" rtlCol="0" anchor="t">
            <a:normAutofit/>
          </a:bodyPr>
          <a:lstStyle/>
          <a:p>
            <a:pPr marL="0" indent="0" algn="l">
              <a:lnSpc>
                <a:spcPct val="90000"/>
              </a:lnSpc>
              <a:buNone/>
            </a:pPr>
            <a:r>
              <a:rPr lang="en-US" sz="1020" b="1" dirty="0">
                <a:solidFill>
                  <a:srgbClr val="6B7176"/>
                </a:solidFill>
                <a:latin typeface="Aptos" pitchFamily="34" charset="0"/>
                <a:ea typeface="Aptos" pitchFamily="34" charset="-122"/>
                <a:cs typeface="Aptos" pitchFamily="34" charset="-120"/>
              </a:rPr>
              <a:t>VGGish architecture</a:t>
            </a:r>
            <a:endParaRPr lang="en-US" sz="1020" dirty="0"/>
          </a:p>
        </p:txBody>
      </p:sp>
      <p:graphicFrame>
        <p:nvGraphicFramePr>
          <p:cNvPr id="63" name="Table 0">
            <a:extLst>
              <a:ext uri="{FF2B5EF4-FFF2-40B4-BE49-F238E27FC236}">
                <a16:creationId xmlns:a16="http://schemas.microsoft.com/office/drawing/2014/main" id="{67D2C704-0661-0B2F-A14F-6D045430F0F2}"/>
              </a:ext>
            </a:extLst>
          </p:cNvPr>
          <p:cNvGraphicFramePr>
            <a:graphicFrameLocks noGrp="1"/>
          </p:cNvGraphicFramePr>
          <p:nvPr>
            <p:extLst>
              <p:ext uri="{D42A27DB-BD31-4B8C-83A1-F6EECF244321}">
                <p14:modId xmlns:p14="http://schemas.microsoft.com/office/powerpoint/2010/main" val="598496692"/>
              </p:ext>
            </p:extLst>
          </p:nvPr>
        </p:nvGraphicFramePr>
        <p:xfrm>
          <a:off x="749808" y="2359153"/>
          <a:ext cx="4389117" cy="1496568"/>
        </p:xfrm>
        <a:graphic>
          <a:graphicData uri="http://schemas.openxmlformats.org/drawingml/2006/table">
            <a:tbl>
              <a:tblPr/>
              <a:tblGrid>
                <a:gridCol w="1107534">
                  <a:extLst>
                    <a:ext uri="{9D8B030D-6E8A-4147-A177-3AD203B41FA5}">
                      <a16:colId xmlns:a16="http://schemas.microsoft.com/office/drawing/2014/main" val="20000"/>
                    </a:ext>
                  </a:extLst>
                </a:gridCol>
                <a:gridCol w="3281583">
                  <a:extLst>
                    <a:ext uri="{9D8B030D-6E8A-4147-A177-3AD203B41FA5}">
                      <a16:colId xmlns:a16="http://schemas.microsoft.com/office/drawing/2014/main" val="20001"/>
                    </a:ext>
                  </a:extLst>
                </a:gridCol>
              </a:tblGrid>
              <a:tr h="194143">
                <a:tc>
                  <a:txBody>
                    <a:bodyPr/>
                    <a:lstStyle/>
                    <a:p>
                      <a:pPr marL="0" indent="0">
                        <a:buNone/>
                      </a:pPr>
                      <a:r>
                        <a:rPr lang="en-US" sz="1030" b="1" dirty="0">
                          <a:solidFill>
                            <a:srgbClr val="FFFFFF"/>
                          </a:solidFill>
                        </a:rPr>
                        <a:t>Step</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17677D"/>
                    </a:solidFill>
                  </a:tcPr>
                </a:tc>
                <a:tc>
                  <a:txBody>
                    <a:bodyPr/>
                    <a:lstStyle/>
                    <a:p>
                      <a:pPr marL="0" indent="0">
                        <a:buNone/>
                      </a:pPr>
                      <a:r>
                        <a:rPr lang="en-US" sz="1030" b="1" dirty="0">
                          <a:solidFill>
                            <a:srgbClr val="FFFFFF"/>
                          </a:solidFill>
                        </a:rPr>
                        <a:t>Parameters / implementation</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17677D"/>
                    </a:solidFill>
                  </a:tcPr>
                </a:tc>
                <a:extLst>
                  <a:ext uri="{0D108BD9-81ED-4DB2-BD59-A6C34878D82A}">
                    <a16:rowId xmlns:a16="http://schemas.microsoft.com/office/drawing/2014/main" val="10000"/>
                  </a:ext>
                </a:extLst>
              </a:tr>
              <a:tr h="194143">
                <a:tc>
                  <a:txBody>
                    <a:bodyPr/>
                    <a:lstStyle/>
                    <a:p>
                      <a:pPr marL="0" indent="0">
                        <a:buNone/>
                      </a:pPr>
                      <a:r>
                        <a:rPr lang="en-US" sz="695" b="1" dirty="0">
                          <a:solidFill>
                            <a:srgbClr val="1F2528"/>
                          </a:solidFill>
                        </a:rPr>
                        <a:t>Input</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95" dirty="0">
                          <a:solidFill>
                            <a:srgbClr val="1F2528"/>
                          </a:solidFill>
                        </a:rPr>
                        <a:t>16 kHz waveform -&gt; VGGish log-mel examples</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194143">
                <a:tc>
                  <a:txBody>
                    <a:bodyPr/>
                    <a:lstStyle/>
                    <a:p>
                      <a:pPr marL="0" indent="0">
                        <a:buNone/>
                      </a:pPr>
                      <a:r>
                        <a:rPr lang="en-US" sz="695" b="1" dirty="0">
                          <a:solidFill>
                            <a:srgbClr val="1F2528"/>
                          </a:solidFill>
                        </a:rPr>
                        <a:t>Encoder</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95" dirty="0">
                          <a:solidFill>
                            <a:srgbClr val="1F2528"/>
                          </a:solidFill>
                        </a:rPr>
                        <a:t>Pretrained VGGish CNN embedding network; output 128-d vector</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194143">
                <a:tc>
                  <a:txBody>
                    <a:bodyPr/>
                    <a:lstStyle/>
                    <a:p>
                      <a:pPr marL="0" indent="0">
                        <a:buNone/>
                      </a:pPr>
                      <a:r>
                        <a:rPr lang="en-US" sz="695" b="1" dirty="0">
                          <a:solidFill>
                            <a:srgbClr val="1F2528"/>
                          </a:solidFill>
                        </a:rPr>
                        <a:t>Head</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95" dirty="0">
                          <a:solidFill>
                            <a:srgbClr val="1F2528"/>
                          </a:solidFill>
                        </a:rPr>
                        <a:t>Linear 128-&gt;256; ReLU; Dropout 0.3; Linear 256-&gt;50</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194143">
                <a:tc>
                  <a:txBody>
                    <a:bodyPr/>
                    <a:lstStyle/>
                    <a:p>
                      <a:pPr marL="0" indent="0">
                        <a:buNone/>
                      </a:pPr>
                      <a:r>
                        <a:rPr lang="en-US" sz="695" b="1" dirty="0">
                          <a:solidFill>
                            <a:srgbClr val="1F2528"/>
                          </a:solidFill>
                        </a:rPr>
                        <a:t>Frozen run</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95" dirty="0">
                          <a:solidFill>
                            <a:srgbClr val="1F2528"/>
                          </a:solidFill>
                        </a:rPr>
                        <a:t>Freeze VGGish; train classifier only; Adam lr 1e-3</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r h="194143">
                <a:tc>
                  <a:txBody>
                    <a:bodyPr/>
                    <a:lstStyle/>
                    <a:p>
                      <a:pPr marL="0" indent="0">
                        <a:buNone/>
                      </a:pPr>
                      <a:r>
                        <a:rPr lang="en-US" sz="695" b="1" dirty="0">
                          <a:solidFill>
                            <a:srgbClr val="1F2528"/>
                          </a:solidFill>
                        </a:rPr>
                        <a:t>Fine-tuned run</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95" dirty="0">
                          <a:solidFill>
                            <a:srgbClr val="1F2528"/>
                          </a:solidFill>
                        </a:rPr>
                        <a:t>Train VGGish + classifier; Adam lr 1e-4</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5"/>
                  </a:ext>
                </a:extLst>
              </a:tr>
              <a:tr h="194143">
                <a:tc>
                  <a:txBody>
                    <a:bodyPr/>
                    <a:lstStyle/>
                    <a:p>
                      <a:pPr marL="0" indent="0">
                        <a:buNone/>
                      </a:pPr>
                      <a:r>
                        <a:rPr lang="en-US" sz="695" b="1" dirty="0">
                          <a:solidFill>
                            <a:srgbClr val="1F2528"/>
                          </a:solidFill>
                        </a:rPr>
                        <a:t>Training</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95" dirty="0">
                          <a:solidFill>
                            <a:srgbClr val="1F2528"/>
                          </a:solidFill>
                        </a:rPr>
                        <a:t>CrossEntropyLoss; batch size 32; 50 epochs; 5 official folds</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6"/>
                  </a:ext>
                </a:extLst>
              </a:tr>
            </a:tbl>
          </a:graphicData>
        </a:graphic>
      </p:graphicFrame>
      <p:sp>
        <p:nvSpPr>
          <p:cNvPr id="67" name="Text 36">
            <a:extLst>
              <a:ext uri="{FF2B5EF4-FFF2-40B4-BE49-F238E27FC236}">
                <a16:creationId xmlns:a16="http://schemas.microsoft.com/office/drawing/2014/main" id="{7B2605E7-9EA7-2676-394D-83EB409E56B8}"/>
              </a:ext>
            </a:extLst>
          </p:cNvPr>
          <p:cNvSpPr/>
          <p:nvPr/>
        </p:nvSpPr>
        <p:spPr>
          <a:xfrm>
            <a:off x="731520" y="4425695"/>
            <a:ext cx="1645920" cy="182880"/>
          </a:xfrm>
          <a:prstGeom prst="rect">
            <a:avLst/>
          </a:prstGeom>
          <a:noFill/>
          <a:ln/>
        </p:spPr>
        <p:txBody>
          <a:bodyPr wrap="square" lIns="0" tIns="0" rIns="0" bIns="0" rtlCol="0" anchor="t">
            <a:normAutofit/>
          </a:bodyPr>
          <a:lstStyle/>
          <a:p>
            <a:pPr>
              <a:lnSpc>
                <a:spcPct val="90000"/>
              </a:lnSpc>
            </a:pPr>
            <a:r>
              <a:rPr lang="en-US" sz="1000" b="1" dirty="0">
                <a:solidFill>
                  <a:srgbClr val="17677D"/>
                </a:solidFill>
                <a:latin typeface="Aptos" pitchFamily="34" charset="0"/>
              </a:rPr>
              <a:t>Results</a:t>
            </a:r>
          </a:p>
        </p:txBody>
      </p:sp>
      <p:sp>
        <p:nvSpPr>
          <p:cNvPr id="68" name="Text 37">
            <a:extLst>
              <a:ext uri="{FF2B5EF4-FFF2-40B4-BE49-F238E27FC236}">
                <a16:creationId xmlns:a16="http://schemas.microsoft.com/office/drawing/2014/main" id="{52A94FD0-6FBB-522B-5D0B-8FE8E3D8FA09}"/>
              </a:ext>
            </a:extLst>
          </p:cNvPr>
          <p:cNvSpPr/>
          <p:nvPr/>
        </p:nvSpPr>
        <p:spPr>
          <a:xfrm>
            <a:off x="731519" y="4727446"/>
            <a:ext cx="4106203" cy="914400"/>
          </a:xfrm>
          <a:prstGeom prst="rect">
            <a:avLst/>
          </a:prstGeom>
          <a:noFill/>
          <a:ln/>
        </p:spPr>
        <p:txBody>
          <a:bodyPr wrap="square" lIns="0" tIns="0" rIns="0" bIns="0" rtlCol="0" anchor="t">
            <a:normAutofit/>
          </a:bodyPr>
          <a:lstStyle/>
          <a:p>
            <a:pPr marL="0" indent="0" algn="l">
              <a:lnSpc>
                <a:spcPct val="90000"/>
              </a:lnSpc>
              <a:buNone/>
            </a:pPr>
            <a:r>
              <a:rPr lang="en-US" sz="1200" dirty="0">
                <a:solidFill>
                  <a:srgbClr val="1F2528"/>
                </a:solidFill>
                <a:latin typeface="Aptos" pitchFamily="34" charset="0"/>
                <a:ea typeface="Aptos" pitchFamily="34" charset="-122"/>
                <a:cs typeface="Aptos" pitchFamily="34" charset="-120"/>
              </a:rPr>
              <a:t>While training accuracy improved significantly, pretraining is not automatically enough; representation fit and optimization choices matter. Test accuracy performed much lower at 64.5% and 61% for Frozen and Fine-Tuned models respectively</a:t>
            </a:r>
            <a:endParaRPr lang="en-US" sz="1200" dirty="0"/>
          </a:p>
        </p:txBody>
      </p:sp>
      <p:grpSp>
        <p:nvGrpSpPr>
          <p:cNvPr id="6" name="Group 5">
            <a:extLst>
              <a:ext uri="{FF2B5EF4-FFF2-40B4-BE49-F238E27FC236}">
                <a16:creationId xmlns:a16="http://schemas.microsoft.com/office/drawing/2014/main" id="{A4CEFFAD-9D45-801C-C7A8-30DC06BBFD52}"/>
              </a:ext>
            </a:extLst>
          </p:cNvPr>
          <p:cNvGrpSpPr/>
          <p:nvPr/>
        </p:nvGrpSpPr>
        <p:grpSpPr>
          <a:xfrm>
            <a:off x="6478524" y="4643132"/>
            <a:ext cx="1920240" cy="772294"/>
            <a:chOff x="6957490" y="4123666"/>
            <a:chExt cx="1920240" cy="772294"/>
          </a:xfrm>
        </p:grpSpPr>
        <p:sp>
          <p:nvSpPr>
            <p:cNvPr id="8" name="Shape 48">
              <a:extLst>
                <a:ext uri="{FF2B5EF4-FFF2-40B4-BE49-F238E27FC236}">
                  <a16:creationId xmlns:a16="http://schemas.microsoft.com/office/drawing/2014/main" id="{69167FE1-7828-9BF8-EC1C-81E436E87F49}"/>
                </a:ext>
              </a:extLst>
            </p:cNvPr>
            <p:cNvSpPr/>
            <p:nvPr/>
          </p:nvSpPr>
          <p:spPr>
            <a:xfrm>
              <a:off x="6957490" y="4123666"/>
              <a:ext cx="1920012" cy="772294"/>
            </a:xfrm>
            <a:prstGeom prst="rect">
              <a:avLst/>
            </a:prstGeom>
            <a:solidFill>
              <a:srgbClr val="FFFFFF">
                <a:alpha val="98000"/>
              </a:srgbClr>
            </a:solidFill>
            <a:ln w="17780">
              <a:solidFill>
                <a:schemeClr val="tx1">
                  <a:lumMod val="75000"/>
                  <a:lumOff val="25000"/>
                </a:schemeClr>
              </a:solidFill>
              <a:prstDash val="solid"/>
            </a:ln>
          </p:spPr>
          <p:txBody>
            <a:bodyPr/>
            <a:lstStyle/>
            <a:p>
              <a:endParaRPr lang="en-US"/>
            </a:p>
          </p:txBody>
        </p:sp>
        <p:sp>
          <p:nvSpPr>
            <p:cNvPr id="9" name="Text 49">
              <a:extLst>
                <a:ext uri="{FF2B5EF4-FFF2-40B4-BE49-F238E27FC236}">
                  <a16:creationId xmlns:a16="http://schemas.microsoft.com/office/drawing/2014/main" id="{6D289ABB-47DB-B86F-5309-B5BF661A6F2E}"/>
                </a:ext>
              </a:extLst>
            </p:cNvPr>
            <p:cNvSpPr/>
            <p:nvPr/>
          </p:nvSpPr>
          <p:spPr>
            <a:xfrm>
              <a:off x="7048930" y="4260826"/>
              <a:ext cx="18288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chemeClr val="tx1">
                      <a:lumMod val="75000"/>
                      <a:lumOff val="25000"/>
                    </a:schemeClr>
                  </a:solidFill>
                  <a:latin typeface="Aptos Display" pitchFamily="34" charset="0"/>
                  <a:ea typeface="Aptos Display" pitchFamily="34" charset="-122"/>
                  <a:cs typeface="Aptos Display" pitchFamily="34" charset="-120"/>
                </a:rPr>
                <a:t>64.5%</a:t>
              </a:r>
              <a:endParaRPr lang="en-US" sz="2100" dirty="0">
                <a:solidFill>
                  <a:schemeClr val="tx1">
                    <a:lumMod val="75000"/>
                    <a:lumOff val="25000"/>
                  </a:schemeClr>
                </a:solidFill>
              </a:endParaRPr>
            </a:p>
          </p:txBody>
        </p:sp>
        <p:sp>
          <p:nvSpPr>
            <p:cNvPr id="12" name="Text 50">
              <a:extLst>
                <a:ext uri="{FF2B5EF4-FFF2-40B4-BE49-F238E27FC236}">
                  <a16:creationId xmlns:a16="http://schemas.microsoft.com/office/drawing/2014/main" id="{27BAB689-CEDE-945D-E10F-92035FA2DED7}"/>
                </a:ext>
              </a:extLst>
            </p:cNvPr>
            <p:cNvSpPr/>
            <p:nvPr/>
          </p:nvSpPr>
          <p:spPr>
            <a:xfrm>
              <a:off x="7067218" y="4654018"/>
              <a:ext cx="17922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Piczak published LP clip-level reference</a:t>
              </a:r>
              <a:endParaRPr lang="en-US" sz="780" dirty="0"/>
            </a:p>
          </p:txBody>
        </p:sp>
      </p:grpSp>
      <p:grpSp>
        <p:nvGrpSpPr>
          <p:cNvPr id="16" name="Group 15">
            <a:extLst>
              <a:ext uri="{FF2B5EF4-FFF2-40B4-BE49-F238E27FC236}">
                <a16:creationId xmlns:a16="http://schemas.microsoft.com/office/drawing/2014/main" id="{E6FACAB8-ACFE-75A3-267E-A6CB3F395155}"/>
              </a:ext>
            </a:extLst>
          </p:cNvPr>
          <p:cNvGrpSpPr/>
          <p:nvPr/>
        </p:nvGrpSpPr>
        <p:grpSpPr>
          <a:xfrm>
            <a:off x="9304020" y="4151375"/>
            <a:ext cx="1965960" cy="914400"/>
            <a:chOff x="6591302" y="4233671"/>
            <a:chExt cx="1965960" cy="914400"/>
          </a:xfrm>
        </p:grpSpPr>
        <p:sp>
          <p:nvSpPr>
            <p:cNvPr id="17" name="Shape 28">
              <a:extLst>
                <a:ext uri="{FF2B5EF4-FFF2-40B4-BE49-F238E27FC236}">
                  <a16:creationId xmlns:a16="http://schemas.microsoft.com/office/drawing/2014/main" id="{E1AC7B9A-CDB3-C47E-30A5-6AF5336F597A}"/>
                </a:ext>
              </a:extLst>
            </p:cNvPr>
            <p:cNvSpPr/>
            <p:nvPr/>
          </p:nvSpPr>
          <p:spPr>
            <a:xfrm>
              <a:off x="6591302" y="4233671"/>
              <a:ext cx="1965960" cy="914400"/>
            </a:xfrm>
            <a:prstGeom prst="rect">
              <a:avLst/>
            </a:prstGeom>
            <a:solidFill>
              <a:srgbClr val="FFFFFF">
                <a:alpha val="98000"/>
              </a:srgbClr>
            </a:solidFill>
            <a:ln w="17780">
              <a:solidFill>
                <a:srgbClr val="17677D"/>
              </a:solidFill>
              <a:prstDash val="solid"/>
            </a:ln>
          </p:spPr>
          <p:txBody>
            <a:bodyPr/>
            <a:lstStyle/>
            <a:p>
              <a:endParaRPr lang="en-US"/>
            </a:p>
          </p:txBody>
        </p:sp>
        <p:sp>
          <p:nvSpPr>
            <p:cNvPr id="18" name="Text 29">
              <a:extLst>
                <a:ext uri="{FF2B5EF4-FFF2-40B4-BE49-F238E27FC236}">
                  <a16:creationId xmlns:a16="http://schemas.microsoft.com/office/drawing/2014/main" id="{D864CF10-274C-B463-9F34-CAC2C315EB92}"/>
                </a:ext>
              </a:extLst>
            </p:cNvPr>
            <p:cNvSpPr/>
            <p:nvPr/>
          </p:nvSpPr>
          <p:spPr>
            <a:xfrm>
              <a:off x="6682742" y="4370831"/>
              <a:ext cx="1783080" cy="329184"/>
            </a:xfrm>
            <a:prstGeom prst="rect">
              <a:avLst/>
            </a:prstGeom>
            <a:noFill/>
            <a:ln/>
          </p:spPr>
          <p:txBody>
            <a:bodyPr wrap="square" lIns="0" tIns="0" rIns="0" bIns="0" rtlCol="0" anchor="t">
              <a:normAutofit/>
            </a:bodyPr>
            <a:lstStyle/>
            <a:p>
              <a:pPr algn="ctr">
                <a:lnSpc>
                  <a:spcPct val="90000"/>
                </a:lnSpc>
              </a:pPr>
              <a:r>
                <a:rPr lang="en-US" sz="2100" b="1" dirty="0">
                  <a:solidFill>
                    <a:srgbClr val="17677D"/>
                  </a:solidFill>
                  <a:latin typeface="Aptos Display" pitchFamily="34" charset="0"/>
                  <a:ea typeface="Aptos Display" pitchFamily="34" charset="-122"/>
                  <a:cs typeface="Aptos Display" pitchFamily="34" charset="-120"/>
                </a:rPr>
                <a:t>64.5 %</a:t>
              </a:r>
              <a:endParaRPr lang="en-US" sz="2100" dirty="0"/>
            </a:p>
          </p:txBody>
        </p:sp>
        <p:sp>
          <p:nvSpPr>
            <p:cNvPr id="19" name="Text 30">
              <a:extLst>
                <a:ext uri="{FF2B5EF4-FFF2-40B4-BE49-F238E27FC236}">
                  <a16:creationId xmlns:a16="http://schemas.microsoft.com/office/drawing/2014/main" id="{3DB68733-04AE-50AF-7D93-336F33B95783}"/>
                </a:ext>
              </a:extLst>
            </p:cNvPr>
            <p:cNvSpPr/>
            <p:nvPr/>
          </p:nvSpPr>
          <p:spPr>
            <a:xfrm>
              <a:off x="6701030" y="4764023"/>
              <a:ext cx="174650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Frozen final 5-fold accuracy</a:t>
              </a:r>
              <a:endParaRPr lang="en-US" sz="780" dirty="0"/>
            </a:p>
          </p:txBody>
        </p:sp>
      </p:grpSp>
      <p:grpSp>
        <p:nvGrpSpPr>
          <p:cNvPr id="20" name="Group 19">
            <a:extLst>
              <a:ext uri="{FF2B5EF4-FFF2-40B4-BE49-F238E27FC236}">
                <a16:creationId xmlns:a16="http://schemas.microsoft.com/office/drawing/2014/main" id="{22A2A5F9-F867-8E80-76FD-4F71BE66FB64}"/>
              </a:ext>
            </a:extLst>
          </p:cNvPr>
          <p:cNvGrpSpPr/>
          <p:nvPr/>
        </p:nvGrpSpPr>
        <p:grpSpPr>
          <a:xfrm>
            <a:off x="9304020" y="5304484"/>
            <a:ext cx="1965960" cy="914400"/>
            <a:chOff x="6591302" y="4233671"/>
            <a:chExt cx="1965960" cy="914400"/>
          </a:xfrm>
        </p:grpSpPr>
        <p:sp>
          <p:nvSpPr>
            <p:cNvPr id="21" name="Shape 28">
              <a:extLst>
                <a:ext uri="{FF2B5EF4-FFF2-40B4-BE49-F238E27FC236}">
                  <a16:creationId xmlns:a16="http://schemas.microsoft.com/office/drawing/2014/main" id="{E24CA961-B9CA-7003-D39B-D269F1F1A645}"/>
                </a:ext>
              </a:extLst>
            </p:cNvPr>
            <p:cNvSpPr/>
            <p:nvPr/>
          </p:nvSpPr>
          <p:spPr>
            <a:xfrm>
              <a:off x="6591302" y="4233671"/>
              <a:ext cx="1965960" cy="914400"/>
            </a:xfrm>
            <a:prstGeom prst="rect">
              <a:avLst/>
            </a:prstGeom>
            <a:solidFill>
              <a:srgbClr val="FFFFFF">
                <a:alpha val="98000"/>
              </a:srgbClr>
            </a:solidFill>
            <a:ln w="17780">
              <a:solidFill>
                <a:srgbClr val="17677D"/>
              </a:solidFill>
              <a:prstDash val="solid"/>
            </a:ln>
          </p:spPr>
          <p:txBody>
            <a:bodyPr/>
            <a:lstStyle/>
            <a:p>
              <a:endParaRPr lang="en-US"/>
            </a:p>
          </p:txBody>
        </p:sp>
        <p:sp>
          <p:nvSpPr>
            <p:cNvPr id="22" name="Text 29">
              <a:extLst>
                <a:ext uri="{FF2B5EF4-FFF2-40B4-BE49-F238E27FC236}">
                  <a16:creationId xmlns:a16="http://schemas.microsoft.com/office/drawing/2014/main" id="{0ABD6622-FB29-2444-526C-BF6D3C09651D}"/>
                </a:ext>
              </a:extLst>
            </p:cNvPr>
            <p:cNvSpPr/>
            <p:nvPr/>
          </p:nvSpPr>
          <p:spPr>
            <a:xfrm>
              <a:off x="6682742" y="4370831"/>
              <a:ext cx="178308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17677D"/>
                  </a:solidFill>
                  <a:latin typeface="Aptos Display" pitchFamily="34" charset="0"/>
                  <a:ea typeface="Aptos Display" pitchFamily="34" charset="-122"/>
                  <a:cs typeface="Aptos Display" pitchFamily="34" charset="-120"/>
                </a:rPr>
                <a:t>61%</a:t>
              </a:r>
              <a:endParaRPr lang="en-US" sz="2100" dirty="0"/>
            </a:p>
          </p:txBody>
        </p:sp>
        <p:sp>
          <p:nvSpPr>
            <p:cNvPr id="23" name="Text 30">
              <a:extLst>
                <a:ext uri="{FF2B5EF4-FFF2-40B4-BE49-F238E27FC236}">
                  <a16:creationId xmlns:a16="http://schemas.microsoft.com/office/drawing/2014/main" id="{953D72EA-447D-8B97-7A06-AEBD6885B938}"/>
                </a:ext>
              </a:extLst>
            </p:cNvPr>
            <p:cNvSpPr/>
            <p:nvPr/>
          </p:nvSpPr>
          <p:spPr>
            <a:xfrm>
              <a:off x="6701030" y="4764023"/>
              <a:ext cx="174650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Fine-tuned final 5-fold accuracy</a:t>
              </a:r>
              <a:endParaRPr lang="en-US" sz="780" dirty="0"/>
            </a:p>
          </p:txBody>
        </p:sp>
      </p:grpSp>
      <p:sp>
        <p:nvSpPr>
          <p:cNvPr id="10" name="Text 11">
            <a:extLst>
              <a:ext uri="{FF2B5EF4-FFF2-40B4-BE49-F238E27FC236}">
                <a16:creationId xmlns:a16="http://schemas.microsoft.com/office/drawing/2014/main" id="{DE244EB8-3ED2-4043-4502-02BC33DFA5D4}"/>
              </a:ext>
            </a:extLst>
          </p:cNvPr>
          <p:cNvSpPr/>
          <p:nvPr/>
        </p:nvSpPr>
        <p:spPr>
          <a:xfrm>
            <a:off x="749808" y="1305368"/>
            <a:ext cx="128016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B65D3A"/>
                </a:solidFill>
                <a:latin typeface="Aptos" pitchFamily="34" charset="0"/>
                <a:ea typeface="Aptos" pitchFamily="34" charset="-122"/>
                <a:cs typeface="Aptos" pitchFamily="34" charset="-120"/>
              </a:rPr>
              <a:t>What Changed?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7F5EF"/>
        </a:solidFill>
        <a:effectLst/>
      </p:bgPr>
    </p:bg>
    <p:spTree>
      <p:nvGrpSpPr>
        <p:cNvPr id="1" name=""/>
        <p:cNvGrpSpPr/>
        <p:nvPr/>
      </p:nvGrpSpPr>
      <p:grpSpPr>
        <a:xfrm>
          <a:off x="0" y="0"/>
          <a:ext cx="0" cy="0"/>
          <a:chOff x="0" y="0"/>
          <a:chExt cx="0" cy="0"/>
        </a:xfrm>
      </p:grpSpPr>
      <p:pic>
        <p:nvPicPr>
          <p:cNvPr id="34" name="Image 0"/>
          <p:cNvPicPr>
            <a:picLocks noChangeAspect="1"/>
          </p:cNvPicPr>
          <p:nvPr/>
        </p:nvPicPr>
        <p:blipFill>
          <a:blip r:embed="rId3"/>
          <a:srcRect/>
          <a:stretch/>
        </p:blipFill>
        <p:spPr>
          <a:xfrm>
            <a:off x="6012932" y="1681729"/>
            <a:ext cx="5739516" cy="2230935"/>
          </a:xfrm>
          <a:prstGeom prst="rect">
            <a:avLst/>
          </a:prstGeom>
        </p:spPr>
      </p:pic>
      <p:sp>
        <p:nvSpPr>
          <p:cNvPr id="6" name="Shape 22">
            <a:extLst>
              <a:ext uri="{FF2B5EF4-FFF2-40B4-BE49-F238E27FC236}">
                <a16:creationId xmlns:a16="http://schemas.microsoft.com/office/drawing/2014/main" id="{F684BC13-2D06-23C5-F25B-E9DF4481EC1A}"/>
              </a:ext>
            </a:extLst>
          </p:cNvPr>
          <p:cNvSpPr/>
          <p:nvPr/>
        </p:nvSpPr>
        <p:spPr>
          <a:xfrm>
            <a:off x="7904546" y="750102"/>
            <a:ext cx="1809206" cy="295381"/>
          </a:xfrm>
          <a:prstGeom prst="chevron">
            <a:avLst/>
          </a:prstGeom>
          <a:solidFill>
            <a:srgbClr val="17677D"/>
          </a:solidFill>
          <a:ln w="12700">
            <a:solidFill>
              <a:srgbClr val="17677D">
                <a:alpha val="0"/>
              </a:srgbClr>
            </a:solidFill>
            <a:prstDash val="solid"/>
          </a:ln>
        </p:spPr>
        <p:txBody>
          <a:bodyPr/>
          <a:lstStyle/>
          <a:p>
            <a:endParaRPr lang="en-US"/>
          </a:p>
        </p:txBody>
      </p:sp>
      <p:sp>
        <p:nvSpPr>
          <p:cNvPr id="5" name="Shape 25">
            <a:extLst>
              <a:ext uri="{FF2B5EF4-FFF2-40B4-BE49-F238E27FC236}">
                <a16:creationId xmlns:a16="http://schemas.microsoft.com/office/drawing/2014/main" id="{003BDCF6-125D-752B-9C1A-DC280FBB809A}"/>
              </a:ext>
            </a:extLst>
          </p:cNvPr>
          <p:cNvSpPr/>
          <p:nvPr/>
        </p:nvSpPr>
        <p:spPr>
          <a:xfrm>
            <a:off x="9550658" y="750101"/>
            <a:ext cx="1755200"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ERA 2: PRETRAINED CNN MODELS</a:t>
            </a:r>
            <a:endParaRPr lang="en-US" sz="880" dirty="0"/>
          </a:p>
        </p:txBody>
      </p:sp>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YAMNet</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09</a:t>
            </a:r>
            <a:endParaRPr lang="en-US" sz="750" dirty="0"/>
          </a:p>
        </p:txBody>
      </p:sp>
      <p:sp>
        <p:nvSpPr>
          <p:cNvPr id="37" name="Text 34"/>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09</a:t>
            </a:r>
            <a:endParaRPr lang="en-US" sz="750" dirty="0"/>
          </a:p>
        </p:txBody>
      </p:sp>
      <p:pic>
        <p:nvPicPr>
          <p:cNvPr id="45" name="Picture 2" descr="Cornell University Logo, symbol, meaning, history, PNG, brand">
            <a:extLst>
              <a:ext uri="{FF2B5EF4-FFF2-40B4-BE49-F238E27FC236}">
                <a16:creationId xmlns:a16="http://schemas.microsoft.com/office/drawing/2014/main" id="{A6CF9356-F464-4F9F-22FC-0A0714780E0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55" name="Shape 19">
            <a:extLst>
              <a:ext uri="{FF2B5EF4-FFF2-40B4-BE49-F238E27FC236}">
                <a16:creationId xmlns:a16="http://schemas.microsoft.com/office/drawing/2014/main" id="{9FB734A9-3F3D-6A1D-B198-4C7253BF63F8}"/>
              </a:ext>
            </a:extLst>
          </p:cNvPr>
          <p:cNvSpPr/>
          <p:nvPr/>
        </p:nvSpPr>
        <p:spPr>
          <a:xfrm>
            <a:off x="6237447" y="751408"/>
            <a:ext cx="1809206" cy="295381"/>
          </a:xfrm>
          <a:prstGeom prst="chevron">
            <a:avLst/>
          </a:prstGeom>
          <a:solidFill>
            <a:srgbClr val="D7DDE0">
              <a:alpha val="90000"/>
            </a:srgbClr>
          </a:solidFill>
          <a:ln w="12700">
            <a:solidFill>
              <a:srgbClr val="F7F5EF"/>
            </a:solidFill>
            <a:prstDash val="solid"/>
          </a:ln>
        </p:spPr>
        <p:txBody>
          <a:bodyPr/>
          <a:lstStyle/>
          <a:p>
            <a:endParaRPr lang="en-US" sz="1100" dirty="0"/>
          </a:p>
        </p:txBody>
      </p:sp>
      <p:sp>
        <p:nvSpPr>
          <p:cNvPr id="56" name="Text 20">
            <a:extLst>
              <a:ext uri="{FF2B5EF4-FFF2-40B4-BE49-F238E27FC236}">
                <a16:creationId xmlns:a16="http://schemas.microsoft.com/office/drawing/2014/main" id="{7EEEC568-8D1D-A247-54D9-BD979C391F09}"/>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Training from scratch</a:t>
            </a:r>
          </a:p>
        </p:txBody>
      </p:sp>
      <p:sp>
        <p:nvSpPr>
          <p:cNvPr id="57" name="Text 21">
            <a:extLst>
              <a:ext uri="{FF2B5EF4-FFF2-40B4-BE49-F238E27FC236}">
                <a16:creationId xmlns:a16="http://schemas.microsoft.com/office/drawing/2014/main" id="{CC1A0317-BD8A-6DB5-06DF-98AE0644F807}"/>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6B7176"/>
                </a:solidFill>
                <a:latin typeface="Aptos" pitchFamily="34" charset="0"/>
              </a:rPr>
              <a:t>Piczak</a:t>
            </a:r>
            <a:r>
              <a:rPr lang="en-US" sz="500" dirty="0">
                <a:solidFill>
                  <a:srgbClr val="6B7176"/>
                </a:solidFill>
                <a:latin typeface="Aptos" pitchFamily="34" charset="0"/>
              </a:rPr>
              <a:t> CNN | Variations | LSTM</a:t>
            </a:r>
          </a:p>
        </p:txBody>
      </p:sp>
      <p:sp>
        <p:nvSpPr>
          <p:cNvPr id="59" name="Text 23">
            <a:extLst>
              <a:ext uri="{FF2B5EF4-FFF2-40B4-BE49-F238E27FC236}">
                <a16:creationId xmlns:a16="http://schemas.microsoft.com/office/drawing/2014/main" id="{3A24B8D1-6B05-EFEA-E0CB-87488A54C727}"/>
              </a:ext>
            </a:extLst>
          </p:cNvPr>
          <p:cNvSpPr/>
          <p:nvPr/>
        </p:nvSpPr>
        <p:spPr>
          <a:xfrm>
            <a:off x="7976392" y="839252"/>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FFFFFF"/>
                </a:solidFill>
                <a:latin typeface="Aptos" pitchFamily="34" charset="0"/>
              </a:rPr>
              <a:t>Transfer learning: pretrained CNN</a:t>
            </a:r>
          </a:p>
        </p:txBody>
      </p:sp>
      <p:sp>
        <p:nvSpPr>
          <p:cNvPr id="60" name="Text 24">
            <a:extLst>
              <a:ext uri="{FF2B5EF4-FFF2-40B4-BE49-F238E27FC236}">
                <a16:creationId xmlns:a16="http://schemas.microsoft.com/office/drawing/2014/main" id="{56E65613-9803-A5A5-221F-6E7A087FFDD7}"/>
              </a:ext>
            </a:extLst>
          </p:cNvPr>
          <p:cNvSpPr/>
          <p:nvPr/>
        </p:nvSpPr>
        <p:spPr>
          <a:xfrm>
            <a:off x="7997198" y="941012"/>
            <a:ext cx="1597682" cy="58389"/>
          </a:xfrm>
          <a:prstGeom prst="rect">
            <a:avLst/>
          </a:prstGeom>
          <a:noFill/>
          <a:ln/>
        </p:spPr>
        <p:txBody>
          <a:bodyPr wrap="square" lIns="0" tIns="0" rIns="0" bIns="0" rtlCol="0" anchor="t">
            <a:normAutofit fontScale="92500" lnSpcReduction="20000"/>
          </a:bodyPr>
          <a:lstStyle/>
          <a:p>
            <a:pPr algn="ctr">
              <a:lnSpc>
                <a:spcPct val="90000"/>
              </a:lnSpc>
            </a:pPr>
            <a:r>
              <a:rPr lang="en-US" sz="500" dirty="0">
                <a:solidFill>
                  <a:schemeClr val="bg1">
                    <a:lumMod val="75000"/>
                  </a:schemeClr>
                </a:solidFill>
                <a:latin typeface="Aptos" pitchFamily="34" charset="0"/>
              </a:rPr>
              <a:t>VGGish</a:t>
            </a:r>
            <a:r>
              <a:rPr lang="en-US" sz="500" dirty="0">
                <a:solidFill>
                  <a:srgbClr val="FFFFFF"/>
                </a:solidFill>
                <a:latin typeface="Aptos" pitchFamily="34" charset="0"/>
              </a:rPr>
              <a:t> </a:t>
            </a:r>
            <a:r>
              <a:rPr lang="en-US" sz="500" dirty="0">
                <a:solidFill>
                  <a:schemeClr val="bg1">
                    <a:lumMod val="75000"/>
                  </a:schemeClr>
                </a:solidFill>
                <a:latin typeface="Aptos" pitchFamily="34" charset="0"/>
              </a:rPr>
              <a:t>| </a:t>
            </a:r>
            <a:r>
              <a:rPr lang="en-US" sz="500" b="1" dirty="0">
                <a:solidFill>
                  <a:srgbClr val="FFFFFF"/>
                </a:solidFill>
                <a:latin typeface="Aptos" pitchFamily="34" charset="0"/>
              </a:rPr>
              <a:t>YAMNet</a:t>
            </a:r>
          </a:p>
        </p:txBody>
      </p:sp>
      <p:sp>
        <p:nvSpPr>
          <p:cNvPr id="62" name="Text 26">
            <a:extLst>
              <a:ext uri="{FF2B5EF4-FFF2-40B4-BE49-F238E27FC236}">
                <a16:creationId xmlns:a16="http://schemas.microsoft.com/office/drawing/2014/main" id="{73701628-7466-B7E9-9E47-C696F80672F6}"/>
              </a:ext>
            </a:extLst>
          </p:cNvPr>
          <p:cNvSpPr/>
          <p:nvPr/>
        </p:nvSpPr>
        <p:spPr>
          <a:xfrm>
            <a:off x="9657605" y="848441"/>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transformers</a:t>
            </a:r>
            <a:endParaRPr lang="en-US" sz="700" dirty="0"/>
          </a:p>
        </p:txBody>
      </p:sp>
      <p:sp>
        <p:nvSpPr>
          <p:cNvPr id="63" name="Text 27">
            <a:extLst>
              <a:ext uri="{FF2B5EF4-FFF2-40B4-BE49-F238E27FC236}">
                <a16:creationId xmlns:a16="http://schemas.microsoft.com/office/drawing/2014/main" id="{8A9215E1-DC92-3ED3-78F4-FF15A37D59B3}"/>
              </a:ext>
            </a:extLst>
          </p:cNvPr>
          <p:cNvSpPr/>
          <p:nvPr/>
        </p:nvSpPr>
        <p:spPr>
          <a:xfrm>
            <a:off x="9657605" y="944489"/>
            <a:ext cx="1662902" cy="107931"/>
          </a:xfrm>
          <a:prstGeom prst="rect">
            <a:avLst/>
          </a:prstGeom>
          <a:noFill/>
          <a:ln/>
        </p:spPr>
        <p:txBody>
          <a:bodyPr wrap="square" lIns="0" tIns="0" rIns="0" bIns="0" rtlCol="0" anchor="t">
            <a:normAutofit/>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AST | BEATs</a:t>
            </a:r>
            <a:endParaRPr lang="en-US" sz="500" dirty="0"/>
          </a:p>
        </p:txBody>
      </p:sp>
      <p:sp>
        <p:nvSpPr>
          <p:cNvPr id="68" name="Text 13">
            <a:extLst>
              <a:ext uri="{FF2B5EF4-FFF2-40B4-BE49-F238E27FC236}">
                <a16:creationId xmlns:a16="http://schemas.microsoft.com/office/drawing/2014/main" id="{D65B3722-690B-6A70-D033-B267473F440F}"/>
              </a:ext>
            </a:extLst>
          </p:cNvPr>
          <p:cNvSpPr/>
          <p:nvPr/>
        </p:nvSpPr>
        <p:spPr>
          <a:xfrm>
            <a:off x="743752" y="2121408"/>
            <a:ext cx="4892040" cy="164592"/>
          </a:xfrm>
          <a:prstGeom prst="rect">
            <a:avLst/>
          </a:prstGeom>
          <a:noFill/>
          <a:ln/>
        </p:spPr>
        <p:txBody>
          <a:bodyPr wrap="square" lIns="0" tIns="0" rIns="0" bIns="0" rtlCol="0" anchor="t">
            <a:normAutofit/>
          </a:bodyPr>
          <a:lstStyle/>
          <a:p>
            <a:pPr marL="0" indent="0" algn="l">
              <a:lnSpc>
                <a:spcPct val="90000"/>
              </a:lnSpc>
              <a:buNone/>
            </a:pPr>
            <a:r>
              <a:rPr lang="en-US" sz="1020" b="1" dirty="0">
                <a:solidFill>
                  <a:srgbClr val="6B7176"/>
                </a:solidFill>
                <a:latin typeface="Aptos" pitchFamily="34" charset="0"/>
                <a:ea typeface="Aptos" pitchFamily="34" charset="-122"/>
                <a:cs typeface="Aptos" pitchFamily="34" charset="-120"/>
              </a:rPr>
              <a:t>YAMNet architecture</a:t>
            </a:r>
            <a:endParaRPr lang="en-US" sz="1020" dirty="0"/>
          </a:p>
        </p:txBody>
      </p:sp>
      <p:graphicFrame>
        <p:nvGraphicFramePr>
          <p:cNvPr id="69" name="Table 0">
            <a:extLst>
              <a:ext uri="{FF2B5EF4-FFF2-40B4-BE49-F238E27FC236}">
                <a16:creationId xmlns:a16="http://schemas.microsoft.com/office/drawing/2014/main" id="{46B5B267-118C-B356-F03A-B58B4EA427D6}"/>
              </a:ext>
            </a:extLst>
          </p:cNvPr>
          <p:cNvGraphicFramePr>
            <a:graphicFrameLocks noGrp="1"/>
          </p:cNvGraphicFramePr>
          <p:nvPr>
            <p:extLst>
              <p:ext uri="{D42A27DB-BD31-4B8C-83A1-F6EECF244321}">
                <p14:modId xmlns:p14="http://schemas.microsoft.com/office/powerpoint/2010/main" val="1374502662"/>
              </p:ext>
            </p:extLst>
          </p:nvPr>
        </p:nvGraphicFramePr>
        <p:xfrm>
          <a:off x="743752" y="2359153"/>
          <a:ext cx="4385360" cy="1496568"/>
        </p:xfrm>
        <a:graphic>
          <a:graphicData uri="http://schemas.openxmlformats.org/drawingml/2006/table">
            <a:tbl>
              <a:tblPr/>
              <a:tblGrid>
                <a:gridCol w="1106587">
                  <a:extLst>
                    <a:ext uri="{9D8B030D-6E8A-4147-A177-3AD203B41FA5}">
                      <a16:colId xmlns:a16="http://schemas.microsoft.com/office/drawing/2014/main" val="20000"/>
                    </a:ext>
                  </a:extLst>
                </a:gridCol>
                <a:gridCol w="3278773">
                  <a:extLst>
                    <a:ext uri="{9D8B030D-6E8A-4147-A177-3AD203B41FA5}">
                      <a16:colId xmlns:a16="http://schemas.microsoft.com/office/drawing/2014/main" val="20001"/>
                    </a:ext>
                  </a:extLst>
                </a:gridCol>
              </a:tblGrid>
              <a:tr h="0">
                <a:tc>
                  <a:txBody>
                    <a:bodyPr/>
                    <a:lstStyle/>
                    <a:p>
                      <a:pPr marL="0" indent="0">
                        <a:buNone/>
                      </a:pPr>
                      <a:r>
                        <a:rPr lang="en-US" sz="1030" b="1" dirty="0">
                          <a:solidFill>
                            <a:srgbClr val="FFFFFF"/>
                          </a:solidFill>
                        </a:rPr>
                        <a:t>Step</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17677D"/>
                    </a:solidFill>
                  </a:tcPr>
                </a:tc>
                <a:tc>
                  <a:txBody>
                    <a:bodyPr/>
                    <a:lstStyle/>
                    <a:p>
                      <a:pPr marL="0" indent="0">
                        <a:buNone/>
                      </a:pPr>
                      <a:r>
                        <a:rPr lang="en-US" sz="1030" b="1" dirty="0">
                          <a:solidFill>
                            <a:srgbClr val="FFFFFF"/>
                          </a:solidFill>
                        </a:rPr>
                        <a:t>Parameters / implementation</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17677D"/>
                    </a:solidFill>
                  </a:tcPr>
                </a:tc>
                <a:extLst>
                  <a:ext uri="{0D108BD9-81ED-4DB2-BD59-A6C34878D82A}">
                    <a16:rowId xmlns:a16="http://schemas.microsoft.com/office/drawing/2014/main" val="10000"/>
                  </a:ext>
                </a:extLst>
              </a:tr>
              <a:tr h="0">
                <a:tc>
                  <a:txBody>
                    <a:bodyPr/>
                    <a:lstStyle/>
                    <a:p>
                      <a:pPr marL="0" indent="0">
                        <a:buNone/>
                      </a:pPr>
                      <a:r>
                        <a:rPr lang="en-US" sz="695" b="1" dirty="0">
                          <a:solidFill>
                            <a:srgbClr val="1F2528"/>
                          </a:solidFill>
                        </a:rPr>
                        <a:t>Input</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95" dirty="0">
                          <a:solidFill>
                            <a:srgbClr val="1F2528"/>
                          </a:solidFill>
                        </a:rPr>
                        <a:t>16 kHz mono waveform</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0">
                <a:tc>
                  <a:txBody>
                    <a:bodyPr/>
                    <a:lstStyle/>
                    <a:p>
                      <a:pPr marL="0" indent="0">
                        <a:buNone/>
                      </a:pPr>
                      <a:r>
                        <a:rPr lang="en-US" sz="695" b="1" dirty="0">
                          <a:solidFill>
                            <a:srgbClr val="1F2528"/>
                          </a:solidFill>
                        </a:rPr>
                        <a:t>Encoder</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95" dirty="0">
                          <a:solidFill>
                            <a:srgbClr val="1F2528"/>
                          </a:solidFill>
                        </a:rPr>
                        <a:t>TF Hub YAMNet, AudioSet-pretrained; output 1024-d embedding</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0">
                <a:tc>
                  <a:txBody>
                    <a:bodyPr/>
                    <a:lstStyle/>
                    <a:p>
                      <a:pPr marL="0" indent="0">
                        <a:buNone/>
                      </a:pPr>
                      <a:r>
                        <a:rPr lang="en-US" sz="695" b="1" dirty="0">
                          <a:solidFill>
                            <a:srgbClr val="1F2528"/>
                          </a:solidFill>
                        </a:rPr>
                        <a:t>Head</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95" dirty="0">
                          <a:solidFill>
                            <a:srgbClr val="1F2528"/>
                          </a:solidFill>
                        </a:rPr>
                        <a:t>Linear 1024-&gt;256; ReLU; Dropout 0.3; Linear 256-&gt;50</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0">
                <a:tc>
                  <a:txBody>
                    <a:bodyPr/>
                    <a:lstStyle/>
                    <a:p>
                      <a:pPr marL="0" indent="0">
                        <a:buNone/>
                      </a:pPr>
                      <a:r>
                        <a:rPr lang="en-US" sz="695" b="1" dirty="0">
                          <a:solidFill>
                            <a:srgbClr val="1F2528"/>
                          </a:solidFill>
                        </a:rPr>
                        <a:t>Frozen run</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95" dirty="0">
                          <a:solidFill>
                            <a:srgbClr val="1F2528"/>
                          </a:solidFill>
                        </a:rPr>
                        <a:t>Train classifier on fixed embeddings; Adam lr 1e-3</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r h="0">
                <a:tc>
                  <a:txBody>
                    <a:bodyPr/>
                    <a:lstStyle/>
                    <a:p>
                      <a:pPr marL="0" indent="0">
                        <a:buNone/>
                      </a:pPr>
                      <a:r>
                        <a:rPr lang="en-US" sz="695" b="1" dirty="0">
                          <a:solidFill>
                            <a:srgbClr val="1F2528"/>
                          </a:solidFill>
                        </a:rPr>
                        <a:t>Classifier tune</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95" dirty="0">
                          <a:solidFill>
                            <a:srgbClr val="1F2528"/>
                          </a:solidFill>
                        </a:rPr>
                        <a:t>YAMNet remains fixed; new classifier trained with Adam lr 1e-4</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5"/>
                  </a:ext>
                </a:extLst>
              </a:tr>
              <a:tr h="0">
                <a:tc>
                  <a:txBody>
                    <a:bodyPr/>
                    <a:lstStyle/>
                    <a:p>
                      <a:pPr marL="0" indent="0">
                        <a:buNone/>
                      </a:pPr>
                      <a:r>
                        <a:rPr lang="en-US" sz="695" b="1" dirty="0">
                          <a:solidFill>
                            <a:srgbClr val="1F2528"/>
                          </a:solidFill>
                        </a:rPr>
                        <a:t>Training</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95" dirty="0">
                          <a:solidFill>
                            <a:srgbClr val="1F2528"/>
                          </a:solidFill>
                        </a:rPr>
                        <a:t>CrossEntropyLoss; batch size 32; 50 epochs; 5 official folds</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6"/>
                  </a:ext>
                </a:extLst>
              </a:tr>
            </a:tbl>
          </a:graphicData>
        </a:graphic>
      </p:graphicFrame>
      <p:sp>
        <p:nvSpPr>
          <p:cNvPr id="70" name="Text 36">
            <a:extLst>
              <a:ext uri="{FF2B5EF4-FFF2-40B4-BE49-F238E27FC236}">
                <a16:creationId xmlns:a16="http://schemas.microsoft.com/office/drawing/2014/main" id="{00621A5F-23F3-77A3-47FA-30F93A28A86D}"/>
              </a:ext>
            </a:extLst>
          </p:cNvPr>
          <p:cNvSpPr/>
          <p:nvPr/>
        </p:nvSpPr>
        <p:spPr>
          <a:xfrm>
            <a:off x="731520" y="4425695"/>
            <a:ext cx="1645920" cy="182880"/>
          </a:xfrm>
          <a:prstGeom prst="rect">
            <a:avLst/>
          </a:prstGeom>
          <a:noFill/>
          <a:ln/>
        </p:spPr>
        <p:txBody>
          <a:bodyPr wrap="square" lIns="0" tIns="0" rIns="0" bIns="0" rtlCol="0" anchor="t">
            <a:normAutofit/>
          </a:bodyPr>
          <a:lstStyle/>
          <a:p>
            <a:pPr>
              <a:lnSpc>
                <a:spcPct val="90000"/>
              </a:lnSpc>
            </a:pPr>
            <a:r>
              <a:rPr lang="en-US" sz="1000" b="1" dirty="0">
                <a:solidFill>
                  <a:srgbClr val="17677D"/>
                </a:solidFill>
                <a:latin typeface="Aptos" pitchFamily="34" charset="0"/>
              </a:rPr>
              <a:t>Results</a:t>
            </a:r>
          </a:p>
        </p:txBody>
      </p:sp>
      <p:sp>
        <p:nvSpPr>
          <p:cNvPr id="71" name="Text 37">
            <a:extLst>
              <a:ext uri="{FF2B5EF4-FFF2-40B4-BE49-F238E27FC236}">
                <a16:creationId xmlns:a16="http://schemas.microsoft.com/office/drawing/2014/main" id="{41DEDCE1-BA55-0A8D-0CD7-DA8D8C454FDE}"/>
              </a:ext>
            </a:extLst>
          </p:cNvPr>
          <p:cNvSpPr/>
          <p:nvPr/>
        </p:nvSpPr>
        <p:spPr>
          <a:xfrm>
            <a:off x="731520" y="4727447"/>
            <a:ext cx="3886200" cy="745690"/>
          </a:xfrm>
          <a:prstGeom prst="rect">
            <a:avLst/>
          </a:prstGeom>
          <a:noFill/>
          <a:ln/>
        </p:spPr>
        <p:txBody>
          <a:bodyPr wrap="square" lIns="0" tIns="0" rIns="0" bIns="0" rtlCol="0" anchor="t">
            <a:normAutofit lnSpcReduction="10000"/>
          </a:bodyPr>
          <a:lstStyle/>
          <a:p>
            <a:pPr marL="0" indent="0" algn="l">
              <a:lnSpc>
                <a:spcPct val="90000"/>
              </a:lnSpc>
              <a:buNone/>
            </a:pPr>
            <a:r>
              <a:rPr lang="en-US" sz="1200" dirty="0">
                <a:solidFill>
                  <a:srgbClr val="1F2528"/>
                </a:solidFill>
                <a:latin typeface="Aptos" pitchFamily="34" charset="0"/>
                <a:ea typeface="Aptos" pitchFamily="34" charset="-122"/>
                <a:cs typeface="Aptos" pitchFamily="34" charset="-120"/>
              </a:rPr>
              <a:t>Transfer learning quality matters: a stronger domain-pretrained model moves the result well beyond the from-scratch range. Transfer learning on large pretrained models can pose overfitting issues that can negatively affect the </a:t>
            </a:r>
            <a:r>
              <a:rPr lang="en-US" sz="1200">
                <a:solidFill>
                  <a:srgbClr val="1F2528"/>
                </a:solidFill>
                <a:latin typeface="Aptos" pitchFamily="34" charset="0"/>
                <a:ea typeface="Aptos" pitchFamily="34" charset="-122"/>
                <a:cs typeface="Aptos" pitchFamily="34" charset="-120"/>
              </a:rPr>
              <a:t>prediction results.</a:t>
            </a:r>
            <a:endParaRPr lang="en-US" sz="1200" dirty="0"/>
          </a:p>
        </p:txBody>
      </p:sp>
      <p:grpSp>
        <p:nvGrpSpPr>
          <p:cNvPr id="20" name="Group 19">
            <a:extLst>
              <a:ext uri="{FF2B5EF4-FFF2-40B4-BE49-F238E27FC236}">
                <a16:creationId xmlns:a16="http://schemas.microsoft.com/office/drawing/2014/main" id="{8B7AF595-3CF0-0FF8-C6FD-A50120C1E82D}"/>
              </a:ext>
            </a:extLst>
          </p:cNvPr>
          <p:cNvGrpSpPr/>
          <p:nvPr/>
        </p:nvGrpSpPr>
        <p:grpSpPr>
          <a:xfrm>
            <a:off x="6478524" y="4643132"/>
            <a:ext cx="1920240" cy="772294"/>
            <a:chOff x="6957490" y="4123666"/>
            <a:chExt cx="1920240" cy="772294"/>
          </a:xfrm>
        </p:grpSpPr>
        <p:sp>
          <p:nvSpPr>
            <p:cNvPr id="21" name="Shape 48">
              <a:extLst>
                <a:ext uri="{FF2B5EF4-FFF2-40B4-BE49-F238E27FC236}">
                  <a16:creationId xmlns:a16="http://schemas.microsoft.com/office/drawing/2014/main" id="{3623C8A8-9A9C-61F0-51DB-DEA0C59A59D2}"/>
                </a:ext>
              </a:extLst>
            </p:cNvPr>
            <p:cNvSpPr/>
            <p:nvPr/>
          </p:nvSpPr>
          <p:spPr>
            <a:xfrm>
              <a:off x="6957490" y="4123666"/>
              <a:ext cx="1920012" cy="772294"/>
            </a:xfrm>
            <a:prstGeom prst="rect">
              <a:avLst/>
            </a:prstGeom>
            <a:solidFill>
              <a:srgbClr val="FFFFFF">
                <a:alpha val="98000"/>
              </a:srgbClr>
            </a:solidFill>
            <a:ln w="17780">
              <a:solidFill>
                <a:schemeClr val="tx1">
                  <a:lumMod val="75000"/>
                  <a:lumOff val="25000"/>
                </a:schemeClr>
              </a:solidFill>
              <a:prstDash val="solid"/>
            </a:ln>
          </p:spPr>
          <p:txBody>
            <a:bodyPr/>
            <a:lstStyle/>
            <a:p>
              <a:endParaRPr lang="en-US"/>
            </a:p>
          </p:txBody>
        </p:sp>
        <p:sp>
          <p:nvSpPr>
            <p:cNvPr id="22" name="Text 49">
              <a:extLst>
                <a:ext uri="{FF2B5EF4-FFF2-40B4-BE49-F238E27FC236}">
                  <a16:creationId xmlns:a16="http://schemas.microsoft.com/office/drawing/2014/main" id="{353EF21B-FD5A-693B-1A5F-35C855996D47}"/>
                </a:ext>
              </a:extLst>
            </p:cNvPr>
            <p:cNvSpPr/>
            <p:nvPr/>
          </p:nvSpPr>
          <p:spPr>
            <a:xfrm>
              <a:off x="7048930" y="4260826"/>
              <a:ext cx="18288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chemeClr val="tx1">
                      <a:lumMod val="75000"/>
                      <a:lumOff val="25000"/>
                    </a:schemeClr>
                  </a:solidFill>
                  <a:latin typeface="Aptos Display" pitchFamily="34" charset="0"/>
                  <a:ea typeface="Aptos Display" pitchFamily="34" charset="-122"/>
                  <a:cs typeface="Aptos Display" pitchFamily="34" charset="-120"/>
                </a:rPr>
                <a:t>64.5%</a:t>
              </a:r>
              <a:endParaRPr lang="en-US" sz="2100" dirty="0">
                <a:solidFill>
                  <a:schemeClr val="tx1">
                    <a:lumMod val="75000"/>
                    <a:lumOff val="25000"/>
                  </a:schemeClr>
                </a:solidFill>
              </a:endParaRPr>
            </a:p>
          </p:txBody>
        </p:sp>
        <p:sp>
          <p:nvSpPr>
            <p:cNvPr id="23" name="Text 50">
              <a:extLst>
                <a:ext uri="{FF2B5EF4-FFF2-40B4-BE49-F238E27FC236}">
                  <a16:creationId xmlns:a16="http://schemas.microsoft.com/office/drawing/2014/main" id="{2E088A5D-9FEB-D9FD-AC5D-35E88712A06E}"/>
                </a:ext>
              </a:extLst>
            </p:cNvPr>
            <p:cNvSpPr/>
            <p:nvPr/>
          </p:nvSpPr>
          <p:spPr>
            <a:xfrm>
              <a:off x="7067218" y="4654018"/>
              <a:ext cx="17922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Piczak published LP clip-level reference</a:t>
              </a:r>
              <a:endParaRPr lang="en-US" sz="780" dirty="0"/>
            </a:p>
          </p:txBody>
        </p:sp>
      </p:grpSp>
      <p:grpSp>
        <p:nvGrpSpPr>
          <p:cNvPr id="24" name="Group 23">
            <a:extLst>
              <a:ext uri="{FF2B5EF4-FFF2-40B4-BE49-F238E27FC236}">
                <a16:creationId xmlns:a16="http://schemas.microsoft.com/office/drawing/2014/main" id="{C11B5318-84CC-BB9B-111A-46E5CD83B979}"/>
              </a:ext>
            </a:extLst>
          </p:cNvPr>
          <p:cNvGrpSpPr/>
          <p:nvPr/>
        </p:nvGrpSpPr>
        <p:grpSpPr>
          <a:xfrm>
            <a:off x="9304020" y="4151375"/>
            <a:ext cx="1965960" cy="914400"/>
            <a:chOff x="6591302" y="4233671"/>
            <a:chExt cx="1965960" cy="914400"/>
          </a:xfrm>
        </p:grpSpPr>
        <p:sp>
          <p:nvSpPr>
            <p:cNvPr id="25" name="Shape 28">
              <a:extLst>
                <a:ext uri="{FF2B5EF4-FFF2-40B4-BE49-F238E27FC236}">
                  <a16:creationId xmlns:a16="http://schemas.microsoft.com/office/drawing/2014/main" id="{F5F26EE8-94C7-4634-5BB4-8F499D0C4430}"/>
                </a:ext>
              </a:extLst>
            </p:cNvPr>
            <p:cNvSpPr/>
            <p:nvPr/>
          </p:nvSpPr>
          <p:spPr>
            <a:xfrm>
              <a:off x="6591302" y="4233671"/>
              <a:ext cx="1965960" cy="914400"/>
            </a:xfrm>
            <a:prstGeom prst="rect">
              <a:avLst/>
            </a:prstGeom>
            <a:solidFill>
              <a:srgbClr val="FFFFFF">
                <a:alpha val="98000"/>
              </a:srgbClr>
            </a:solidFill>
            <a:ln w="17780">
              <a:solidFill>
                <a:srgbClr val="17677D"/>
              </a:solidFill>
              <a:prstDash val="solid"/>
            </a:ln>
          </p:spPr>
          <p:txBody>
            <a:bodyPr/>
            <a:lstStyle/>
            <a:p>
              <a:endParaRPr lang="en-US"/>
            </a:p>
          </p:txBody>
        </p:sp>
        <p:sp>
          <p:nvSpPr>
            <p:cNvPr id="26" name="Text 29">
              <a:extLst>
                <a:ext uri="{FF2B5EF4-FFF2-40B4-BE49-F238E27FC236}">
                  <a16:creationId xmlns:a16="http://schemas.microsoft.com/office/drawing/2014/main" id="{A24FE55D-9B43-44A1-9F9D-1941D62F09FF}"/>
                </a:ext>
              </a:extLst>
            </p:cNvPr>
            <p:cNvSpPr/>
            <p:nvPr/>
          </p:nvSpPr>
          <p:spPr>
            <a:xfrm>
              <a:off x="6682742" y="4370831"/>
              <a:ext cx="1783080" cy="329184"/>
            </a:xfrm>
            <a:prstGeom prst="rect">
              <a:avLst/>
            </a:prstGeom>
            <a:noFill/>
            <a:ln/>
          </p:spPr>
          <p:txBody>
            <a:bodyPr wrap="square" lIns="0" tIns="0" rIns="0" bIns="0" rtlCol="0" anchor="t">
              <a:normAutofit/>
            </a:bodyPr>
            <a:lstStyle/>
            <a:p>
              <a:pPr algn="ctr">
                <a:lnSpc>
                  <a:spcPct val="90000"/>
                </a:lnSpc>
              </a:pPr>
              <a:r>
                <a:rPr lang="en-US" sz="2100" b="1" dirty="0">
                  <a:solidFill>
                    <a:srgbClr val="17677D"/>
                  </a:solidFill>
                  <a:latin typeface="Aptos Display" pitchFamily="34" charset="0"/>
                  <a:ea typeface="Aptos Display" pitchFamily="34" charset="-122"/>
                  <a:cs typeface="Aptos Display" pitchFamily="34" charset="-120"/>
                </a:rPr>
                <a:t>88.5%</a:t>
              </a:r>
              <a:endParaRPr lang="en-US" sz="2100" dirty="0"/>
            </a:p>
          </p:txBody>
        </p:sp>
        <p:sp>
          <p:nvSpPr>
            <p:cNvPr id="27" name="Text 30">
              <a:extLst>
                <a:ext uri="{FF2B5EF4-FFF2-40B4-BE49-F238E27FC236}">
                  <a16:creationId xmlns:a16="http://schemas.microsoft.com/office/drawing/2014/main" id="{6BBAF30C-8EF3-4F5C-47F7-9F2AAB4D2399}"/>
                </a:ext>
              </a:extLst>
            </p:cNvPr>
            <p:cNvSpPr/>
            <p:nvPr/>
          </p:nvSpPr>
          <p:spPr>
            <a:xfrm>
              <a:off x="6701030" y="4764023"/>
              <a:ext cx="174650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Frozen final 5-fold accuracy</a:t>
              </a:r>
              <a:endParaRPr lang="en-US" sz="780" dirty="0"/>
            </a:p>
          </p:txBody>
        </p:sp>
      </p:grpSp>
      <p:grpSp>
        <p:nvGrpSpPr>
          <p:cNvPr id="28" name="Group 27">
            <a:extLst>
              <a:ext uri="{FF2B5EF4-FFF2-40B4-BE49-F238E27FC236}">
                <a16:creationId xmlns:a16="http://schemas.microsoft.com/office/drawing/2014/main" id="{BDBC1FB6-A9A2-44E7-2087-378551A4EC49}"/>
              </a:ext>
            </a:extLst>
          </p:cNvPr>
          <p:cNvGrpSpPr/>
          <p:nvPr/>
        </p:nvGrpSpPr>
        <p:grpSpPr>
          <a:xfrm>
            <a:off x="9304020" y="5304484"/>
            <a:ext cx="1965960" cy="914400"/>
            <a:chOff x="6591302" y="4233671"/>
            <a:chExt cx="1965960" cy="914400"/>
          </a:xfrm>
        </p:grpSpPr>
        <p:sp>
          <p:nvSpPr>
            <p:cNvPr id="29" name="Shape 28">
              <a:extLst>
                <a:ext uri="{FF2B5EF4-FFF2-40B4-BE49-F238E27FC236}">
                  <a16:creationId xmlns:a16="http://schemas.microsoft.com/office/drawing/2014/main" id="{C81DCAD6-2AA0-FD99-333C-3BAE705C7885}"/>
                </a:ext>
              </a:extLst>
            </p:cNvPr>
            <p:cNvSpPr/>
            <p:nvPr/>
          </p:nvSpPr>
          <p:spPr>
            <a:xfrm>
              <a:off x="6591302" y="4233671"/>
              <a:ext cx="1965960" cy="914400"/>
            </a:xfrm>
            <a:prstGeom prst="rect">
              <a:avLst/>
            </a:prstGeom>
            <a:solidFill>
              <a:srgbClr val="FFFFFF">
                <a:alpha val="98000"/>
              </a:srgbClr>
            </a:solidFill>
            <a:ln w="17780">
              <a:solidFill>
                <a:srgbClr val="17677D"/>
              </a:solidFill>
              <a:prstDash val="solid"/>
            </a:ln>
          </p:spPr>
          <p:txBody>
            <a:bodyPr/>
            <a:lstStyle/>
            <a:p>
              <a:endParaRPr lang="en-US"/>
            </a:p>
          </p:txBody>
        </p:sp>
        <p:sp>
          <p:nvSpPr>
            <p:cNvPr id="33" name="Text 29">
              <a:extLst>
                <a:ext uri="{FF2B5EF4-FFF2-40B4-BE49-F238E27FC236}">
                  <a16:creationId xmlns:a16="http://schemas.microsoft.com/office/drawing/2014/main" id="{B11F5F6E-3E72-55E1-031A-A2285136C6AD}"/>
                </a:ext>
              </a:extLst>
            </p:cNvPr>
            <p:cNvSpPr/>
            <p:nvPr/>
          </p:nvSpPr>
          <p:spPr>
            <a:xfrm>
              <a:off x="6682742" y="4370831"/>
              <a:ext cx="178308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17677D"/>
                  </a:solidFill>
                  <a:latin typeface="Aptos Display" pitchFamily="34" charset="0"/>
                  <a:ea typeface="Aptos Display" pitchFamily="34" charset="-122"/>
                  <a:cs typeface="Aptos Display" pitchFamily="34" charset="-120"/>
                </a:rPr>
                <a:t>87.25%</a:t>
              </a:r>
              <a:endParaRPr lang="en-US" sz="2100" dirty="0"/>
            </a:p>
          </p:txBody>
        </p:sp>
        <p:sp>
          <p:nvSpPr>
            <p:cNvPr id="35" name="Text 30">
              <a:extLst>
                <a:ext uri="{FF2B5EF4-FFF2-40B4-BE49-F238E27FC236}">
                  <a16:creationId xmlns:a16="http://schemas.microsoft.com/office/drawing/2014/main" id="{054D37E2-EA60-5024-E445-F16B3EB61382}"/>
                </a:ext>
              </a:extLst>
            </p:cNvPr>
            <p:cNvSpPr/>
            <p:nvPr/>
          </p:nvSpPr>
          <p:spPr>
            <a:xfrm>
              <a:off x="6701030" y="4764023"/>
              <a:ext cx="174650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Fine-tuned final 5-fold accuracy</a:t>
              </a:r>
              <a:endParaRPr lang="en-US" sz="780" dirty="0"/>
            </a:p>
          </p:txBody>
        </p:sp>
      </p:grpSp>
      <p:sp>
        <p:nvSpPr>
          <p:cNvPr id="7" name="Text 12">
            <a:extLst>
              <a:ext uri="{FF2B5EF4-FFF2-40B4-BE49-F238E27FC236}">
                <a16:creationId xmlns:a16="http://schemas.microsoft.com/office/drawing/2014/main" id="{C829912F-CEEF-318D-D8D9-38E0F626FD2E}"/>
              </a:ext>
            </a:extLst>
          </p:cNvPr>
          <p:cNvSpPr/>
          <p:nvPr/>
        </p:nvSpPr>
        <p:spPr>
          <a:xfrm>
            <a:off x="731520" y="1591056"/>
            <a:ext cx="4937760" cy="411480"/>
          </a:xfrm>
          <a:prstGeom prst="rect">
            <a:avLst/>
          </a:prstGeom>
          <a:noFill/>
          <a:ln/>
        </p:spPr>
        <p:txBody>
          <a:bodyPr wrap="square" lIns="0" tIns="0" rIns="0" bIns="0" rtlCol="0" anchor="t">
            <a:normAutofit/>
          </a:bodyPr>
          <a:lstStyle/>
          <a:p>
            <a:pPr marL="0" indent="0" algn="l">
              <a:lnSpc>
                <a:spcPct val="90000"/>
              </a:lnSpc>
              <a:buNone/>
            </a:pPr>
            <a:r>
              <a:rPr lang="en-US" sz="1200" dirty="0">
                <a:solidFill>
                  <a:srgbClr val="1F2528"/>
                </a:solidFill>
                <a:latin typeface="Aptos Display" pitchFamily="34" charset="0"/>
              </a:rPr>
              <a:t>Lightweight pretrained model that is 20x smaller than </a:t>
            </a:r>
            <a:r>
              <a:rPr lang="en-US" sz="1200" dirty="0" err="1">
                <a:solidFill>
                  <a:srgbClr val="1F2528"/>
                </a:solidFill>
                <a:latin typeface="Aptos Display" pitchFamily="34" charset="0"/>
              </a:rPr>
              <a:t>VGGish</a:t>
            </a:r>
            <a:r>
              <a:rPr lang="en-US" sz="1200" dirty="0">
                <a:solidFill>
                  <a:srgbClr val="1F2528"/>
                </a:solidFill>
                <a:latin typeface="Aptos Display" pitchFamily="34" charset="0"/>
              </a:rPr>
              <a:t>, but works well with real-time audio event classification. </a:t>
            </a:r>
            <a:endParaRPr lang="en-US" sz="1200" dirty="0"/>
          </a:p>
        </p:txBody>
      </p:sp>
      <p:sp>
        <p:nvSpPr>
          <p:cNvPr id="8" name="Text 11">
            <a:extLst>
              <a:ext uri="{FF2B5EF4-FFF2-40B4-BE49-F238E27FC236}">
                <a16:creationId xmlns:a16="http://schemas.microsoft.com/office/drawing/2014/main" id="{CC25267D-307A-400B-0537-40DFFA195C28}"/>
              </a:ext>
            </a:extLst>
          </p:cNvPr>
          <p:cNvSpPr/>
          <p:nvPr/>
        </p:nvSpPr>
        <p:spPr>
          <a:xfrm>
            <a:off x="749808" y="1305368"/>
            <a:ext cx="128016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B65D3A"/>
                </a:solidFill>
                <a:latin typeface="Aptos" pitchFamily="34" charset="0"/>
                <a:ea typeface="Aptos" pitchFamily="34" charset="-122"/>
                <a:cs typeface="Aptos" pitchFamily="34" charset="-120"/>
              </a:rPr>
              <a:t>What Changed?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THIRD TECHNICAL ERA</a:t>
            </a:r>
            <a:endParaRPr lang="en-US" sz="880" dirty="0"/>
          </a:p>
        </p:txBody>
      </p:sp>
      <p:sp>
        <p:nvSpPr>
          <p:cNvPr id="3" name="Text 1"/>
          <p:cNvSpPr/>
          <p:nvPr/>
        </p:nvSpPr>
        <p:spPr>
          <a:xfrm>
            <a:off x="566928" y="512064"/>
            <a:ext cx="5742432" cy="502920"/>
          </a:xfrm>
          <a:prstGeom prst="rect">
            <a:avLst/>
          </a:prstGeom>
          <a:noFill/>
          <a:ln/>
        </p:spPr>
        <p:txBody>
          <a:bodyPr wrap="square" lIns="0" tIns="0" rIns="0" bIns="0" rtlCol="0" anchor="t">
            <a:normAutofit fontScale="85000" lnSpcReduction="20000"/>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Era shift: transfer learning with pretrained audio transformers</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822960" y="1371600"/>
            <a:ext cx="82296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B65D3A"/>
                </a:solidFill>
                <a:latin typeface="Aptos" pitchFamily="34" charset="0"/>
                <a:ea typeface="Aptos" pitchFamily="34" charset="-122"/>
                <a:cs typeface="Aptos" pitchFamily="34" charset="-120"/>
              </a:rPr>
              <a:t>Shift</a:t>
            </a:r>
            <a:endParaRPr lang="en-US" sz="1000" dirty="0"/>
          </a:p>
        </p:txBody>
      </p:sp>
      <p:sp>
        <p:nvSpPr>
          <p:cNvPr id="12" name="Text 10"/>
          <p:cNvSpPr/>
          <p:nvPr/>
        </p:nvSpPr>
        <p:spPr>
          <a:xfrm>
            <a:off x="822960" y="1664208"/>
            <a:ext cx="5486400" cy="438912"/>
          </a:xfrm>
          <a:prstGeom prst="rect">
            <a:avLst/>
          </a:prstGeom>
          <a:noFill/>
          <a:ln/>
        </p:spPr>
        <p:txBody>
          <a:bodyPr wrap="square" lIns="0" tIns="0" rIns="0" bIns="0" rtlCol="0" anchor="t">
            <a:normAutofit fontScale="85000" lnSpcReduction="10000"/>
          </a:bodyPr>
          <a:lstStyle/>
          <a:p>
            <a:pPr marL="0" indent="0" algn="l">
              <a:lnSpc>
                <a:spcPct val="90000"/>
              </a:lnSpc>
              <a:buNone/>
            </a:pPr>
            <a:r>
              <a:rPr lang="en-US" sz="2400" b="1" dirty="0">
                <a:solidFill>
                  <a:srgbClr val="1F2528"/>
                </a:solidFill>
                <a:latin typeface="Aptos Display" pitchFamily="34" charset="0"/>
                <a:ea typeface="Aptos Display" pitchFamily="34" charset="-122"/>
                <a:cs typeface="Aptos Display" pitchFamily="34" charset="-120"/>
              </a:rPr>
              <a:t>Pretrained representations plus broader context.</a:t>
            </a:r>
            <a:endParaRPr lang="en-US" sz="2400" dirty="0"/>
          </a:p>
        </p:txBody>
      </p:sp>
      <p:sp>
        <p:nvSpPr>
          <p:cNvPr id="482" name="Shape 480"/>
          <p:cNvSpPr/>
          <p:nvPr/>
        </p:nvSpPr>
        <p:spPr>
          <a:xfrm>
            <a:off x="4251960" y="3018542"/>
            <a:ext cx="1554480" cy="731520"/>
          </a:xfrm>
          <a:prstGeom prst="rect">
            <a:avLst/>
          </a:prstGeom>
          <a:solidFill>
            <a:srgbClr val="FDFDFB"/>
          </a:solidFill>
          <a:ln w="10160">
            <a:solidFill>
              <a:srgbClr val="17677D"/>
            </a:solidFill>
            <a:prstDash val="solid"/>
          </a:ln>
        </p:spPr>
        <p:txBody>
          <a:bodyPr/>
          <a:lstStyle/>
          <a:p>
            <a:endParaRPr lang="en-US"/>
          </a:p>
        </p:txBody>
      </p:sp>
      <p:sp>
        <p:nvSpPr>
          <p:cNvPr id="483" name="Text 481"/>
          <p:cNvSpPr/>
          <p:nvPr/>
        </p:nvSpPr>
        <p:spPr>
          <a:xfrm>
            <a:off x="4325112" y="3302006"/>
            <a:ext cx="1408176" cy="164592"/>
          </a:xfrm>
          <a:prstGeom prst="rect">
            <a:avLst/>
          </a:prstGeom>
          <a:noFill/>
          <a:ln/>
        </p:spPr>
        <p:txBody>
          <a:bodyPr wrap="square" lIns="0" tIns="0" rIns="0" bIns="0" rtlCol="0" anchor="ctr">
            <a:normAutofit/>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Local filters</a:t>
            </a:r>
            <a:endParaRPr lang="en-US" sz="1100" dirty="0"/>
          </a:p>
        </p:txBody>
      </p:sp>
      <p:sp>
        <p:nvSpPr>
          <p:cNvPr id="484" name="Shape 482"/>
          <p:cNvSpPr/>
          <p:nvPr/>
        </p:nvSpPr>
        <p:spPr>
          <a:xfrm>
            <a:off x="3685032" y="3384302"/>
            <a:ext cx="457200" cy="0"/>
          </a:xfrm>
          <a:prstGeom prst="line">
            <a:avLst/>
          </a:prstGeom>
          <a:noFill/>
          <a:ln w="15240">
            <a:solidFill>
              <a:srgbClr val="BFC6C8"/>
            </a:solidFill>
            <a:prstDash val="solid"/>
            <a:tailEnd type="triangle"/>
          </a:ln>
        </p:spPr>
        <p:txBody>
          <a:bodyPr/>
          <a:lstStyle/>
          <a:p>
            <a:endParaRPr lang="en-US"/>
          </a:p>
        </p:txBody>
      </p:sp>
      <p:sp>
        <p:nvSpPr>
          <p:cNvPr id="485" name="Shape 483"/>
          <p:cNvSpPr/>
          <p:nvPr/>
        </p:nvSpPr>
        <p:spPr>
          <a:xfrm>
            <a:off x="5916168" y="3384302"/>
            <a:ext cx="713232" cy="0"/>
          </a:xfrm>
          <a:prstGeom prst="line">
            <a:avLst/>
          </a:prstGeom>
          <a:noFill/>
          <a:ln w="15240">
            <a:solidFill>
              <a:srgbClr val="BFC6C8"/>
            </a:solidFill>
            <a:prstDash val="solid"/>
            <a:tailEnd type="triangle"/>
          </a:ln>
        </p:spPr>
        <p:txBody>
          <a:bodyPr/>
          <a:lstStyle/>
          <a:p>
            <a:endParaRPr lang="en-US"/>
          </a:p>
        </p:txBody>
      </p:sp>
      <p:sp>
        <p:nvSpPr>
          <p:cNvPr id="486" name="Shape 484"/>
          <p:cNvSpPr/>
          <p:nvPr/>
        </p:nvSpPr>
        <p:spPr>
          <a:xfrm>
            <a:off x="6812280" y="2835662"/>
            <a:ext cx="2057400" cy="1097280"/>
          </a:xfrm>
          <a:prstGeom prst="rect">
            <a:avLst/>
          </a:prstGeom>
          <a:solidFill>
            <a:srgbClr val="FFF9EA"/>
          </a:solidFill>
          <a:ln w="10160">
            <a:solidFill>
              <a:srgbClr val="B65D3A"/>
            </a:solidFill>
            <a:prstDash val="solid"/>
          </a:ln>
        </p:spPr>
        <p:txBody>
          <a:bodyPr/>
          <a:lstStyle/>
          <a:p>
            <a:endParaRPr lang="en-US"/>
          </a:p>
        </p:txBody>
      </p:sp>
      <p:sp>
        <p:nvSpPr>
          <p:cNvPr id="487" name="Text 485"/>
          <p:cNvSpPr/>
          <p:nvPr/>
        </p:nvSpPr>
        <p:spPr>
          <a:xfrm>
            <a:off x="6885432" y="3302006"/>
            <a:ext cx="1911096" cy="164592"/>
          </a:xfrm>
          <a:prstGeom prst="rect">
            <a:avLst/>
          </a:prstGeom>
          <a:noFill/>
          <a:ln/>
        </p:spPr>
        <p:txBody>
          <a:bodyPr wrap="square" lIns="0" tIns="0" rIns="0" bIns="0" rtlCol="0" anchor="ctr">
            <a:normAutofit fontScale="62500" lnSpcReduction="20000"/>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Attention over</a:t>
            </a:r>
            <a:endParaRPr lang="en-US" sz="1100" dirty="0"/>
          </a:p>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larger context</a:t>
            </a:r>
            <a:endParaRPr lang="en-US" sz="1100" dirty="0"/>
          </a:p>
        </p:txBody>
      </p:sp>
      <p:sp>
        <p:nvSpPr>
          <p:cNvPr id="488" name="Shape 486"/>
          <p:cNvSpPr/>
          <p:nvPr/>
        </p:nvSpPr>
        <p:spPr>
          <a:xfrm>
            <a:off x="9034272" y="3384302"/>
            <a:ext cx="612648" cy="0"/>
          </a:xfrm>
          <a:prstGeom prst="line">
            <a:avLst/>
          </a:prstGeom>
          <a:noFill/>
          <a:ln w="15240">
            <a:solidFill>
              <a:srgbClr val="BFC6C8"/>
            </a:solidFill>
            <a:prstDash val="solid"/>
            <a:tailEnd type="triangle"/>
          </a:ln>
        </p:spPr>
        <p:txBody>
          <a:bodyPr/>
          <a:lstStyle/>
          <a:p>
            <a:endParaRPr lang="en-US"/>
          </a:p>
        </p:txBody>
      </p:sp>
      <p:sp>
        <p:nvSpPr>
          <p:cNvPr id="489" name="Shape 487"/>
          <p:cNvSpPr/>
          <p:nvPr/>
        </p:nvSpPr>
        <p:spPr>
          <a:xfrm>
            <a:off x="9829800" y="2981966"/>
            <a:ext cx="1600200" cy="804672"/>
          </a:xfrm>
          <a:prstGeom prst="rect">
            <a:avLst/>
          </a:prstGeom>
          <a:solidFill>
            <a:srgbClr val="FDFDFB"/>
          </a:solidFill>
          <a:ln w="10160">
            <a:solidFill>
              <a:srgbClr val="BFC6C8"/>
            </a:solidFill>
            <a:prstDash val="solid"/>
          </a:ln>
        </p:spPr>
        <p:txBody>
          <a:bodyPr/>
          <a:lstStyle/>
          <a:p>
            <a:endParaRPr lang="en-US"/>
          </a:p>
        </p:txBody>
      </p:sp>
      <p:sp>
        <p:nvSpPr>
          <p:cNvPr id="490" name="Text 488"/>
          <p:cNvSpPr/>
          <p:nvPr/>
        </p:nvSpPr>
        <p:spPr>
          <a:xfrm>
            <a:off x="9902952" y="3302006"/>
            <a:ext cx="1453896" cy="164592"/>
          </a:xfrm>
          <a:prstGeom prst="rect">
            <a:avLst/>
          </a:prstGeom>
          <a:noFill/>
          <a:ln/>
        </p:spPr>
        <p:txBody>
          <a:bodyPr wrap="square" lIns="0" tIns="0" rIns="0" bIns="0" rtlCol="0" anchor="ctr">
            <a:normAutofit fontScale="62500" lnSpcReduction="20000"/>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ESC-50</a:t>
            </a:r>
            <a:endParaRPr lang="en-US" sz="1100" dirty="0"/>
          </a:p>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adaptation</a:t>
            </a:r>
            <a:endParaRPr lang="en-US" sz="1100" dirty="0"/>
          </a:p>
        </p:txBody>
      </p:sp>
      <p:sp>
        <p:nvSpPr>
          <p:cNvPr id="491" name="Text 489"/>
          <p:cNvSpPr/>
          <p:nvPr/>
        </p:nvSpPr>
        <p:spPr>
          <a:xfrm>
            <a:off x="914400" y="4846320"/>
            <a:ext cx="9692640" cy="896112"/>
          </a:xfrm>
          <a:prstGeom prst="rect">
            <a:avLst/>
          </a:prstGeom>
          <a:noFill/>
          <a:ln/>
        </p:spPr>
        <p:txBody>
          <a:bodyPr wrap="square" lIns="254" tIns="254" rIns="254" bIns="254" rtlCol="0" anchor="ctr">
            <a:normAutofit lnSpcReduction="10000"/>
          </a:bodyPr>
          <a:lstStyle/>
          <a:p>
            <a:r>
              <a:rPr lang="en-US" sz="1300" dirty="0">
                <a:solidFill>
                  <a:srgbClr val="1F2528"/>
                </a:solidFill>
                <a:latin typeface="Aptos" pitchFamily="34" charset="0"/>
                <a:ea typeface="Aptos" pitchFamily="34" charset="-122"/>
                <a:cs typeface="Aptos" pitchFamily="34" charset="-120"/>
              </a:rPr>
              <a:t>Still transfer learning: the backbone starts with external audio knowledge.</a:t>
            </a:r>
            <a:endParaRPr lang="en-US" sz="1300" dirty="0"/>
          </a:p>
          <a:p>
            <a:endParaRPr lang="en-US" sz="1300" dirty="0"/>
          </a:p>
          <a:p>
            <a:r>
              <a:rPr lang="en-US" sz="1300" dirty="0">
                <a:solidFill>
                  <a:srgbClr val="1F2528"/>
                </a:solidFill>
                <a:latin typeface="Aptos" pitchFamily="34" charset="0"/>
                <a:ea typeface="Aptos" pitchFamily="34" charset="-122"/>
                <a:cs typeface="Aptos" pitchFamily="34" charset="-120"/>
              </a:rPr>
              <a:t>Different period: attention and foundation-style encoders support broader context.</a:t>
            </a:r>
            <a:endParaRPr lang="en-US" sz="1300" dirty="0"/>
          </a:p>
          <a:p>
            <a:endParaRPr lang="en-US" sz="1300" dirty="0"/>
          </a:p>
          <a:p>
            <a:r>
              <a:rPr lang="en-US" sz="1300" dirty="0">
                <a:solidFill>
                  <a:srgbClr val="1F2528"/>
                </a:solidFill>
                <a:latin typeface="Aptos" pitchFamily="34" charset="0"/>
                <a:ea typeface="Aptos" pitchFamily="34" charset="-122"/>
                <a:cs typeface="Aptos" pitchFamily="34" charset="-120"/>
              </a:rPr>
              <a:t>AST and BEATs represent two modern paths through the same idea.</a:t>
            </a:r>
            <a:endParaRPr lang="en-US" sz="1300" dirty="0"/>
          </a:p>
        </p:txBody>
      </p:sp>
      <p:sp>
        <p:nvSpPr>
          <p:cNvPr id="492" name="Text 490"/>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10</a:t>
            </a:r>
            <a:endParaRPr lang="en-US" sz="750" dirty="0"/>
          </a:p>
        </p:txBody>
      </p:sp>
      <p:pic>
        <p:nvPicPr>
          <p:cNvPr id="1026" name="Picture 2" descr="Cornell University Logo, symbol, meaning, history, PNG, brand">
            <a:extLst>
              <a:ext uri="{FF2B5EF4-FFF2-40B4-BE49-F238E27FC236}">
                <a16:creationId xmlns:a16="http://schemas.microsoft.com/office/drawing/2014/main" id="{39D6C283-413E-0506-7794-6C39F4D5F3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1024" name="Shape 19">
            <a:extLst>
              <a:ext uri="{FF2B5EF4-FFF2-40B4-BE49-F238E27FC236}">
                <a16:creationId xmlns:a16="http://schemas.microsoft.com/office/drawing/2014/main" id="{532395DC-B8BE-A567-6C77-23D673F69D3A}"/>
              </a:ext>
            </a:extLst>
          </p:cNvPr>
          <p:cNvSpPr/>
          <p:nvPr/>
        </p:nvSpPr>
        <p:spPr>
          <a:xfrm>
            <a:off x="6237447" y="751408"/>
            <a:ext cx="1809206" cy="295381"/>
          </a:xfrm>
          <a:prstGeom prst="chevron">
            <a:avLst/>
          </a:prstGeom>
          <a:solidFill>
            <a:srgbClr val="D7DDE0">
              <a:alpha val="90000"/>
            </a:srgbClr>
          </a:solidFill>
          <a:ln w="12700">
            <a:solidFill>
              <a:srgbClr val="F7F5EF"/>
            </a:solidFill>
            <a:prstDash val="solid"/>
          </a:ln>
        </p:spPr>
        <p:txBody>
          <a:bodyPr/>
          <a:lstStyle/>
          <a:p>
            <a:endParaRPr lang="en-US" sz="1100" dirty="0"/>
          </a:p>
        </p:txBody>
      </p:sp>
      <p:sp>
        <p:nvSpPr>
          <p:cNvPr id="1025" name="Text 20">
            <a:extLst>
              <a:ext uri="{FF2B5EF4-FFF2-40B4-BE49-F238E27FC236}">
                <a16:creationId xmlns:a16="http://schemas.microsoft.com/office/drawing/2014/main" id="{46F29E94-DAA7-594B-F1B5-B162A771F510}"/>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Training from scratch</a:t>
            </a:r>
          </a:p>
        </p:txBody>
      </p:sp>
      <p:sp>
        <p:nvSpPr>
          <p:cNvPr id="1027" name="Text 21">
            <a:extLst>
              <a:ext uri="{FF2B5EF4-FFF2-40B4-BE49-F238E27FC236}">
                <a16:creationId xmlns:a16="http://schemas.microsoft.com/office/drawing/2014/main" id="{4DD15F9C-9F30-72F8-AB1C-6DF18062F565}"/>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6B7176"/>
                </a:solidFill>
                <a:latin typeface="Aptos" pitchFamily="34" charset="0"/>
              </a:rPr>
              <a:t>Piczak</a:t>
            </a:r>
            <a:r>
              <a:rPr lang="en-US" sz="500" dirty="0">
                <a:solidFill>
                  <a:srgbClr val="6B7176"/>
                </a:solidFill>
                <a:latin typeface="Aptos" pitchFamily="34" charset="0"/>
              </a:rPr>
              <a:t> CNN | Variations | LSTM</a:t>
            </a:r>
          </a:p>
        </p:txBody>
      </p:sp>
      <p:sp>
        <p:nvSpPr>
          <p:cNvPr id="1028" name="Shape 22">
            <a:extLst>
              <a:ext uri="{FF2B5EF4-FFF2-40B4-BE49-F238E27FC236}">
                <a16:creationId xmlns:a16="http://schemas.microsoft.com/office/drawing/2014/main" id="{0FFCFA2E-643F-C304-312D-CB18C7EAFE99}"/>
              </a:ext>
            </a:extLst>
          </p:cNvPr>
          <p:cNvSpPr/>
          <p:nvPr/>
        </p:nvSpPr>
        <p:spPr>
          <a:xfrm>
            <a:off x="7878422" y="750102"/>
            <a:ext cx="1809206"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1029" name="Text 23">
            <a:extLst>
              <a:ext uri="{FF2B5EF4-FFF2-40B4-BE49-F238E27FC236}">
                <a16:creationId xmlns:a16="http://schemas.microsoft.com/office/drawing/2014/main" id="{883FE847-ED6A-94C4-7CB6-798FE9F765FC}"/>
              </a:ext>
            </a:extLst>
          </p:cNvPr>
          <p:cNvSpPr/>
          <p:nvPr/>
        </p:nvSpPr>
        <p:spPr>
          <a:xfrm>
            <a:off x="7963330" y="839252"/>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Transfer learning: pretrained CNN</a:t>
            </a:r>
          </a:p>
        </p:txBody>
      </p:sp>
      <p:sp>
        <p:nvSpPr>
          <p:cNvPr id="1030" name="Text 24">
            <a:extLst>
              <a:ext uri="{FF2B5EF4-FFF2-40B4-BE49-F238E27FC236}">
                <a16:creationId xmlns:a16="http://schemas.microsoft.com/office/drawing/2014/main" id="{E4FC9C22-0E67-CB1F-ABFD-7115E5951C9B}"/>
              </a:ext>
            </a:extLst>
          </p:cNvPr>
          <p:cNvSpPr/>
          <p:nvPr/>
        </p:nvSpPr>
        <p:spPr>
          <a:xfrm>
            <a:off x="7984136" y="941012"/>
            <a:ext cx="1597682" cy="58389"/>
          </a:xfrm>
          <a:prstGeom prst="rect">
            <a:avLst/>
          </a:prstGeom>
          <a:noFill/>
          <a:ln/>
        </p:spPr>
        <p:txBody>
          <a:bodyPr wrap="square" lIns="0" tIns="0" rIns="0" bIns="0" rtlCol="0" anchor="t">
            <a:normAutofit fontScale="92500" lnSpcReduction="20000"/>
          </a:bodyPr>
          <a:lstStyle/>
          <a:p>
            <a:pPr algn="ctr">
              <a:lnSpc>
                <a:spcPct val="90000"/>
              </a:lnSpc>
            </a:pPr>
            <a:r>
              <a:rPr lang="en-US" sz="500" dirty="0">
                <a:solidFill>
                  <a:srgbClr val="6B7176"/>
                </a:solidFill>
                <a:latin typeface="Aptos" pitchFamily="34" charset="0"/>
              </a:rPr>
              <a:t>VGGish | YAMNet</a:t>
            </a:r>
          </a:p>
        </p:txBody>
      </p:sp>
      <p:sp>
        <p:nvSpPr>
          <p:cNvPr id="1031" name="Shape 25">
            <a:extLst>
              <a:ext uri="{FF2B5EF4-FFF2-40B4-BE49-F238E27FC236}">
                <a16:creationId xmlns:a16="http://schemas.microsoft.com/office/drawing/2014/main" id="{D9C0B880-A0BC-DFC3-3BEE-6C0EBF99E8C1}"/>
              </a:ext>
            </a:extLst>
          </p:cNvPr>
          <p:cNvSpPr/>
          <p:nvPr/>
        </p:nvSpPr>
        <p:spPr>
          <a:xfrm>
            <a:off x="9545712" y="751395"/>
            <a:ext cx="1809205" cy="295381"/>
          </a:xfrm>
          <a:prstGeom prst="chevron">
            <a:avLst/>
          </a:prstGeom>
          <a:solidFill>
            <a:srgbClr val="B65D3A"/>
          </a:solidFill>
          <a:ln w="12700">
            <a:solidFill>
              <a:srgbClr val="B65D3A">
                <a:alpha val="0"/>
              </a:srgbClr>
            </a:solidFill>
            <a:prstDash val="solid"/>
          </a:ln>
        </p:spPr>
        <p:txBody>
          <a:bodyPr/>
          <a:lstStyle/>
          <a:p>
            <a:endParaRPr lang="en-US"/>
          </a:p>
        </p:txBody>
      </p:sp>
      <p:sp>
        <p:nvSpPr>
          <p:cNvPr id="1032" name="Text 26">
            <a:extLst>
              <a:ext uri="{FF2B5EF4-FFF2-40B4-BE49-F238E27FC236}">
                <a16:creationId xmlns:a16="http://schemas.microsoft.com/office/drawing/2014/main" id="{E1539D4A-2D0B-B540-7AC3-E6D04C8123E5}"/>
              </a:ext>
            </a:extLst>
          </p:cNvPr>
          <p:cNvSpPr/>
          <p:nvPr/>
        </p:nvSpPr>
        <p:spPr>
          <a:xfrm>
            <a:off x="9657604" y="829133"/>
            <a:ext cx="1697313" cy="69476"/>
          </a:xfrm>
          <a:prstGeom prst="rect">
            <a:avLst/>
          </a:prstGeom>
          <a:noFill/>
          <a:ln/>
        </p:spPr>
        <p:txBody>
          <a:bodyPr wrap="square" lIns="0" tIns="0" rIns="0" bIns="0" rtlCol="0" anchor="t">
            <a:noAutofit/>
          </a:bodyPr>
          <a:lstStyle/>
          <a:p>
            <a:pPr algn="ctr">
              <a:lnSpc>
                <a:spcPct val="90000"/>
              </a:lnSpc>
            </a:pPr>
            <a:r>
              <a:rPr lang="en-US" sz="600" b="1" dirty="0">
                <a:solidFill>
                  <a:srgbClr val="FFFFFF"/>
                </a:solidFill>
                <a:latin typeface="Aptos" pitchFamily="34" charset="0"/>
              </a:rPr>
              <a:t>Transfer learning: pretrained transformers</a:t>
            </a:r>
          </a:p>
        </p:txBody>
      </p:sp>
      <p:sp>
        <p:nvSpPr>
          <p:cNvPr id="1033" name="Text 27">
            <a:extLst>
              <a:ext uri="{FF2B5EF4-FFF2-40B4-BE49-F238E27FC236}">
                <a16:creationId xmlns:a16="http://schemas.microsoft.com/office/drawing/2014/main" id="{E21022D7-0680-77A1-7476-F4A2EA15C073}"/>
              </a:ext>
            </a:extLst>
          </p:cNvPr>
          <p:cNvSpPr/>
          <p:nvPr/>
        </p:nvSpPr>
        <p:spPr>
          <a:xfrm>
            <a:off x="9657605" y="944489"/>
            <a:ext cx="1662902" cy="107931"/>
          </a:xfrm>
          <a:prstGeom prst="rect">
            <a:avLst/>
          </a:prstGeom>
          <a:noFill/>
          <a:ln/>
        </p:spPr>
        <p:txBody>
          <a:bodyPr wrap="square" lIns="0" tIns="0" rIns="0" bIns="0" rtlCol="0" anchor="t">
            <a:normAutofit/>
          </a:bodyPr>
          <a:lstStyle/>
          <a:p>
            <a:pPr algn="ctr">
              <a:lnSpc>
                <a:spcPct val="90000"/>
              </a:lnSpc>
            </a:pPr>
            <a:r>
              <a:rPr lang="en-US" sz="500" dirty="0">
                <a:solidFill>
                  <a:schemeClr val="bg1">
                    <a:lumMod val="75000"/>
                  </a:schemeClr>
                </a:solidFill>
                <a:latin typeface="Aptos" pitchFamily="34" charset="0"/>
              </a:rPr>
              <a:t>AST | BEATs</a:t>
            </a:r>
          </a:p>
        </p:txBody>
      </p:sp>
      <p:sp>
        <p:nvSpPr>
          <p:cNvPr id="7" name="Rectangle 6">
            <a:extLst>
              <a:ext uri="{FF2B5EF4-FFF2-40B4-BE49-F238E27FC236}">
                <a16:creationId xmlns:a16="http://schemas.microsoft.com/office/drawing/2014/main" id="{1836B0A0-C07F-7982-2BDA-65B9FEACE5F2}"/>
              </a:ext>
            </a:extLst>
          </p:cNvPr>
          <p:cNvSpPr/>
          <p:nvPr/>
        </p:nvSpPr>
        <p:spPr>
          <a:xfrm>
            <a:off x="762000" y="2835662"/>
            <a:ext cx="2780400" cy="109728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8" name="Picture 14" descr="Sound Wave Icon Vector rectangular sound wave curve PNG picture png">
            <a:extLst>
              <a:ext uri="{FF2B5EF4-FFF2-40B4-BE49-F238E27FC236}">
                <a16:creationId xmlns:a16="http://schemas.microsoft.com/office/drawing/2014/main" id="{9AE78517-7D6D-1B85-CD27-9C5AB79961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4120" y="3066602"/>
            <a:ext cx="1308800" cy="7362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 481">
            <a:extLst>
              <a:ext uri="{FF2B5EF4-FFF2-40B4-BE49-F238E27FC236}">
                <a16:creationId xmlns:a16="http://schemas.microsoft.com/office/drawing/2014/main" id="{1A7D5425-434B-1AC9-C716-9CCE330842B4}"/>
              </a:ext>
            </a:extLst>
          </p:cNvPr>
          <p:cNvSpPr/>
          <p:nvPr/>
        </p:nvSpPr>
        <p:spPr>
          <a:xfrm>
            <a:off x="837600" y="3302006"/>
            <a:ext cx="1408176" cy="164592"/>
          </a:xfrm>
          <a:prstGeom prst="rect">
            <a:avLst/>
          </a:prstGeom>
          <a:noFill/>
          <a:ln/>
        </p:spPr>
        <p:txBody>
          <a:bodyPr wrap="square" lIns="0" tIns="0" rIns="0" bIns="0" rtlCol="0" anchor="ctr">
            <a:normAutofit/>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Audio Waveform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ERA 3: PRETRAINED AUDIO TRANSFORMERS</a:t>
            </a:r>
            <a:endParaRPr lang="en-US" sz="880" dirty="0"/>
          </a:p>
        </p:txBody>
      </p:sp>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AST</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11</a:t>
            </a:r>
            <a:endParaRPr lang="en-US" sz="750" dirty="0"/>
          </a:p>
        </p:txBody>
      </p:sp>
      <p:sp>
        <p:nvSpPr>
          <p:cNvPr id="13" name="Text 11"/>
          <p:cNvSpPr/>
          <p:nvPr/>
        </p:nvSpPr>
        <p:spPr>
          <a:xfrm>
            <a:off x="749808" y="1307592"/>
            <a:ext cx="128016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B65D3A"/>
                </a:solidFill>
                <a:latin typeface="Aptos" pitchFamily="34" charset="0"/>
                <a:ea typeface="Aptos" pitchFamily="34" charset="-122"/>
                <a:cs typeface="Aptos" pitchFamily="34" charset="-120"/>
              </a:rPr>
              <a:t>What Changed?</a:t>
            </a:r>
            <a:endParaRPr lang="en-US" sz="1000" dirty="0"/>
          </a:p>
        </p:txBody>
      </p:sp>
      <p:sp>
        <p:nvSpPr>
          <p:cNvPr id="500" name="Shape 498"/>
          <p:cNvSpPr/>
          <p:nvPr/>
        </p:nvSpPr>
        <p:spPr>
          <a:xfrm>
            <a:off x="8239330" y="4084421"/>
            <a:ext cx="1920012" cy="780682"/>
          </a:xfrm>
          <a:prstGeom prst="rect">
            <a:avLst/>
          </a:prstGeom>
          <a:solidFill>
            <a:srgbClr val="FFFFFF">
              <a:alpha val="98000"/>
            </a:srgbClr>
          </a:solidFill>
          <a:ln w="17780">
            <a:solidFill>
              <a:srgbClr val="B65D3A"/>
            </a:solidFill>
            <a:prstDash val="solid"/>
          </a:ln>
        </p:spPr>
        <p:txBody>
          <a:bodyPr/>
          <a:lstStyle/>
          <a:p>
            <a:endParaRPr lang="en-US"/>
          </a:p>
        </p:txBody>
      </p:sp>
      <p:sp>
        <p:nvSpPr>
          <p:cNvPr id="501" name="Text 499"/>
          <p:cNvSpPr/>
          <p:nvPr/>
        </p:nvSpPr>
        <p:spPr>
          <a:xfrm>
            <a:off x="8239330" y="4224527"/>
            <a:ext cx="1920012"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B65D3A"/>
                </a:solidFill>
                <a:latin typeface="Aptos Display" pitchFamily="34" charset="0"/>
                <a:ea typeface="Aptos Display" pitchFamily="34" charset="-122"/>
                <a:cs typeface="Aptos Display" pitchFamily="34" charset="-120"/>
              </a:rPr>
              <a:t>95.25%</a:t>
            </a:r>
            <a:endParaRPr lang="en-US" sz="2100" dirty="0"/>
          </a:p>
        </p:txBody>
      </p:sp>
      <p:sp>
        <p:nvSpPr>
          <p:cNvPr id="502" name="Text 500"/>
          <p:cNvSpPr/>
          <p:nvPr/>
        </p:nvSpPr>
        <p:spPr>
          <a:xfrm>
            <a:off x="8239330" y="4617719"/>
            <a:ext cx="1920012"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final 5-fold accuracy</a:t>
            </a:r>
            <a:endParaRPr lang="en-US" sz="780" dirty="0"/>
          </a:p>
        </p:txBody>
      </p:sp>
      <p:sp>
        <p:nvSpPr>
          <p:cNvPr id="506" name="Text 504"/>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11</a:t>
            </a:r>
            <a:endParaRPr lang="en-US" sz="750" dirty="0"/>
          </a:p>
        </p:txBody>
      </p:sp>
      <p:pic>
        <p:nvPicPr>
          <p:cNvPr id="514" name="Picture 2" descr="Cornell University Logo, symbol, meaning, history, PNG, brand">
            <a:extLst>
              <a:ext uri="{FF2B5EF4-FFF2-40B4-BE49-F238E27FC236}">
                <a16:creationId xmlns:a16="http://schemas.microsoft.com/office/drawing/2014/main" id="{66E1373B-4473-1B8F-9EF5-AB098BB192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524" name="Shape 19">
            <a:extLst>
              <a:ext uri="{FF2B5EF4-FFF2-40B4-BE49-F238E27FC236}">
                <a16:creationId xmlns:a16="http://schemas.microsoft.com/office/drawing/2014/main" id="{EA84B82C-A024-6332-D623-A3FB2DD32906}"/>
              </a:ext>
            </a:extLst>
          </p:cNvPr>
          <p:cNvSpPr/>
          <p:nvPr/>
        </p:nvSpPr>
        <p:spPr>
          <a:xfrm>
            <a:off x="6237447" y="751408"/>
            <a:ext cx="1809206" cy="295381"/>
          </a:xfrm>
          <a:prstGeom prst="chevron">
            <a:avLst/>
          </a:prstGeom>
          <a:solidFill>
            <a:srgbClr val="D7DDE0">
              <a:alpha val="90000"/>
            </a:srgbClr>
          </a:solidFill>
          <a:ln w="12700">
            <a:solidFill>
              <a:srgbClr val="F7F5EF"/>
            </a:solidFill>
            <a:prstDash val="solid"/>
          </a:ln>
        </p:spPr>
        <p:txBody>
          <a:bodyPr/>
          <a:lstStyle/>
          <a:p>
            <a:endParaRPr lang="en-US" sz="1100" dirty="0"/>
          </a:p>
        </p:txBody>
      </p:sp>
      <p:sp>
        <p:nvSpPr>
          <p:cNvPr id="525" name="Text 20">
            <a:extLst>
              <a:ext uri="{FF2B5EF4-FFF2-40B4-BE49-F238E27FC236}">
                <a16:creationId xmlns:a16="http://schemas.microsoft.com/office/drawing/2014/main" id="{9664A209-9962-53C9-9ABD-51131E6509EA}"/>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Training from scratch</a:t>
            </a:r>
          </a:p>
        </p:txBody>
      </p:sp>
      <p:sp>
        <p:nvSpPr>
          <p:cNvPr id="526" name="Text 21">
            <a:extLst>
              <a:ext uri="{FF2B5EF4-FFF2-40B4-BE49-F238E27FC236}">
                <a16:creationId xmlns:a16="http://schemas.microsoft.com/office/drawing/2014/main" id="{7C935940-32D2-3959-FF65-3FBED79D0C9D}"/>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6B7176"/>
                </a:solidFill>
                <a:latin typeface="Aptos" pitchFamily="34" charset="0"/>
              </a:rPr>
              <a:t>Piczak</a:t>
            </a:r>
            <a:r>
              <a:rPr lang="en-US" sz="500" dirty="0">
                <a:solidFill>
                  <a:srgbClr val="6B7176"/>
                </a:solidFill>
                <a:latin typeface="Aptos" pitchFamily="34" charset="0"/>
              </a:rPr>
              <a:t> CNN | Variations | LSTM</a:t>
            </a:r>
          </a:p>
        </p:txBody>
      </p:sp>
      <p:sp>
        <p:nvSpPr>
          <p:cNvPr id="527" name="Shape 22">
            <a:extLst>
              <a:ext uri="{FF2B5EF4-FFF2-40B4-BE49-F238E27FC236}">
                <a16:creationId xmlns:a16="http://schemas.microsoft.com/office/drawing/2014/main" id="{27739582-364F-6CF0-6754-13551DFD336B}"/>
              </a:ext>
            </a:extLst>
          </p:cNvPr>
          <p:cNvSpPr/>
          <p:nvPr/>
        </p:nvSpPr>
        <p:spPr>
          <a:xfrm>
            <a:off x="7878422" y="750102"/>
            <a:ext cx="1809206"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528" name="Text 23">
            <a:extLst>
              <a:ext uri="{FF2B5EF4-FFF2-40B4-BE49-F238E27FC236}">
                <a16:creationId xmlns:a16="http://schemas.microsoft.com/office/drawing/2014/main" id="{B23BCE2D-F6F8-4E35-1F47-8FCF2C9CF27C}"/>
              </a:ext>
            </a:extLst>
          </p:cNvPr>
          <p:cNvSpPr/>
          <p:nvPr/>
        </p:nvSpPr>
        <p:spPr>
          <a:xfrm>
            <a:off x="7963330" y="839252"/>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Transfer learning: pretrained CNN</a:t>
            </a:r>
          </a:p>
        </p:txBody>
      </p:sp>
      <p:sp>
        <p:nvSpPr>
          <p:cNvPr id="529" name="Text 24">
            <a:extLst>
              <a:ext uri="{FF2B5EF4-FFF2-40B4-BE49-F238E27FC236}">
                <a16:creationId xmlns:a16="http://schemas.microsoft.com/office/drawing/2014/main" id="{F4303981-6AA3-F749-25E1-752EBEE0BCBB}"/>
              </a:ext>
            </a:extLst>
          </p:cNvPr>
          <p:cNvSpPr/>
          <p:nvPr/>
        </p:nvSpPr>
        <p:spPr>
          <a:xfrm>
            <a:off x="7984136" y="941012"/>
            <a:ext cx="1597682" cy="58389"/>
          </a:xfrm>
          <a:prstGeom prst="rect">
            <a:avLst/>
          </a:prstGeom>
          <a:noFill/>
          <a:ln/>
        </p:spPr>
        <p:txBody>
          <a:bodyPr wrap="square" lIns="0" tIns="0" rIns="0" bIns="0" rtlCol="0" anchor="t">
            <a:normAutofit fontScale="92500" lnSpcReduction="20000"/>
          </a:bodyPr>
          <a:lstStyle/>
          <a:p>
            <a:pPr algn="ctr">
              <a:lnSpc>
                <a:spcPct val="90000"/>
              </a:lnSpc>
            </a:pPr>
            <a:r>
              <a:rPr lang="en-US" sz="500" dirty="0">
                <a:solidFill>
                  <a:srgbClr val="6B7176"/>
                </a:solidFill>
                <a:latin typeface="Aptos" pitchFamily="34" charset="0"/>
              </a:rPr>
              <a:t>VGGish | YAMNet</a:t>
            </a:r>
          </a:p>
        </p:txBody>
      </p:sp>
      <p:sp>
        <p:nvSpPr>
          <p:cNvPr id="530" name="Shape 25">
            <a:extLst>
              <a:ext uri="{FF2B5EF4-FFF2-40B4-BE49-F238E27FC236}">
                <a16:creationId xmlns:a16="http://schemas.microsoft.com/office/drawing/2014/main" id="{67BB53A9-7DED-6D9B-050E-CCD68553E76D}"/>
              </a:ext>
            </a:extLst>
          </p:cNvPr>
          <p:cNvSpPr/>
          <p:nvPr/>
        </p:nvSpPr>
        <p:spPr>
          <a:xfrm>
            <a:off x="9545712" y="751395"/>
            <a:ext cx="1809205" cy="295381"/>
          </a:xfrm>
          <a:prstGeom prst="chevron">
            <a:avLst/>
          </a:prstGeom>
          <a:solidFill>
            <a:srgbClr val="B65D3A"/>
          </a:solidFill>
          <a:ln w="12700">
            <a:solidFill>
              <a:srgbClr val="B65D3A">
                <a:alpha val="0"/>
              </a:srgbClr>
            </a:solidFill>
            <a:prstDash val="solid"/>
          </a:ln>
        </p:spPr>
        <p:txBody>
          <a:bodyPr/>
          <a:lstStyle/>
          <a:p>
            <a:endParaRPr lang="en-US"/>
          </a:p>
        </p:txBody>
      </p:sp>
      <p:sp>
        <p:nvSpPr>
          <p:cNvPr id="531" name="Text 26">
            <a:extLst>
              <a:ext uri="{FF2B5EF4-FFF2-40B4-BE49-F238E27FC236}">
                <a16:creationId xmlns:a16="http://schemas.microsoft.com/office/drawing/2014/main" id="{82BCA07B-DA7D-1DE4-7EF9-46D0C78A0596}"/>
              </a:ext>
            </a:extLst>
          </p:cNvPr>
          <p:cNvSpPr/>
          <p:nvPr/>
        </p:nvSpPr>
        <p:spPr>
          <a:xfrm>
            <a:off x="9657604" y="829133"/>
            <a:ext cx="1697313" cy="69476"/>
          </a:xfrm>
          <a:prstGeom prst="rect">
            <a:avLst/>
          </a:prstGeom>
          <a:noFill/>
          <a:ln/>
        </p:spPr>
        <p:txBody>
          <a:bodyPr wrap="square" lIns="0" tIns="0" rIns="0" bIns="0" rtlCol="0" anchor="t">
            <a:noAutofit/>
          </a:bodyPr>
          <a:lstStyle/>
          <a:p>
            <a:pPr algn="ctr">
              <a:lnSpc>
                <a:spcPct val="90000"/>
              </a:lnSpc>
            </a:pPr>
            <a:r>
              <a:rPr lang="en-US" sz="600" b="1" dirty="0">
                <a:solidFill>
                  <a:srgbClr val="FFFFFF"/>
                </a:solidFill>
                <a:latin typeface="Aptos" pitchFamily="34" charset="0"/>
              </a:rPr>
              <a:t>Transfer learning: pretrained transformers</a:t>
            </a:r>
          </a:p>
        </p:txBody>
      </p:sp>
      <p:sp>
        <p:nvSpPr>
          <p:cNvPr id="532" name="Text 27">
            <a:extLst>
              <a:ext uri="{FF2B5EF4-FFF2-40B4-BE49-F238E27FC236}">
                <a16:creationId xmlns:a16="http://schemas.microsoft.com/office/drawing/2014/main" id="{BBBE9E45-A46E-44BE-5152-87488B0E2E95}"/>
              </a:ext>
            </a:extLst>
          </p:cNvPr>
          <p:cNvSpPr/>
          <p:nvPr/>
        </p:nvSpPr>
        <p:spPr>
          <a:xfrm>
            <a:off x="9657605" y="944489"/>
            <a:ext cx="1662902" cy="107931"/>
          </a:xfrm>
          <a:prstGeom prst="rect">
            <a:avLst/>
          </a:prstGeom>
          <a:noFill/>
          <a:ln/>
        </p:spPr>
        <p:txBody>
          <a:bodyPr wrap="square" lIns="0" tIns="0" rIns="0" bIns="0" rtlCol="0" anchor="t">
            <a:normAutofit/>
          </a:bodyPr>
          <a:lstStyle/>
          <a:p>
            <a:pPr algn="ctr">
              <a:lnSpc>
                <a:spcPct val="90000"/>
              </a:lnSpc>
            </a:pPr>
            <a:r>
              <a:rPr lang="en-US" sz="500" b="1" dirty="0">
                <a:solidFill>
                  <a:srgbClr val="FFFFFF"/>
                </a:solidFill>
                <a:latin typeface="Aptos" pitchFamily="34" charset="0"/>
              </a:rPr>
              <a:t>AST</a:t>
            </a:r>
            <a:r>
              <a:rPr lang="en-US" sz="500" dirty="0">
                <a:solidFill>
                  <a:srgbClr val="FFFFFF"/>
                </a:solidFill>
                <a:latin typeface="Aptos" pitchFamily="34" charset="0"/>
              </a:rPr>
              <a:t> </a:t>
            </a:r>
            <a:r>
              <a:rPr lang="en-US" sz="500" dirty="0">
                <a:solidFill>
                  <a:schemeClr val="bg1">
                    <a:lumMod val="75000"/>
                  </a:schemeClr>
                </a:solidFill>
                <a:latin typeface="Aptos" pitchFamily="34" charset="0"/>
              </a:rPr>
              <a:t>| BEATs</a:t>
            </a:r>
          </a:p>
        </p:txBody>
      </p:sp>
      <p:sp>
        <p:nvSpPr>
          <p:cNvPr id="535" name="Text 11">
            <a:extLst>
              <a:ext uri="{FF2B5EF4-FFF2-40B4-BE49-F238E27FC236}">
                <a16:creationId xmlns:a16="http://schemas.microsoft.com/office/drawing/2014/main" id="{65346068-9775-A8DE-97FE-80418CF3445C}"/>
              </a:ext>
            </a:extLst>
          </p:cNvPr>
          <p:cNvSpPr/>
          <p:nvPr/>
        </p:nvSpPr>
        <p:spPr>
          <a:xfrm>
            <a:off x="749808" y="2597748"/>
            <a:ext cx="4397586" cy="164592"/>
          </a:xfrm>
          <a:prstGeom prst="rect">
            <a:avLst/>
          </a:prstGeom>
          <a:noFill/>
          <a:ln/>
        </p:spPr>
        <p:txBody>
          <a:bodyPr wrap="square" lIns="0" tIns="0" rIns="0" bIns="0" rtlCol="0" anchor="t">
            <a:normAutofit/>
          </a:bodyPr>
          <a:lstStyle/>
          <a:p>
            <a:pPr>
              <a:lnSpc>
                <a:spcPct val="90000"/>
              </a:lnSpc>
            </a:pPr>
            <a:r>
              <a:rPr lang="en-US" sz="1000" b="1" dirty="0">
                <a:solidFill>
                  <a:srgbClr val="B65D3A"/>
                </a:solidFill>
                <a:latin typeface="Aptos" pitchFamily="34" charset="0"/>
              </a:rPr>
              <a:t>AST architecture</a:t>
            </a:r>
          </a:p>
        </p:txBody>
      </p:sp>
      <p:graphicFrame>
        <p:nvGraphicFramePr>
          <p:cNvPr id="536" name="Table 0">
            <a:extLst>
              <a:ext uri="{FF2B5EF4-FFF2-40B4-BE49-F238E27FC236}">
                <a16:creationId xmlns:a16="http://schemas.microsoft.com/office/drawing/2014/main" id="{50471D43-891A-FB8C-AFDF-F2B8F1D294B3}"/>
              </a:ext>
            </a:extLst>
          </p:cNvPr>
          <p:cNvGraphicFramePr>
            <a:graphicFrameLocks noGrp="1"/>
          </p:cNvGraphicFramePr>
          <p:nvPr>
            <p:extLst>
              <p:ext uri="{D42A27DB-BD31-4B8C-83A1-F6EECF244321}">
                <p14:modId xmlns:p14="http://schemas.microsoft.com/office/powerpoint/2010/main" val="1964485884"/>
              </p:ext>
            </p:extLst>
          </p:nvPr>
        </p:nvGraphicFramePr>
        <p:xfrm>
          <a:off x="731519" y="2830817"/>
          <a:ext cx="4397591" cy="1713738"/>
        </p:xfrm>
        <a:graphic>
          <a:graphicData uri="http://schemas.openxmlformats.org/drawingml/2006/table">
            <a:tbl>
              <a:tblPr/>
              <a:tblGrid>
                <a:gridCol w="1072583">
                  <a:extLst>
                    <a:ext uri="{9D8B030D-6E8A-4147-A177-3AD203B41FA5}">
                      <a16:colId xmlns:a16="http://schemas.microsoft.com/office/drawing/2014/main" val="20000"/>
                    </a:ext>
                  </a:extLst>
                </a:gridCol>
                <a:gridCol w="3325008">
                  <a:extLst>
                    <a:ext uri="{9D8B030D-6E8A-4147-A177-3AD203B41FA5}">
                      <a16:colId xmlns:a16="http://schemas.microsoft.com/office/drawing/2014/main" val="20001"/>
                    </a:ext>
                  </a:extLst>
                </a:gridCol>
              </a:tblGrid>
              <a:tr h="144033">
                <a:tc>
                  <a:txBody>
                    <a:bodyPr/>
                    <a:lstStyle/>
                    <a:p>
                      <a:pPr marL="0" indent="0">
                        <a:buNone/>
                      </a:pPr>
                      <a:r>
                        <a:rPr lang="en-US" sz="1030" b="1" dirty="0">
                          <a:solidFill>
                            <a:srgbClr val="FFFFFF"/>
                          </a:solidFill>
                        </a:rPr>
                        <a:t>Step</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B65D3A"/>
                    </a:solidFill>
                  </a:tcPr>
                </a:tc>
                <a:tc>
                  <a:txBody>
                    <a:bodyPr/>
                    <a:lstStyle/>
                    <a:p>
                      <a:pPr marL="0" indent="0">
                        <a:buNone/>
                      </a:pPr>
                      <a:r>
                        <a:rPr lang="en-US" sz="1030" b="1" dirty="0">
                          <a:solidFill>
                            <a:srgbClr val="FFFFFF"/>
                          </a:solidFill>
                        </a:rPr>
                        <a:t>Parameters / implementation</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B65D3A"/>
                    </a:solidFill>
                  </a:tcPr>
                </a:tc>
                <a:extLst>
                  <a:ext uri="{0D108BD9-81ED-4DB2-BD59-A6C34878D82A}">
                    <a16:rowId xmlns:a16="http://schemas.microsoft.com/office/drawing/2014/main" val="10000"/>
                  </a:ext>
                </a:extLst>
              </a:tr>
              <a:tr h="144033">
                <a:tc>
                  <a:txBody>
                    <a:bodyPr/>
                    <a:lstStyle/>
                    <a:p>
                      <a:pPr marL="0" indent="0">
                        <a:buNone/>
                      </a:pPr>
                      <a:r>
                        <a:rPr lang="en-US" sz="705" b="1" dirty="0">
                          <a:solidFill>
                            <a:srgbClr val="1F2528"/>
                          </a:solidFill>
                        </a:rPr>
                        <a:t>Input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Full ESC-50 clip resampled to 16 kHz</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144033">
                <a:tc>
                  <a:txBody>
                    <a:bodyPr/>
                    <a:lstStyle/>
                    <a:p>
                      <a:pPr marL="0" indent="0">
                        <a:buNone/>
                      </a:pPr>
                      <a:r>
                        <a:rPr lang="en-US" sz="705" b="1" dirty="0">
                          <a:solidFill>
                            <a:srgbClr val="1F2528"/>
                          </a:solidFill>
                        </a:rPr>
                        <a:t>Feature extractor</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AutoFeatureExtractor builds spectrogram-like transformer inputs</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144033">
                <a:tc>
                  <a:txBody>
                    <a:bodyPr/>
                    <a:lstStyle/>
                    <a:p>
                      <a:pPr marL="0" indent="0">
                        <a:buNone/>
                      </a:pPr>
                      <a:r>
                        <a:rPr lang="en-US" sz="705" b="1" dirty="0">
                          <a:solidFill>
                            <a:srgbClr val="1F2528"/>
                          </a:solidFill>
                        </a:rPr>
                        <a:t>Backbone</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MIT/ast-finetuned-audioset-10-10-0.4593, AudioSet-pretrained</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144033">
                <a:tc>
                  <a:txBody>
                    <a:bodyPr/>
                    <a:lstStyle/>
                    <a:p>
                      <a:pPr marL="0" indent="0">
                        <a:buNone/>
                      </a:pPr>
                      <a:r>
                        <a:rPr lang="en-US" sz="705" b="1" dirty="0">
                          <a:solidFill>
                            <a:srgbClr val="1F2528"/>
                          </a:solidFill>
                        </a:rPr>
                        <a:t>Head</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Classifier replaced/reinitialized for 50 ESC-50 labels</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r h="144033">
                <a:tc>
                  <a:txBody>
                    <a:bodyPr/>
                    <a:lstStyle/>
                    <a:p>
                      <a:pPr marL="0" indent="0">
                        <a:buNone/>
                      </a:pPr>
                      <a:r>
                        <a:rPr lang="en-US" sz="705" b="1" dirty="0">
                          <a:solidFill>
                            <a:srgbClr val="1F2528"/>
                          </a:solidFill>
                        </a:rPr>
                        <a:t>Fine-tuning</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freeze_backbone=False; full backbone adapts to ESC-50</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5"/>
                  </a:ext>
                </a:extLst>
              </a:tr>
              <a:tr h="144033">
                <a:tc>
                  <a:txBody>
                    <a:bodyPr/>
                    <a:lstStyle/>
                    <a:p>
                      <a:pPr marL="0" indent="0">
                        <a:buNone/>
                      </a:pPr>
                      <a:r>
                        <a:rPr lang="en-US" sz="705" b="1" dirty="0">
                          <a:solidFill>
                            <a:srgbClr val="1F2528"/>
                          </a:solidFill>
                        </a:rPr>
                        <a:t>Optimization</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Model cross-entropy loss; AdamW lr 1e-5; weight decay 1e-4; batch 8; 10 epochs</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6"/>
                  </a:ext>
                </a:extLst>
              </a:tr>
              <a:tr h="144033">
                <a:tc>
                  <a:txBody>
                    <a:bodyPr/>
                    <a:lstStyle/>
                    <a:p>
                      <a:pPr marL="0" indent="0">
                        <a:buNone/>
                      </a:pPr>
                      <a:r>
                        <a:rPr lang="en-US" sz="705" b="1" dirty="0">
                          <a:solidFill>
                            <a:srgbClr val="1F2528"/>
                          </a:solidFill>
                        </a:rPr>
                        <a:t>Validation</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5 official folds; final mean test accuracy 95.25%, best 95.65%</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7"/>
                  </a:ext>
                </a:extLst>
              </a:tr>
            </a:tbl>
          </a:graphicData>
        </a:graphic>
      </p:graphicFrame>
      <p:sp>
        <p:nvSpPr>
          <p:cNvPr id="539" name="Text 36">
            <a:extLst>
              <a:ext uri="{FF2B5EF4-FFF2-40B4-BE49-F238E27FC236}">
                <a16:creationId xmlns:a16="http://schemas.microsoft.com/office/drawing/2014/main" id="{55F519E4-6C4D-A1F7-18E9-D32F2A0F05FB}"/>
              </a:ext>
            </a:extLst>
          </p:cNvPr>
          <p:cNvSpPr/>
          <p:nvPr/>
        </p:nvSpPr>
        <p:spPr>
          <a:xfrm>
            <a:off x="731520" y="4903491"/>
            <a:ext cx="1645920" cy="182880"/>
          </a:xfrm>
          <a:prstGeom prst="rect">
            <a:avLst/>
          </a:prstGeom>
          <a:noFill/>
          <a:ln/>
        </p:spPr>
        <p:txBody>
          <a:bodyPr wrap="square" lIns="0" tIns="0" rIns="0" bIns="0" rtlCol="0" anchor="t">
            <a:normAutofit/>
          </a:bodyPr>
          <a:lstStyle/>
          <a:p>
            <a:pPr>
              <a:lnSpc>
                <a:spcPct val="90000"/>
              </a:lnSpc>
            </a:pPr>
            <a:r>
              <a:rPr lang="en-US" sz="1000" b="1" dirty="0">
                <a:solidFill>
                  <a:srgbClr val="B65D3A"/>
                </a:solidFill>
                <a:latin typeface="Aptos" pitchFamily="34" charset="0"/>
              </a:rPr>
              <a:t>Results</a:t>
            </a:r>
          </a:p>
        </p:txBody>
      </p:sp>
      <p:sp>
        <p:nvSpPr>
          <p:cNvPr id="540" name="Text 37">
            <a:extLst>
              <a:ext uri="{FF2B5EF4-FFF2-40B4-BE49-F238E27FC236}">
                <a16:creationId xmlns:a16="http://schemas.microsoft.com/office/drawing/2014/main" id="{BAEF7B14-EF19-5AFE-8B0A-87BD5E18E031}"/>
              </a:ext>
            </a:extLst>
          </p:cNvPr>
          <p:cNvSpPr/>
          <p:nvPr/>
        </p:nvSpPr>
        <p:spPr>
          <a:xfrm>
            <a:off x="731519" y="5205243"/>
            <a:ext cx="4397587" cy="637772"/>
          </a:xfrm>
          <a:prstGeom prst="rect">
            <a:avLst/>
          </a:prstGeom>
          <a:noFill/>
          <a:ln/>
        </p:spPr>
        <p:txBody>
          <a:bodyPr wrap="square" lIns="0" tIns="0" rIns="0" bIns="0" rtlCol="0" anchor="t">
            <a:normAutofit/>
          </a:bodyPr>
          <a:lstStyle/>
          <a:p>
            <a:pPr>
              <a:lnSpc>
                <a:spcPct val="90000"/>
              </a:lnSpc>
            </a:pPr>
            <a:r>
              <a:rPr lang="en-US" sz="1200" dirty="0"/>
              <a:t>AST keeps the spectrogram representation, but replaces a small CNN trained from scratch with a pretrained transformer backbone.</a:t>
            </a:r>
          </a:p>
        </p:txBody>
      </p:sp>
      <p:sp>
        <p:nvSpPr>
          <p:cNvPr id="541" name="Text 12">
            <a:extLst>
              <a:ext uri="{FF2B5EF4-FFF2-40B4-BE49-F238E27FC236}">
                <a16:creationId xmlns:a16="http://schemas.microsoft.com/office/drawing/2014/main" id="{E8AFA8E4-D244-0211-AE96-2D294E6D5010}"/>
              </a:ext>
            </a:extLst>
          </p:cNvPr>
          <p:cNvSpPr/>
          <p:nvPr/>
        </p:nvSpPr>
        <p:spPr>
          <a:xfrm>
            <a:off x="731520" y="1591055"/>
            <a:ext cx="4397586" cy="647753"/>
          </a:xfrm>
          <a:prstGeom prst="rect">
            <a:avLst/>
          </a:prstGeom>
          <a:noFill/>
          <a:ln/>
        </p:spPr>
        <p:txBody>
          <a:bodyPr wrap="square" lIns="0" tIns="0" rIns="0" bIns="0" rtlCol="0" anchor="t">
            <a:normAutofit/>
          </a:bodyPr>
          <a:lstStyle/>
          <a:p>
            <a:pPr marL="0" indent="0" algn="l">
              <a:lnSpc>
                <a:spcPct val="90000"/>
              </a:lnSpc>
              <a:buNone/>
            </a:pPr>
            <a:r>
              <a:rPr lang="en-US" sz="1200" dirty="0">
                <a:solidFill>
                  <a:srgbClr val="1F2528"/>
                </a:solidFill>
                <a:latin typeface="Aptos Display" pitchFamily="34" charset="0"/>
                <a:ea typeface="Aptos Display" pitchFamily="34" charset="-122"/>
                <a:cs typeface="Aptos Display" pitchFamily="34" charset="-120"/>
              </a:rPr>
              <a:t>AST processes the full 5-second audio clip using a pretrained transformer backbone with self-attention, allowing direct clip-level prediction with much stronger pretrained audio representations.</a:t>
            </a:r>
            <a:endParaRPr lang="en-US" sz="1200" dirty="0"/>
          </a:p>
        </p:txBody>
      </p:sp>
      <p:pic>
        <p:nvPicPr>
          <p:cNvPr id="7" name="Picture 6">
            <a:extLst>
              <a:ext uri="{FF2B5EF4-FFF2-40B4-BE49-F238E27FC236}">
                <a16:creationId xmlns:a16="http://schemas.microsoft.com/office/drawing/2014/main" id="{04488684-34BF-618D-0EA5-FE583F03C00D}"/>
              </a:ext>
            </a:extLst>
          </p:cNvPr>
          <p:cNvPicPr>
            <a:picLocks noChangeAspect="1"/>
          </p:cNvPicPr>
          <p:nvPr/>
        </p:nvPicPr>
        <p:blipFill>
          <a:blip r:embed="rId4"/>
          <a:stretch>
            <a:fillRect/>
          </a:stretch>
        </p:blipFill>
        <p:spPr>
          <a:xfrm>
            <a:off x="5582544" y="1907591"/>
            <a:ext cx="3220254" cy="1991258"/>
          </a:xfrm>
          <a:prstGeom prst="rect">
            <a:avLst/>
          </a:prstGeom>
        </p:spPr>
      </p:pic>
      <p:pic>
        <p:nvPicPr>
          <p:cNvPr id="8" name="Picture 7">
            <a:extLst>
              <a:ext uri="{FF2B5EF4-FFF2-40B4-BE49-F238E27FC236}">
                <a16:creationId xmlns:a16="http://schemas.microsoft.com/office/drawing/2014/main" id="{E32C9350-3537-C4E1-DE57-FA4AB23EEDB5}"/>
              </a:ext>
            </a:extLst>
          </p:cNvPr>
          <p:cNvPicPr>
            <a:picLocks noChangeAspect="1"/>
          </p:cNvPicPr>
          <p:nvPr/>
        </p:nvPicPr>
        <p:blipFill>
          <a:blip r:embed="rId5"/>
          <a:stretch>
            <a:fillRect/>
          </a:stretch>
        </p:blipFill>
        <p:spPr>
          <a:xfrm>
            <a:off x="8802798" y="1908398"/>
            <a:ext cx="3218948" cy="1990451"/>
          </a:xfrm>
          <a:prstGeom prst="rect">
            <a:avLst/>
          </a:prstGeom>
        </p:spPr>
      </p:pic>
      <p:grpSp>
        <p:nvGrpSpPr>
          <p:cNvPr id="21" name="Group 20">
            <a:extLst>
              <a:ext uri="{FF2B5EF4-FFF2-40B4-BE49-F238E27FC236}">
                <a16:creationId xmlns:a16="http://schemas.microsoft.com/office/drawing/2014/main" id="{D8791D9C-EA0A-EC0A-21F1-2FF2C25F347B}"/>
              </a:ext>
            </a:extLst>
          </p:cNvPr>
          <p:cNvGrpSpPr/>
          <p:nvPr/>
        </p:nvGrpSpPr>
        <p:grpSpPr>
          <a:xfrm>
            <a:off x="6076188" y="4092809"/>
            <a:ext cx="1920240" cy="772294"/>
            <a:chOff x="6957490" y="4123666"/>
            <a:chExt cx="1920240" cy="772294"/>
          </a:xfrm>
        </p:grpSpPr>
        <p:sp>
          <p:nvSpPr>
            <p:cNvPr id="18" name="Shape 48">
              <a:extLst>
                <a:ext uri="{FF2B5EF4-FFF2-40B4-BE49-F238E27FC236}">
                  <a16:creationId xmlns:a16="http://schemas.microsoft.com/office/drawing/2014/main" id="{52425C61-0F1F-5E0F-C655-28830D97E7C6}"/>
                </a:ext>
              </a:extLst>
            </p:cNvPr>
            <p:cNvSpPr/>
            <p:nvPr/>
          </p:nvSpPr>
          <p:spPr>
            <a:xfrm>
              <a:off x="6957490" y="4123666"/>
              <a:ext cx="1920012" cy="772294"/>
            </a:xfrm>
            <a:prstGeom prst="rect">
              <a:avLst/>
            </a:prstGeom>
            <a:solidFill>
              <a:srgbClr val="FFFFFF">
                <a:alpha val="98000"/>
              </a:srgbClr>
            </a:solidFill>
            <a:ln w="17780">
              <a:solidFill>
                <a:schemeClr val="tx1">
                  <a:lumMod val="75000"/>
                  <a:lumOff val="25000"/>
                </a:schemeClr>
              </a:solidFill>
              <a:prstDash val="solid"/>
            </a:ln>
          </p:spPr>
          <p:txBody>
            <a:bodyPr/>
            <a:lstStyle/>
            <a:p>
              <a:endParaRPr lang="en-US"/>
            </a:p>
          </p:txBody>
        </p:sp>
        <p:sp>
          <p:nvSpPr>
            <p:cNvPr id="19" name="Text 49">
              <a:extLst>
                <a:ext uri="{FF2B5EF4-FFF2-40B4-BE49-F238E27FC236}">
                  <a16:creationId xmlns:a16="http://schemas.microsoft.com/office/drawing/2014/main" id="{27AF852C-092D-AA38-20D6-C5AEFF9967BB}"/>
                </a:ext>
              </a:extLst>
            </p:cNvPr>
            <p:cNvSpPr/>
            <p:nvPr/>
          </p:nvSpPr>
          <p:spPr>
            <a:xfrm>
              <a:off x="7048930" y="4260826"/>
              <a:ext cx="18288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chemeClr val="tx1">
                      <a:lumMod val="75000"/>
                      <a:lumOff val="25000"/>
                    </a:schemeClr>
                  </a:solidFill>
                  <a:latin typeface="Aptos Display" pitchFamily="34" charset="0"/>
                  <a:ea typeface="Aptos Display" pitchFamily="34" charset="-122"/>
                  <a:cs typeface="Aptos Display" pitchFamily="34" charset="-120"/>
                </a:rPr>
                <a:t>64.5%</a:t>
              </a:r>
              <a:endParaRPr lang="en-US" sz="2100" dirty="0">
                <a:solidFill>
                  <a:schemeClr val="tx1">
                    <a:lumMod val="75000"/>
                    <a:lumOff val="25000"/>
                  </a:schemeClr>
                </a:solidFill>
              </a:endParaRPr>
            </a:p>
          </p:txBody>
        </p:sp>
        <p:sp>
          <p:nvSpPr>
            <p:cNvPr id="20" name="Text 50">
              <a:extLst>
                <a:ext uri="{FF2B5EF4-FFF2-40B4-BE49-F238E27FC236}">
                  <a16:creationId xmlns:a16="http://schemas.microsoft.com/office/drawing/2014/main" id="{A3E732F8-949B-008B-4FBE-CCD8D374B8A3}"/>
                </a:ext>
              </a:extLst>
            </p:cNvPr>
            <p:cNvSpPr/>
            <p:nvPr/>
          </p:nvSpPr>
          <p:spPr>
            <a:xfrm>
              <a:off x="7067218" y="4654018"/>
              <a:ext cx="17922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Piczak published LP clip-level reference</a:t>
              </a:r>
              <a:endParaRPr lang="en-US" sz="780"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18E2C7-E5C7-CD2E-AEBD-8960927E5AF3}"/>
              </a:ext>
            </a:extLst>
          </p:cNvPr>
          <p:cNvPicPr>
            <a:picLocks noChangeAspect="1"/>
          </p:cNvPicPr>
          <p:nvPr/>
        </p:nvPicPr>
        <p:blipFill>
          <a:blip r:embed="rId3"/>
          <a:stretch>
            <a:fillRect/>
          </a:stretch>
        </p:blipFill>
        <p:spPr>
          <a:xfrm>
            <a:off x="5592822" y="1885417"/>
            <a:ext cx="3216083" cy="1988679"/>
          </a:xfrm>
          <a:prstGeom prst="rect">
            <a:avLst/>
          </a:prstGeom>
        </p:spPr>
      </p:pic>
      <p:pic>
        <p:nvPicPr>
          <p:cNvPr id="6" name="Picture 5">
            <a:extLst>
              <a:ext uri="{FF2B5EF4-FFF2-40B4-BE49-F238E27FC236}">
                <a16:creationId xmlns:a16="http://schemas.microsoft.com/office/drawing/2014/main" id="{D5C5E91D-FE7B-206B-2E5B-5ED91A81AD94}"/>
              </a:ext>
            </a:extLst>
          </p:cNvPr>
          <p:cNvPicPr>
            <a:picLocks noChangeAspect="1"/>
          </p:cNvPicPr>
          <p:nvPr/>
        </p:nvPicPr>
        <p:blipFill>
          <a:blip r:embed="rId4"/>
          <a:stretch>
            <a:fillRect/>
          </a:stretch>
        </p:blipFill>
        <p:spPr>
          <a:xfrm>
            <a:off x="8808906" y="1885417"/>
            <a:ext cx="3249450" cy="1988679"/>
          </a:xfrm>
          <a:prstGeom prst="rect">
            <a:avLst/>
          </a:prstGeom>
        </p:spPr>
      </p:pic>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ERA 3: PRETRAINED AUDIO TRANSFORMERS</a:t>
            </a:r>
            <a:endParaRPr lang="en-US" sz="880" dirty="0"/>
          </a:p>
        </p:txBody>
      </p:sp>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BEATs</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12</a:t>
            </a:r>
            <a:endParaRPr lang="en-US" sz="750" dirty="0"/>
          </a:p>
        </p:txBody>
      </p:sp>
      <p:sp>
        <p:nvSpPr>
          <p:cNvPr id="38" name="Text 36"/>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12</a:t>
            </a:r>
            <a:endParaRPr lang="en-US" sz="750" dirty="0"/>
          </a:p>
        </p:txBody>
      </p:sp>
      <p:pic>
        <p:nvPicPr>
          <p:cNvPr id="46" name="Picture 2" descr="Cornell University Logo, symbol, meaning, history, PNG, brand">
            <a:extLst>
              <a:ext uri="{FF2B5EF4-FFF2-40B4-BE49-F238E27FC236}">
                <a16:creationId xmlns:a16="http://schemas.microsoft.com/office/drawing/2014/main" id="{2D878DAD-7F25-C48B-5658-195EF7E3100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47" name="Shape 19">
            <a:extLst>
              <a:ext uri="{FF2B5EF4-FFF2-40B4-BE49-F238E27FC236}">
                <a16:creationId xmlns:a16="http://schemas.microsoft.com/office/drawing/2014/main" id="{3665F116-AFCF-F7E1-5772-416615E9F853}"/>
              </a:ext>
            </a:extLst>
          </p:cNvPr>
          <p:cNvSpPr/>
          <p:nvPr/>
        </p:nvSpPr>
        <p:spPr>
          <a:xfrm>
            <a:off x="6237447" y="751408"/>
            <a:ext cx="1809206" cy="295381"/>
          </a:xfrm>
          <a:prstGeom prst="chevron">
            <a:avLst/>
          </a:prstGeom>
          <a:solidFill>
            <a:srgbClr val="D7DDE0">
              <a:alpha val="90000"/>
            </a:srgbClr>
          </a:solidFill>
          <a:ln w="12700">
            <a:solidFill>
              <a:srgbClr val="F7F5EF"/>
            </a:solidFill>
            <a:prstDash val="solid"/>
          </a:ln>
        </p:spPr>
        <p:txBody>
          <a:bodyPr/>
          <a:lstStyle/>
          <a:p>
            <a:endParaRPr lang="en-US" sz="1100" dirty="0"/>
          </a:p>
        </p:txBody>
      </p:sp>
      <p:sp>
        <p:nvSpPr>
          <p:cNvPr id="48" name="Text 20">
            <a:extLst>
              <a:ext uri="{FF2B5EF4-FFF2-40B4-BE49-F238E27FC236}">
                <a16:creationId xmlns:a16="http://schemas.microsoft.com/office/drawing/2014/main" id="{0C734469-A669-6683-48F4-824945FA0ED4}"/>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Training from scratch</a:t>
            </a:r>
          </a:p>
        </p:txBody>
      </p:sp>
      <p:sp>
        <p:nvSpPr>
          <p:cNvPr id="49" name="Text 21">
            <a:extLst>
              <a:ext uri="{FF2B5EF4-FFF2-40B4-BE49-F238E27FC236}">
                <a16:creationId xmlns:a16="http://schemas.microsoft.com/office/drawing/2014/main" id="{561425C1-21D0-6844-10A1-377BC2672A8F}"/>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6B7176"/>
                </a:solidFill>
                <a:latin typeface="Aptos" pitchFamily="34" charset="0"/>
              </a:rPr>
              <a:t>Piczak</a:t>
            </a:r>
            <a:r>
              <a:rPr lang="en-US" sz="500" dirty="0">
                <a:solidFill>
                  <a:srgbClr val="6B7176"/>
                </a:solidFill>
                <a:latin typeface="Aptos" pitchFamily="34" charset="0"/>
              </a:rPr>
              <a:t> CNN | Variations | LSTM</a:t>
            </a:r>
          </a:p>
        </p:txBody>
      </p:sp>
      <p:sp>
        <p:nvSpPr>
          <p:cNvPr id="50" name="Shape 22">
            <a:extLst>
              <a:ext uri="{FF2B5EF4-FFF2-40B4-BE49-F238E27FC236}">
                <a16:creationId xmlns:a16="http://schemas.microsoft.com/office/drawing/2014/main" id="{A6F8648F-12C5-37D0-1392-4013B3BF8C9E}"/>
              </a:ext>
            </a:extLst>
          </p:cNvPr>
          <p:cNvSpPr/>
          <p:nvPr/>
        </p:nvSpPr>
        <p:spPr>
          <a:xfrm>
            <a:off x="7878422" y="750102"/>
            <a:ext cx="1809206"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51" name="Text 23">
            <a:extLst>
              <a:ext uri="{FF2B5EF4-FFF2-40B4-BE49-F238E27FC236}">
                <a16:creationId xmlns:a16="http://schemas.microsoft.com/office/drawing/2014/main" id="{E4580DC3-1F62-E190-08B0-E85996366615}"/>
              </a:ext>
            </a:extLst>
          </p:cNvPr>
          <p:cNvSpPr/>
          <p:nvPr/>
        </p:nvSpPr>
        <p:spPr>
          <a:xfrm>
            <a:off x="7963330" y="839252"/>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Transfer learning: pretrained CNN</a:t>
            </a:r>
          </a:p>
        </p:txBody>
      </p:sp>
      <p:sp>
        <p:nvSpPr>
          <p:cNvPr id="52" name="Text 24">
            <a:extLst>
              <a:ext uri="{FF2B5EF4-FFF2-40B4-BE49-F238E27FC236}">
                <a16:creationId xmlns:a16="http://schemas.microsoft.com/office/drawing/2014/main" id="{1082E3C5-8EE7-B94B-BA72-BD27A91F024A}"/>
              </a:ext>
            </a:extLst>
          </p:cNvPr>
          <p:cNvSpPr/>
          <p:nvPr/>
        </p:nvSpPr>
        <p:spPr>
          <a:xfrm>
            <a:off x="7984136" y="941012"/>
            <a:ext cx="1597682" cy="58389"/>
          </a:xfrm>
          <a:prstGeom prst="rect">
            <a:avLst/>
          </a:prstGeom>
          <a:noFill/>
          <a:ln/>
        </p:spPr>
        <p:txBody>
          <a:bodyPr wrap="square" lIns="0" tIns="0" rIns="0" bIns="0" rtlCol="0" anchor="t">
            <a:normAutofit fontScale="92500" lnSpcReduction="20000"/>
          </a:bodyPr>
          <a:lstStyle/>
          <a:p>
            <a:pPr algn="ctr">
              <a:lnSpc>
                <a:spcPct val="90000"/>
              </a:lnSpc>
            </a:pPr>
            <a:r>
              <a:rPr lang="en-US" sz="500" dirty="0">
                <a:solidFill>
                  <a:srgbClr val="6B7176"/>
                </a:solidFill>
                <a:latin typeface="Aptos" pitchFamily="34" charset="0"/>
              </a:rPr>
              <a:t>VGGish | YAMNet</a:t>
            </a:r>
          </a:p>
        </p:txBody>
      </p:sp>
      <p:sp>
        <p:nvSpPr>
          <p:cNvPr id="53" name="Shape 25">
            <a:extLst>
              <a:ext uri="{FF2B5EF4-FFF2-40B4-BE49-F238E27FC236}">
                <a16:creationId xmlns:a16="http://schemas.microsoft.com/office/drawing/2014/main" id="{D28C6417-C4A9-74E3-791C-773038E809C4}"/>
              </a:ext>
            </a:extLst>
          </p:cNvPr>
          <p:cNvSpPr/>
          <p:nvPr/>
        </p:nvSpPr>
        <p:spPr>
          <a:xfrm>
            <a:off x="9545712" y="751395"/>
            <a:ext cx="1809205" cy="295381"/>
          </a:xfrm>
          <a:prstGeom prst="chevron">
            <a:avLst/>
          </a:prstGeom>
          <a:solidFill>
            <a:srgbClr val="B65D3A"/>
          </a:solidFill>
          <a:ln w="12700">
            <a:solidFill>
              <a:srgbClr val="B65D3A">
                <a:alpha val="0"/>
              </a:srgbClr>
            </a:solidFill>
            <a:prstDash val="solid"/>
          </a:ln>
        </p:spPr>
        <p:txBody>
          <a:bodyPr/>
          <a:lstStyle/>
          <a:p>
            <a:endParaRPr lang="en-US"/>
          </a:p>
        </p:txBody>
      </p:sp>
      <p:sp>
        <p:nvSpPr>
          <p:cNvPr id="54" name="Text 26">
            <a:extLst>
              <a:ext uri="{FF2B5EF4-FFF2-40B4-BE49-F238E27FC236}">
                <a16:creationId xmlns:a16="http://schemas.microsoft.com/office/drawing/2014/main" id="{29389361-7121-5932-E213-7267E75DA0C7}"/>
              </a:ext>
            </a:extLst>
          </p:cNvPr>
          <p:cNvSpPr/>
          <p:nvPr/>
        </p:nvSpPr>
        <p:spPr>
          <a:xfrm>
            <a:off x="9657604" y="829133"/>
            <a:ext cx="1697313" cy="69476"/>
          </a:xfrm>
          <a:prstGeom prst="rect">
            <a:avLst/>
          </a:prstGeom>
          <a:noFill/>
          <a:ln/>
        </p:spPr>
        <p:txBody>
          <a:bodyPr wrap="square" lIns="0" tIns="0" rIns="0" bIns="0" rtlCol="0" anchor="t">
            <a:noAutofit/>
          </a:bodyPr>
          <a:lstStyle/>
          <a:p>
            <a:pPr algn="ctr">
              <a:lnSpc>
                <a:spcPct val="90000"/>
              </a:lnSpc>
            </a:pPr>
            <a:r>
              <a:rPr lang="en-US" sz="600" b="1" dirty="0">
                <a:solidFill>
                  <a:srgbClr val="FFFFFF"/>
                </a:solidFill>
                <a:latin typeface="Aptos" pitchFamily="34" charset="0"/>
              </a:rPr>
              <a:t>Transfer learning: pretrained transformers</a:t>
            </a:r>
          </a:p>
        </p:txBody>
      </p:sp>
      <p:sp>
        <p:nvSpPr>
          <p:cNvPr id="55" name="Text 27">
            <a:extLst>
              <a:ext uri="{FF2B5EF4-FFF2-40B4-BE49-F238E27FC236}">
                <a16:creationId xmlns:a16="http://schemas.microsoft.com/office/drawing/2014/main" id="{C846D21F-8F14-C3B0-94E7-F76C9881E4FA}"/>
              </a:ext>
            </a:extLst>
          </p:cNvPr>
          <p:cNvSpPr/>
          <p:nvPr/>
        </p:nvSpPr>
        <p:spPr>
          <a:xfrm>
            <a:off x="9657605" y="944489"/>
            <a:ext cx="1662902" cy="107931"/>
          </a:xfrm>
          <a:prstGeom prst="rect">
            <a:avLst/>
          </a:prstGeom>
          <a:noFill/>
          <a:ln/>
        </p:spPr>
        <p:txBody>
          <a:bodyPr wrap="square" lIns="0" tIns="0" rIns="0" bIns="0" rtlCol="0" anchor="t">
            <a:normAutofit/>
          </a:bodyPr>
          <a:lstStyle/>
          <a:p>
            <a:pPr algn="ctr">
              <a:lnSpc>
                <a:spcPct val="90000"/>
              </a:lnSpc>
            </a:pPr>
            <a:r>
              <a:rPr lang="en-US" sz="500" dirty="0">
                <a:solidFill>
                  <a:schemeClr val="bg1">
                    <a:lumMod val="75000"/>
                  </a:schemeClr>
                </a:solidFill>
                <a:latin typeface="Aptos" pitchFamily="34" charset="0"/>
              </a:rPr>
              <a:t>AST | </a:t>
            </a:r>
            <a:r>
              <a:rPr lang="en-US" sz="500" b="1" dirty="0">
                <a:solidFill>
                  <a:srgbClr val="FFFFFF"/>
                </a:solidFill>
                <a:latin typeface="Aptos" pitchFamily="34" charset="0"/>
              </a:rPr>
              <a:t>BEATs</a:t>
            </a:r>
          </a:p>
        </p:txBody>
      </p:sp>
      <p:graphicFrame>
        <p:nvGraphicFramePr>
          <p:cNvPr id="58" name="Table 0">
            <a:extLst>
              <a:ext uri="{FF2B5EF4-FFF2-40B4-BE49-F238E27FC236}">
                <a16:creationId xmlns:a16="http://schemas.microsoft.com/office/drawing/2014/main" id="{AD3FB0A5-675F-2906-07A0-4316A5F9A42D}"/>
              </a:ext>
            </a:extLst>
          </p:cNvPr>
          <p:cNvGraphicFramePr>
            <a:graphicFrameLocks noGrp="1"/>
          </p:cNvGraphicFramePr>
          <p:nvPr>
            <p:extLst>
              <p:ext uri="{D42A27DB-BD31-4B8C-83A1-F6EECF244321}">
                <p14:modId xmlns:p14="http://schemas.microsoft.com/office/powerpoint/2010/main" val="606077971"/>
              </p:ext>
            </p:extLst>
          </p:nvPr>
        </p:nvGraphicFramePr>
        <p:xfrm>
          <a:off x="731519" y="2836948"/>
          <a:ext cx="4397590" cy="1872996"/>
        </p:xfrm>
        <a:graphic>
          <a:graphicData uri="http://schemas.openxmlformats.org/drawingml/2006/table">
            <a:tbl>
              <a:tblPr/>
              <a:tblGrid>
                <a:gridCol w="1072582">
                  <a:extLst>
                    <a:ext uri="{9D8B030D-6E8A-4147-A177-3AD203B41FA5}">
                      <a16:colId xmlns:a16="http://schemas.microsoft.com/office/drawing/2014/main" val="20000"/>
                    </a:ext>
                  </a:extLst>
                </a:gridCol>
                <a:gridCol w="3325008">
                  <a:extLst>
                    <a:ext uri="{9D8B030D-6E8A-4147-A177-3AD203B41FA5}">
                      <a16:colId xmlns:a16="http://schemas.microsoft.com/office/drawing/2014/main" val="20001"/>
                    </a:ext>
                  </a:extLst>
                </a:gridCol>
              </a:tblGrid>
              <a:tr h="146195">
                <a:tc>
                  <a:txBody>
                    <a:bodyPr/>
                    <a:lstStyle/>
                    <a:p>
                      <a:pPr marL="0" indent="0">
                        <a:buNone/>
                      </a:pPr>
                      <a:r>
                        <a:rPr lang="en-US" sz="1030" b="1" dirty="0">
                          <a:solidFill>
                            <a:srgbClr val="FFFFFF"/>
                          </a:solidFill>
                        </a:rPr>
                        <a:t>Step</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B65D3A"/>
                    </a:solidFill>
                  </a:tcPr>
                </a:tc>
                <a:tc>
                  <a:txBody>
                    <a:bodyPr/>
                    <a:lstStyle/>
                    <a:p>
                      <a:pPr marL="0" indent="0">
                        <a:buNone/>
                      </a:pPr>
                      <a:r>
                        <a:rPr lang="en-US" sz="1030" b="1" dirty="0">
                          <a:solidFill>
                            <a:srgbClr val="FFFFFF"/>
                          </a:solidFill>
                        </a:rPr>
                        <a:t>Parameters / implementation</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B65D3A"/>
                    </a:solidFill>
                  </a:tcPr>
                </a:tc>
                <a:extLst>
                  <a:ext uri="{0D108BD9-81ED-4DB2-BD59-A6C34878D82A}">
                    <a16:rowId xmlns:a16="http://schemas.microsoft.com/office/drawing/2014/main" val="10000"/>
                  </a:ext>
                </a:extLst>
              </a:tr>
              <a:tr h="146195">
                <a:tc>
                  <a:txBody>
                    <a:bodyPr/>
                    <a:lstStyle/>
                    <a:p>
                      <a:pPr marL="0" indent="0">
                        <a:buNone/>
                      </a:pPr>
                      <a:r>
                        <a:rPr lang="en-US" sz="665" b="1" dirty="0">
                          <a:solidFill>
                            <a:srgbClr val="1F2528"/>
                          </a:solidFill>
                        </a:rPr>
                        <a:t>Input</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65" dirty="0">
                          <a:solidFill>
                            <a:srgbClr val="1F2528"/>
                          </a:solidFill>
                        </a:rPr>
                        <a:t>Full 5-s mono waveform, resampled to 16 kHz</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146195">
                <a:tc>
                  <a:txBody>
                    <a:bodyPr/>
                    <a:lstStyle/>
                    <a:p>
                      <a:pPr marL="0" indent="0">
                        <a:buNone/>
                      </a:pPr>
                      <a:r>
                        <a:rPr lang="en-US" sz="665" b="1" dirty="0">
                          <a:solidFill>
                            <a:srgbClr val="1F2528"/>
                          </a:solidFill>
                        </a:rPr>
                        <a:t>Backbone</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65" dirty="0">
                          <a:solidFill>
                            <a:srgbClr val="1F2528"/>
                          </a:solidFill>
                        </a:rPr>
                        <a:t>BEATs_iter3_plus_AS2M checkpoint, pretrained on large audio data</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146195">
                <a:tc>
                  <a:txBody>
                    <a:bodyPr/>
                    <a:lstStyle/>
                    <a:p>
                      <a:pPr marL="0" indent="0">
                        <a:buNone/>
                      </a:pPr>
                      <a:r>
                        <a:rPr lang="en-US" sz="665" b="1" dirty="0">
                          <a:solidFill>
                            <a:srgbClr val="1F2528"/>
                          </a:solidFill>
                        </a:rPr>
                        <a:t>Features</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65" dirty="0">
                          <a:solidFill>
                            <a:srgbClr val="1F2528"/>
                          </a:solidFill>
                        </a:rPr>
                        <a:t>BEATs.extract_features returns frame-level transformer features</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146195">
                <a:tc>
                  <a:txBody>
                    <a:bodyPr/>
                    <a:lstStyle/>
                    <a:p>
                      <a:pPr marL="0" indent="0">
                        <a:buNone/>
                      </a:pPr>
                      <a:r>
                        <a:rPr lang="en-US" sz="665" b="1" dirty="0">
                          <a:solidFill>
                            <a:srgbClr val="1F2528"/>
                          </a:solidFill>
                        </a:rPr>
                        <a:t>Pooling</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65" dirty="0">
                          <a:solidFill>
                            <a:srgbClr val="1F2528"/>
                          </a:solidFill>
                        </a:rPr>
                        <a:t>Mean pooling over time</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r h="146195">
                <a:tc>
                  <a:txBody>
                    <a:bodyPr/>
                    <a:lstStyle/>
                    <a:p>
                      <a:pPr marL="0" indent="0">
                        <a:buNone/>
                      </a:pPr>
                      <a:r>
                        <a:rPr lang="en-US" sz="665" b="1" dirty="0">
                          <a:solidFill>
                            <a:srgbClr val="1F2528"/>
                          </a:solidFill>
                        </a:rPr>
                        <a:t>Head</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65" dirty="0">
                          <a:solidFill>
                            <a:srgbClr val="1F2528"/>
                          </a:solidFill>
                        </a:rPr>
                        <a:t>LayerNorm hidden_dim; Dropout 0.2; Linear hidden_dim-&gt;50</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5"/>
                  </a:ext>
                </a:extLst>
              </a:tr>
              <a:tr h="146195">
                <a:tc>
                  <a:txBody>
                    <a:bodyPr/>
                    <a:lstStyle/>
                    <a:p>
                      <a:pPr marL="0" indent="0">
                        <a:buNone/>
                      </a:pPr>
                      <a:r>
                        <a:rPr lang="en-US" sz="665" b="1" dirty="0">
                          <a:solidFill>
                            <a:srgbClr val="1F2528"/>
                          </a:solidFill>
                        </a:rPr>
                        <a:t>Fine-tuning</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65" dirty="0">
                          <a:solidFill>
                            <a:srgbClr val="1F2528"/>
                          </a:solidFill>
                        </a:rPr>
                        <a:t>freeze_backbone=False; full backbone adapts to ESC-50</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6"/>
                  </a:ext>
                </a:extLst>
              </a:tr>
              <a:tr h="146195">
                <a:tc>
                  <a:txBody>
                    <a:bodyPr/>
                    <a:lstStyle/>
                    <a:p>
                      <a:pPr marL="0" indent="0">
                        <a:buNone/>
                      </a:pPr>
                      <a:r>
                        <a:rPr lang="en-US" sz="665" b="1" dirty="0">
                          <a:solidFill>
                            <a:srgbClr val="1F2528"/>
                          </a:solidFill>
                        </a:rPr>
                        <a:t>Optimization</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65" dirty="0">
                          <a:solidFill>
                            <a:srgbClr val="1F2528"/>
                          </a:solidFill>
                        </a:rPr>
                        <a:t>CrossEntropyLoss; AdamW lr 1e-5; weight decay 1e-4; grad clip 1.0; batch 4; 10 epochs</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7"/>
                  </a:ext>
                </a:extLst>
              </a:tr>
              <a:tr h="146195">
                <a:tc>
                  <a:txBody>
                    <a:bodyPr/>
                    <a:lstStyle/>
                    <a:p>
                      <a:pPr marL="0" indent="0">
                        <a:buNone/>
                      </a:pPr>
                      <a:r>
                        <a:rPr lang="en-US" sz="665" b="1" dirty="0">
                          <a:solidFill>
                            <a:srgbClr val="1F2528"/>
                          </a:solidFill>
                        </a:rPr>
                        <a:t>Validation</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65" dirty="0">
                          <a:solidFill>
                            <a:srgbClr val="1F2528"/>
                          </a:solidFill>
                        </a:rPr>
                        <a:t>5 official folds; final 94.40%, best 95.55%; mean training time 152.37 sec</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8"/>
                  </a:ext>
                </a:extLst>
              </a:tr>
            </a:tbl>
          </a:graphicData>
        </a:graphic>
      </p:graphicFrame>
      <p:sp>
        <p:nvSpPr>
          <p:cNvPr id="59" name="Text 11">
            <a:extLst>
              <a:ext uri="{FF2B5EF4-FFF2-40B4-BE49-F238E27FC236}">
                <a16:creationId xmlns:a16="http://schemas.microsoft.com/office/drawing/2014/main" id="{A27DAD75-6848-9FBE-086E-6507CC50E58F}"/>
              </a:ext>
            </a:extLst>
          </p:cNvPr>
          <p:cNvSpPr/>
          <p:nvPr/>
        </p:nvSpPr>
        <p:spPr>
          <a:xfrm>
            <a:off x="743207" y="2586665"/>
            <a:ext cx="5623560" cy="164592"/>
          </a:xfrm>
          <a:prstGeom prst="rect">
            <a:avLst/>
          </a:prstGeom>
          <a:noFill/>
          <a:ln/>
        </p:spPr>
        <p:txBody>
          <a:bodyPr wrap="square" lIns="0" tIns="0" rIns="0" bIns="0" rtlCol="0" anchor="t">
            <a:normAutofit/>
          </a:bodyPr>
          <a:lstStyle/>
          <a:p>
            <a:pPr>
              <a:lnSpc>
                <a:spcPct val="90000"/>
              </a:lnSpc>
            </a:pPr>
            <a:r>
              <a:rPr lang="en-US" sz="1000" b="1" dirty="0">
                <a:solidFill>
                  <a:srgbClr val="B65D3A"/>
                </a:solidFill>
                <a:latin typeface="Aptos" pitchFamily="34" charset="0"/>
              </a:rPr>
              <a:t>BEATs architecture</a:t>
            </a:r>
          </a:p>
        </p:txBody>
      </p:sp>
      <p:sp>
        <p:nvSpPr>
          <p:cNvPr id="60" name="Text 11">
            <a:extLst>
              <a:ext uri="{FF2B5EF4-FFF2-40B4-BE49-F238E27FC236}">
                <a16:creationId xmlns:a16="http://schemas.microsoft.com/office/drawing/2014/main" id="{489E7F2E-AC5B-3316-762B-E012F6F938A7}"/>
              </a:ext>
            </a:extLst>
          </p:cNvPr>
          <p:cNvSpPr/>
          <p:nvPr/>
        </p:nvSpPr>
        <p:spPr>
          <a:xfrm>
            <a:off x="749808" y="1307592"/>
            <a:ext cx="128016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B65D3A"/>
                </a:solidFill>
                <a:latin typeface="Aptos" pitchFamily="34" charset="0"/>
                <a:ea typeface="Aptos" pitchFamily="34" charset="-122"/>
                <a:cs typeface="Aptos" pitchFamily="34" charset="-120"/>
              </a:rPr>
              <a:t>What Changed?</a:t>
            </a:r>
            <a:endParaRPr lang="en-US" sz="1000" dirty="0"/>
          </a:p>
        </p:txBody>
      </p:sp>
      <p:sp>
        <p:nvSpPr>
          <p:cNvPr id="61" name="Text 12">
            <a:extLst>
              <a:ext uri="{FF2B5EF4-FFF2-40B4-BE49-F238E27FC236}">
                <a16:creationId xmlns:a16="http://schemas.microsoft.com/office/drawing/2014/main" id="{940870A8-F300-5CC6-6058-AD17DFB1DFA1}"/>
              </a:ext>
            </a:extLst>
          </p:cNvPr>
          <p:cNvSpPr/>
          <p:nvPr/>
        </p:nvSpPr>
        <p:spPr>
          <a:xfrm>
            <a:off x="731519" y="1591056"/>
            <a:ext cx="4598363" cy="411480"/>
          </a:xfrm>
          <a:prstGeom prst="rect">
            <a:avLst/>
          </a:prstGeom>
          <a:noFill/>
          <a:ln/>
        </p:spPr>
        <p:txBody>
          <a:bodyPr wrap="square" lIns="0" tIns="0" rIns="0" bIns="0" rtlCol="0" anchor="t">
            <a:noAutofit/>
          </a:bodyPr>
          <a:lstStyle/>
          <a:p>
            <a:pPr marL="0" indent="0" algn="l">
              <a:lnSpc>
                <a:spcPct val="90000"/>
              </a:lnSpc>
              <a:buNone/>
            </a:pPr>
            <a:r>
              <a:rPr lang="en-US" sz="1200" dirty="0">
                <a:solidFill>
                  <a:srgbClr val="1F2528"/>
                </a:solidFill>
                <a:latin typeface="Aptos Display" pitchFamily="34" charset="0"/>
                <a:ea typeface="Aptos Display" pitchFamily="34" charset="-122"/>
                <a:cs typeface="Aptos Display" pitchFamily="34" charset="-120"/>
              </a:rPr>
              <a:t>BEATs uses a large pretrained foundation audio encoder learned from massive external datasets and further shows that the real gain is pretrained audio representation learning.</a:t>
            </a:r>
            <a:endParaRPr lang="en-US" sz="1200" dirty="0"/>
          </a:p>
        </p:txBody>
      </p:sp>
      <p:sp>
        <p:nvSpPr>
          <p:cNvPr id="62" name="Text 36">
            <a:extLst>
              <a:ext uri="{FF2B5EF4-FFF2-40B4-BE49-F238E27FC236}">
                <a16:creationId xmlns:a16="http://schemas.microsoft.com/office/drawing/2014/main" id="{57A90D94-52F6-125D-8BB8-4584F414B59D}"/>
              </a:ext>
            </a:extLst>
          </p:cNvPr>
          <p:cNvSpPr/>
          <p:nvPr/>
        </p:nvSpPr>
        <p:spPr>
          <a:xfrm>
            <a:off x="731520" y="4903493"/>
            <a:ext cx="1645920" cy="182880"/>
          </a:xfrm>
          <a:prstGeom prst="rect">
            <a:avLst/>
          </a:prstGeom>
          <a:noFill/>
          <a:ln/>
        </p:spPr>
        <p:txBody>
          <a:bodyPr wrap="square" lIns="0" tIns="0" rIns="0" bIns="0" rtlCol="0" anchor="t">
            <a:normAutofit/>
          </a:bodyPr>
          <a:lstStyle/>
          <a:p>
            <a:pPr>
              <a:lnSpc>
                <a:spcPct val="90000"/>
              </a:lnSpc>
            </a:pPr>
            <a:r>
              <a:rPr lang="en-US" sz="1000" b="1" dirty="0">
                <a:solidFill>
                  <a:srgbClr val="B65D3A"/>
                </a:solidFill>
                <a:latin typeface="Aptos" pitchFamily="34" charset="0"/>
              </a:rPr>
              <a:t>Results</a:t>
            </a:r>
          </a:p>
        </p:txBody>
      </p:sp>
      <p:sp>
        <p:nvSpPr>
          <p:cNvPr id="63" name="Text 37">
            <a:extLst>
              <a:ext uri="{FF2B5EF4-FFF2-40B4-BE49-F238E27FC236}">
                <a16:creationId xmlns:a16="http://schemas.microsoft.com/office/drawing/2014/main" id="{EAC98490-E25B-059A-96EF-65A7D57E1CB2}"/>
              </a:ext>
            </a:extLst>
          </p:cNvPr>
          <p:cNvSpPr/>
          <p:nvPr/>
        </p:nvSpPr>
        <p:spPr>
          <a:xfrm>
            <a:off x="731520" y="5205245"/>
            <a:ext cx="4598362" cy="750712"/>
          </a:xfrm>
          <a:prstGeom prst="rect">
            <a:avLst/>
          </a:prstGeom>
          <a:noFill/>
          <a:ln/>
        </p:spPr>
        <p:txBody>
          <a:bodyPr wrap="square" lIns="0" tIns="0" rIns="0" bIns="0" rtlCol="0" anchor="t">
            <a:noAutofit/>
          </a:bodyPr>
          <a:lstStyle/>
          <a:p>
            <a:pPr marL="0" indent="0" algn="l">
              <a:lnSpc>
                <a:spcPct val="90000"/>
              </a:lnSpc>
              <a:buNone/>
            </a:pPr>
            <a:r>
              <a:rPr lang="en-US" sz="1200" dirty="0">
                <a:solidFill>
                  <a:srgbClr val="1F2528"/>
                </a:solidFill>
                <a:latin typeface="Aptos" pitchFamily="34" charset="0"/>
                <a:ea typeface="Aptos" pitchFamily="34" charset="-122"/>
                <a:cs typeface="Aptos" pitchFamily="34" charset="-120"/>
              </a:rPr>
              <a:t>BEATs confirms that modern performance gains come primarily from pretrained representations, not only from attention or architecture choice.</a:t>
            </a:r>
            <a:endParaRPr lang="en-US" sz="1200" dirty="0"/>
          </a:p>
        </p:txBody>
      </p:sp>
      <p:sp>
        <p:nvSpPr>
          <p:cNvPr id="23" name="Shape 498">
            <a:extLst>
              <a:ext uri="{FF2B5EF4-FFF2-40B4-BE49-F238E27FC236}">
                <a16:creationId xmlns:a16="http://schemas.microsoft.com/office/drawing/2014/main" id="{D9FC713D-E54E-5DD4-5B73-CA6AC57E7A9E}"/>
              </a:ext>
            </a:extLst>
          </p:cNvPr>
          <p:cNvSpPr/>
          <p:nvPr/>
        </p:nvSpPr>
        <p:spPr>
          <a:xfrm>
            <a:off x="8239330" y="4084421"/>
            <a:ext cx="1920012" cy="780682"/>
          </a:xfrm>
          <a:prstGeom prst="rect">
            <a:avLst/>
          </a:prstGeom>
          <a:solidFill>
            <a:srgbClr val="FFFFFF">
              <a:alpha val="98000"/>
            </a:srgbClr>
          </a:solidFill>
          <a:ln w="17780">
            <a:solidFill>
              <a:srgbClr val="B65D3A"/>
            </a:solidFill>
            <a:prstDash val="solid"/>
          </a:ln>
        </p:spPr>
        <p:txBody>
          <a:bodyPr/>
          <a:lstStyle/>
          <a:p>
            <a:endParaRPr lang="en-US"/>
          </a:p>
        </p:txBody>
      </p:sp>
      <p:sp>
        <p:nvSpPr>
          <p:cNvPr id="24" name="Text 499">
            <a:extLst>
              <a:ext uri="{FF2B5EF4-FFF2-40B4-BE49-F238E27FC236}">
                <a16:creationId xmlns:a16="http://schemas.microsoft.com/office/drawing/2014/main" id="{4362304F-343B-923E-3087-86ABABE95DDD}"/>
              </a:ext>
            </a:extLst>
          </p:cNvPr>
          <p:cNvSpPr/>
          <p:nvPr/>
        </p:nvSpPr>
        <p:spPr>
          <a:xfrm>
            <a:off x="8239330" y="4224527"/>
            <a:ext cx="1920012"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B65D3A"/>
                </a:solidFill>
                <a:latin typeface="Aptos Display" pitchFamily="34" charset="0"/>
                <a:ea typeface="Aptos Display" pitchFamily="34" charset="-122"/>
                <a:cs typeface="Aptos Display" pitchFamily="34" charset="-120"/>
              </a:rPr>
              <a:t>94.4%</a:t>
            </a:r>
            <a:endParaRPr lang="en-US" sz="2100" dirty="0"/>
          </a:p>
        </p:txBody>
      </p:sp>
      <p:sp>
        <p:nvSpPr>
          <p:cNvPr id="25" name="Text 500">
            <a:extLst>
              <a:ext uri="{FF2B5EF4-FFF2-40B4-BE49-F238E27FC236}">
                <a16:creationId xmlns:a16="http://schemas.microsoft.com/office/drawing/2014/main" id="{ED633736-DC22-5ED4-B73D-FDA8289C8F79}"/>
              </a:ext>
            </a:extLst>
          </p:cNvPr>
          <p:cNvSpPr/>
          <p:nvPr/>
        </p:nvSpPr>
        <p:spPr>
          <a:xfrm>
            <a:off x="8239330" y="4617719"/>
            <a:ext cx="1920012"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final 5-fold accuracy</a:t>
            </a:r>
            <a:endParaRPr lang="en-US" sz="780" dirty="0"/>
          </a:p>
        </p:txBody>
      </p:sp>
      <p:grpSp>
        <p:nvGrpSpPr>
          <p:cNvPr id="26" name="Group 25">
            <a:extLst>
              <a:ext uri="{FF2B5EF4-FFF2-40B4-BE49-F238E27FC236}">
                <a16:creationId xmlns:a16="http://schemas.microsoft.com/office/drawing/2014/main" id="{B18A83C6-62D2-E441-C96A-51AEEA5D47AC}"/>
              </a:ext>
            </a:extLst>
          </p:cNvPr>
          <p:cNvGrpSpPr/>
          <p:nvPr/>
        </p:nvGrpSpPr>
        <p:grpSpPr>
          <a:xfrm>
            <a:off x="6076188" y="4092809"/>
            <a:ext cx="1920240" cy="772294"/>
            <a:chOff x="6957490" y="4123666"/>
            <a:chExt cx="1920240" cy="772294"/>
          </a:xfrm>
        </p:grpSpPr>
        <p:sp>
          <p:nvSpPr>
            <p:cNvPr id="27" name="Shape 48">
              <a:extLst>
                <a:ext uri="{FF2B5EF4-FFF2-40B4-BE49-F238E27FC236}">
                  <a16:creationId xmlns:a16="http://schemas.microsoft.com/office/drawing/2014/main" id="{2FBA8E6F-4D3F-F840-786D-0EABE6DB37C4}"/>
                </a:ext>
              </a:extLst>
            </p:cNvPr>
            <p:cNvSpPr/>
            <p:nvPr/>
          </p:nvSpPr>
          <p:spPr>
            <a:xfrm>
              <a:off x="6957490" y="4123666"/>
              <a:ext cx="1920012" cy="772294"/>
            </a:xfrm>
            <a:prstGeom prst="rect">
              <a:avLst/>
            </a:prstGeom>
            <a:solidFill>
              <a:srgbClr val="FFFFFF">
                <a:alpha val="98000"/>
              </a:srgbClr>
            </a:solidFill>
            <a:ln w="17780">
              <a:solidFill>
                <a:schemeClr val="tx1">
                  <a:lumMod val="75000"/>
                  <a:lumOff val="25000"/>
                </a:schemeClr>
              </a:solidFill>
              <a:prstDash val="solid"/>
            </a:ln>
          </p:spPr>
          <p:txBody>
            <a:bodyPr/>
            <a:lstStyle/>
            <a:p>
              <a:endParaRPr lang="en-US"/>
            </a:p>
          </p:txBody>
        </p:sp>
        <p:sp>
          <p:nvSpPr>
            <p:cNvPr id="28" name="Text 49">
              <a:extLst>
                <a:ext uri="{FF2B5EF4-FFF2-40B4-BE49-F238E27FC236}">
                  <a16:creationId xmlns:a16="http://schemas.microsoft.com/office/drawing/2014/main" id="{A8DB9481-E320-7256-6DA0-124012C48D24}"/>
                </a:ext>
              </a:extLst>
            </p:cNvPr>
            <p:cNvSpPr/>
            <p:nvPr/>
          </p:nvSpPr>
          <p:spPr>
            <a:xfrm>
              <a:off x="7048930" y="4260826"/>
              <a:ext cx="18288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chemeClr val="tx1">
                      <a:lumMod val="75000"/>
                      <a:lumOff val="25000"/>
                    </a:schemeClr>
                  </a:solidFill>
                  <a:latin typeface="Aptos Display" pitchFamily="34" charset="0"/>
                  <a:ea typeface="Aptos Display" pitchFamily="34" charset="-122"/>
                  <a:cs typeface="Aptos Display" pitchFamily="34" charset="-120"/>
                </a:rPr>
                <a:t>64.5%</a:t>
              </a:r>
              <a:endParaRPr lang="en-US" sz="2100" dirty="0">
                <a:solidFill>
                  <a:schemeClr val="tx1">
                    <a:lumMod val="75000"/>
                    <a:lumOff val="25000"/>
                  </a:schemeClr>
                </a:solidFill>
              </a:endParaRPr>
            </a:p>
          </p:txBody>
        </p:sp>
        <p:sp>
          <p:nvSpPr>
            <p:cNvPr id="29" name="Text 50">
              <a:extLst>
                <a:ext uri="{FF2B5EF4-FFF2-40B4-BE49-F238E27FC236}">
                  <a16:creationId xmlns:a16="http://schemas.microsoft.com/office/drawing/2014/main" id="{9B484ADC-A341-3E48-D371-6B3027AD37A4}"/>
                </a:ext>
              </a:extLst>
            </p:cNvPr>
            <p:cNvSpPr/>
            <p:nvPr/>
          </p:nvSpPr>
          <p:spPr>
            <a:xfrm>
              <a:off x="7067218" y="4654018"/>
              <a:ext cx="17922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Piczak published LP clip-level reference</a:t>
              </a:r>
              <a:endParaRPr lang="en-US" sz="780"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a:effectLst/>
      </p:bgPr>
    </p:bg>
    <p:spTree>
      <p:nvGrpSpPr>
        <p:cNvPr id="1" name=""/>
        <p:cNvGrpSpPr/>
        <p:nvPr/>
      </p:nvGrpSpPr>
      <p:grpSpPr>
        <a:xfrm>
          <a:off x="0" y="0"/>
          <a:ext cx="0" cy="0"/>
          <a:chOff x="0" y="0"/>
          <a:chExt cx="0" cy="0"/>
        </a:xfrm>
      </p:grpSpPr>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Final takeaway and lessons learned</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5" name="Text 3"/>
          <p:cNvSpPr/>
          <p:nvPr/>
        </p:nvSpPr>
        <p:spPr>
          <a:xfrm>
            <a:off x="731520" y="1347623"/>
            <a:ext cx="5418632" cy="772663"/>
          </a:xfrm>
          <a:prstGeom prst="rect">
            <a:avLst/>
          </a:prstGeom>
          <a:noFill/>
          <a:ln/>
        </p:spPr>
        <p:txBody>
          <a:bodyPr wrap="square" lIns="0" tIns="0" rIns="0" bIns="0" rtlCol="0" anchor="t">
            <a:noAutofit/>
          </a:bodyPr>
          <a:lstStyle/>
          <a:p>
            <a:pPr>
              <a:lnSpc>
                <a:spcPct val="90000"/>
              </a:lnSpc>
            </a:pPr>
            <a:r>
              <a:rPr lang="en-US" dirty="0">
                <a:solidFill>
                  <a:schemeClr val="tx1">
                    <a:lumMod val="65000"/>
                    <a:lumOff val="35000"/>
                  </a:schemeClr>
                </a:solidFill>
                <a:ea typeface="Aptos Display" pitchFamily="34" charset="-122"/>
                <a:cs typeface="Calibri" panose="020F0502020204030204" pitchFamily="34" charset="0"/>
              </a:rPr>
              <a:t>The biggest factors in accuracy were where the model learned its audio knowledge and the applicability of the model to the task at hand. </a:t>
            </a:r>
            <a:endParaRPr lang="en-US" dirty="0">
              <a:solidFill>
                <a:schemeClr val="tx1">
                  <a:lumMod val="65000"/>
                  <a:lumOff val="35000"/>
                </a:schemeClr>
              </a:solidFill>
              <a:cs typeface="Calibri" panose="020F0502020204030204" pitchFamily="34" charset="0"/>
            </a:endParaRPr>
          </a:p>
        </p:txBody>
      </p:sp>
      <p:sp>
        <p:nvSpPr>
          <p:cNvPr id="34" name="Text 32"/>
          <p:cNvSpPr/>
          <p:nvPr/>
        </p:nvSpPr>
        <p:spPr>
          <a:xfrm>
            <a:off x="6693173" y="1350220"/>
            <a:ext cx="2011680" cy="201168"/>
          </a:xfrm>
          <a:prstGeom prst="rect">
            <a:avLst/>
          </a:prstGeom>
          <a:noFill/>
          <a:ln/>
        </p:spPr>
        <p:txBody>
          <a:bodyPr wrap="square" lIns="0" tIns="0" rIns="0" bIns="0" rtlCol="0" anchor="t">
            <a:normAutofit/>
          </a:bodyPr>
          <a:lstStyle/>
          <a:p>
            <a:pPr>
              <a:lnSpc>
                <a:spcPct val="90000"/>
              </a:lnSpc>
            </a:pPr>
            <a:r>
              <a:rPr lang="en-US" sz="1400" b="1" dirty="0">
                <a:solidFill>
                  <a:srgbClr val="17677D"/>
                </a:solidFill>
                <a:latin typeface="Aptos" pitchFamily="34" charset="0"/>
              </a:rPr>
              <a:t>Lessons learned</a:t>
            </a:r>
          </a:p>
        </p:txBody>
      </p:sp>
      <p:sp>
        <p:nvSpPr>
          <p:cNvPr id="35" name="Shape 33"/>
          <p:cNvSpPr/>
          <p:nvPr/>
        </p:nvSpPr>
        <p:spPr>
          <a:xfrm>
            <a:off x="6693173" y="1761700"/>
            <a:ext cx="4754880" cy="914400"/>
          </a:xfrm>
          <a:prstGeom prst="rect">
            <a:avLst/>
          </a:prstGeom>
          <a:solidFill>
            <a:srgbClr val="FFFFFF"/>
          </a:solidFill>
          <a:ln w="12065">
            <a:solidFill>
              <a:srgbClr val="17677D"/>
            </a:solidFill>
            <a:prstDash val="solid"/>
          </a:ln>
        </p:spPr>
        <p:txBody>
          <a:bodyPr/>
          <a:lstStyle/>
          <a:p>
            <a:endParaRPr lang="en-US"/>
          </a:p>
        </p:txBody>
      </p:sp>
      <p:sp>
        <p:nvSpPr>
          <p:cNvPr id="36" name="Text 34"/>
          <p:cNvSpPr/>
          <p:nvPr/>
        </p:nvSpPr>
        <p:spPr>
          <a:xfrm>
            <a:off x="6857765" y="1889716"/>
            <a:ext cx="4389120" cy="164592"/>
          </a:xfrm>
          <a:prstGeom prst="rect">
            <a:avLst/>
          </a:prstGeom>
          <a:noFill/>
          <a:ln/>
        </p:spPr>
        <p:txBody>
          <a:bodyPr wrap="square" lIns="0" tIns="0" rIns="0" bIns="0" rtlCol="0" anchor="t">
            <a:normAutofit/>
          </a:bodyPr>
          <a:lstStyle/>
          <a:p>
            <a:pPr marL="0" indent="0" algn="l">
              <a:lnSpc>
                <a:spcPct val="90000"/>
              </a:lnSpc>
              <a:buNone/>
            </a:pPr>
            <a:r>
              <a:rPr lang="en-US" sz="1140" b="1" dirty="0">
                <a:solidFill>
                  <a:srgbClr val="17677D"/>
                </a:solidFill>
                <a:latin typeface="Aptos" pitchFamily="34" charset="0"/>
                <a:ea typeface="Aptos" pitchFamily="34" charset="-122"/>
                <a:cs typeface="Aptos" pitchFamily="34" charset="-120"/>
              </a:rPr>
              <a:t>What went well</a:t>
            </a:r>
            <a:endParaRPr lang="en-US" sz="1140" dirty="0"/>
          </a:p>
        </p:txBody>
      </p:sp>
      <p:sp>
        <p:nvSpPr>
          <p:cNvPr id="37" name="Text 35"/>
          <p:cNvSpPr/>
          <p:nvPr/>
        </p:nvSpPr>
        <p:spPr>
          <a:xfrm>
            <a:off x="6857765" y="2154892"/>
            <a:ext cx="4297680" cy="329184"/>
          </a:xfrm>
          <a:prstGeom prst="rect">
            <a:avLst/>
          </a:prstGeom>
          <a:noFill/>
          <a:ln/>
        </p:spPr>
        <p:txBody>
          <a:bodyPr wrap="square" lIns="0" tIns="0" rIns="0" bIns="0" rtlCol="0" anchor="t">
            <a:normAutofit/>
          </a:bodyPr>
          <a:lstStyle/>
          <a:p>
            <a:pPr marL="0" indent="0" algn="l">
              <a:lnSpc>
                <a:spcPct val="82000"/>
              </a:lnSpc>
              <a:buNone/>
            </a:pPr>
            <a:r>
              <a:rPr lang="en-US" sz="890" dirty="0">
                <a:solidFill>
                  <a:srgbClr val="1F2528"/>
                </a:solidFill>
                <a:latin typeface="Aptos" pitchFamily="34" charset="0"/>
                <a:ea typeface="Aptos" pitchFamily="34" charset="-122"/>
                <a:cs typeface="Aptos" pitchFamily="34" charset="-120"/>
              </a:rPr>
              <a:t>ESC-50 gave a clean benchmark; transfer learning created a clear contrast; AST/BEATs provided strong modern endpoints.</a:t>
            </a:r>
            <a:endParaRPr lang="en-US" sz="890" dirty="0"/>
          </a:p>
        </p:txBody>
      </p:sp>
      <p:sp>
        <p:nvSpPr>
          <p:cNvPr id="38" name="Shape 36"/>
          <p:cNvSpPr/>
          <p:nvPr/>
        </p:nvSpPr>
        <p:spPr>
          <a:xfrm>
            <a:off x="6693173" y="2886413"/>
            <a:ext cx="4754880" cy="1173856"/>
          </a:xfrm>
          <a:prstGeom prst="rect">
            <a:avLst/>
          </a:prstGeom>
          <a:solidFill>
            <a:srgbClr val="FFFFFF"/>
          </a:solidFill>
          <a:ln w="12065">
            <a:solidFill>
              <a:srgbClr val="D6A33B"/>
            </a:solidFill>
            <a:prstDash val="solid"/>
          </a:ln>
        </p:spPr>
        <p:txBody>
          <a:bodyPr/>
          <a:lstStyle/>
          <a:p>
            <a:endParaRPr lang="en-US"/>
          </a:p>
        </p:txBody>
      </p:sp>
      <p:sp>
        <p:nvSpPr>
          <p:cNvPr id="39" name="Text 37"/>
          <p:cNvSpPr/>
          <p:nvPr/>
        </p:nvSpPr>
        <p:spPr>
          <a:xfrm>
            <a:off x="6857765" y="3010586"/>
            <a:ext cx="4389120" cy="164592"/>
          </a:xfrm>
          <a:prstGeom prst="rect">
            <a:avLst/>
          </a:prstGeom>
          <a:noFill/>
          <a:ln/>
        </p:spPr>
        <p:txBody>
          <a:bodyPr wrap="square" lIns="0" tIns="0" rIns="0" bIns="0" rtlCol="0" anchor="t">
            <a:normAutofit/>
          </a:bodyPr>
          <a:lstStyle/>
          <a:p>
            <a:pPr marL="0" indent="0" algn="l">
              <a:lnSpc>
                <a:spcPct val="90000"/>
              </a:lnSpc>
              <a:buNone/>
            </a:pPr>
            <a:r>
              <a:rPr lang="en-US" sz="1140" b="1" dirty="0">
                <a:solidFill>
                  <a:srgbClr val="D6A33B"/>
                </a:solidFill>
                <a:latin typeface="Aptos" pitchFamily="34" charset="0"/>
                <a:ea typeface="Aptos" pitchFamily="34" charset="-122"/>
                <a:cs typeface="Aptos" pitchFamily="34" charset="-120"/>
              </a:rPr>
              <a:t>What did not</a:t>
            </a:r>
            <a:endParaRPr lang="en-US" sz="1140" dirty="0"/>
          </a:p>
        </p:txBody>
      </p:sp>
      <p:sp>
        <p:nvSpPr>
          <p:cNvPr id="40" name="Text 38"/>
          <p:cNvSpPr/>
          <p:nvPr/>
        </p:nvSpPr>
        <p:spPr>
          <a:xfrm>
            <a:off x="6857765" y="3279605"/>
            <a:ext cx="4297680" cy="808095"/>
          </a:xfrm>
          <a:prstGeom prst="rect">
            <a:avLst/>
          </a:prstGeom>
          <a:noFill/>
          <a:ln/>
        </p:spPr>
        <p:txBody>
          <a:bodyPr wrap="square" lIns="0" tIns="0" rIns="0" bIns="0" rtlCol="0" anchor="t">
            <a:normAutofit/>
          </a:bodyPr>
          <a:lstStyle/>
          <a:p>
            <a:pPr marL="0" indent="0" algn="l">
              <a:lnSpc>
                <a:spcPct val="82000"/>
              </a:lnSpc>
              <a:buNone/>
            </a:pPr>
            <a:r>
              <a:rPr lang="en-US" sz="890" dirty="0">
                <a:solidFill>
                  <a:srgbClr val="1F2528"/>
                </a:solidFill>
                <a:latin typeface="Aptos" pitchFamily="34" charset="0"/>
                <a:ea typeface="Aptos" pitchFamily="34" charset="-122"/>
                <a:cs typeface="Aptos" pitchFamily="34" charset="-120"/>
              </a:rPr>
              <a:t>Baseline replication required careful protocol matching and was difficult to reproduce one-to-one based on the evolution of libraries, protocols, etc.</a:t>
            </a:r>
          </a:p>
          <a:p>
            <a:pPr marL="0" indent="0" algn="l">
              <a:lnSpc>
                <a:spcPct val="82000"/>
              </a:lnSpc>
              <a:buNone/>
            </a:pPr>
            <a:endParaRPr lang="en-US" sz="890" dirty="0">
              <a:solidFill>
                <a:srgbClr val="1F2528"/>
              </a:solidFill>
              <a:latin typeface="Aptos" pitchFamily="34" charset="0"/>
            </a:endParaRPr>
          </a:p>
          <a:p>
            <a:pPr marL="0" indent="0" algn="l">
              <a:lnSpc>
                <a:spcPct val="82000"/>
              </a:lnSpc>
              <a:buNone/>
            </a:pPr>
            <a:r>
              <a:rPr lang="en-US" sz="890" dirty="0">
                <a:solidFill>
                  <a:srgbClr val="1F2528"/>
                </a:solidFill>
                <a:latin typeface="Aptos" pitchFamily="34" charset="0"/>
              </a:rPr>
              <a:t>Comparison discipline was initially overlooked.  The creation of apples-to-apples comparison required intentional model setup and evaluation…as well as last second re-runs</a:t>
            </a:r>
          </a:p>
        </p:txBody>
      </p:sp>
      <p:sp>
        <p:nvSpPr>
          <p:cNvPr id="41" name="Shape 39"/>
          <p:cNvSpPr/>
          <p:nvPr/>
        </p:nvSpPr>
        <p:spPr>
          <a:xfrm>
            <a:off x="6720840" y="4272480"/>
            <a:ext cx="4754880" cy="914400"/>
          </a:xfrm>
          <a:prstGeom prst="rect">
            <a:avLst/>
          </a:prstGeom>
          <a:solidFill>
            <a:srgbClr val="FFFFFF"/>
          </a:solidFill>
          <a:ln w="12065">
            <a:solidFill>
              <a:srgbClr val="B65D3A"/>
            </a:solidFill>
            <a:prstDash val="solid"/>
          </a:ln>
        </p:spPr>
        <p:txBody>
          <a:bodyPr/>
          <a:lstStyle/>
          <a:p>
            <a:endParaRPr lang="en-US"/>
          </a:p>
        </p:txBody>
      </p:sp>
      <p:sp>
        <p:nvSpPr>
          <p:cNvPr id="42" name="Text 40"/>
          <p:cNvSpPr/>
          <p:nvPr/>
        </p:nvSpPr>
        <p:spPr>
          <a:xfrm>
            <a:off x="6885432" y="4400496"/>
            <a:ext cx="4389120" cy="164592"/>
          </a:xfrm>
          <a:prstGeom prst="rect">
            <a:avLst/>
          </a:prstGeom>
          <a:noFill/>
          <a:ln/>
        </p:spPr>
        <p:txBody>
          <a:bodyPr wrap="square" lIns="0" tIns="0" rIns="0" bIns="0" rtlCol="0" anchor="t">
            <a:normAutofit/>
          </a:bodyPr>
          <a:lstStyle/>
          <a:p>
            <a:pPr marL="0" indent="0" algn="l">
              <a:lnSpc>
                <a:spcPct val="90000"/>
              </a:lnSpc>
              <a:buNone/>
            </a:pPr>
            <a:r>
              <a:rPr lang="en-US" sz="1140" b="1" dirty="0">
                <a:solidFill>
                  <a:srgbClr val="B65D3A"/>
                </a:solidFill>
                <a:latin typeface="Aptos" pitchFamily="34" charset="0"/>
                <a:ea typeface="Aptos" pitchFamily="34" charset="-122"/>
                <a:cs typeface="Aptos" pitchFamily="34" charset="-120"/>
              </a:rPr>
              <a:t>What we would change</a:t>
            </a:r>
            <a:endParaRPr lang="en-US" sz="1140" dirty="0"/>
          </a:p>
        </p:txBody>
      </p:sp>
      <p:sp>
        <p:nvSpPr>
          <p:cNvPr id="43" name="Text 41"/>
          <p:cNvSpPr/>
          <p:nvPr/>
        </p:nvSpPr>
        <p:spPr>
          <a:xfrm>
            <a:off x="6885432" y="4665672"/>
            <a:ext cx="4297680" cy="329184"/>
          </a:xfrm>
          <a:prstGeom prst="rect">
            <a:avLst/>
          </a:prstGeom>
          <a:noFill/>
          <a:ln/>
        </p:spPr>
        <p:txBody>
          <a:bodyPr wrap="square" lIns="0" tIns="0" rIns="0" bIns="0" rtlCol="0" anchor="t">
            <a:normAutofit/>
          </a:bodyPr>
          <a:lstStyle/>
          <a:p>
            <a:pPr marL="0" indent="0" algn="l">
              <a:lnSpc>
                <a:spcPct val="82000"/>
              </a:lnSpc>
              <a:buNone/>
            </a:pPr>
            <a:r>
              <a:rPr lang="en-US" sz="890" dirty="0">
                <a:solidFill>
                  <a:srgbClr val="1F2528"/>
                </a:solidFill>
                <a:latin typeface="Aptos" pitchFamily="34" charset="0"/>
                <a:ea typeface="Aptos" pitchFamily="34" charset="-122"/>
                <a:cs typeface="Aptos" pitchFamily="34" charset="-120"/>
              </a:rPr>
              <a:t>Lock evaluation protocol first; use fewer variants with deeper analysis; utilize run time as a metric in addition to accuracy.</a:t>
            </a:r>
            <a:endParaRPr lang="en-US" sz="890" dirty="0"/>
          </a:p>
        </p:txBody>
      </p:sp>
      <p:sp>
        <p:nvSpPr>
          <p:cNvPr id="45" name="Text 43"/>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13</a:t>
            </a:r>
            <a:endParaRPr lang="en-US" sz="750" dirty="0"/>
          </a:p>
        </p:txBody>
      </p:sp>
      <p:pic>
        <p:nvPicPr>
          <p:cNvPr id="46" name="Picture 2" descr="Cornell University Logo, symbol, meaning, history, PNG, brand">
            <a:extLst>
              <a:ext uri="{FF2B5EF4-FFF2-40B4-BE49-F238E27FC236}">
                <a16:creationId xmlns:a16="http://schemas.microsoft.com/office/drawing/2014/main" id="{5F07FE3F-FF4E-2C50-944B-FFF4C95942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83" name="Text 8">
            <a:extLst>
              <a:ext uri="{FF2B5EF4-FFF2-40B4-BE49-F238E27FC236}">
                <a16:creationId xmlns:a16="http://schemas.microsoft.com/office/drawing/2014/main" id="{6EAE4996-5C2C-41FE-C71D-D70BEF62DCC4}"/>
              </a:ext>
            </a:extLst>
          </p:cNvPr>
          <p:cNvSpPr/>
          <p:nvPr/>
        </p:nvSpPr>
        <p:spPr>
          <a:xfrm>
            <a:off x="1036555" y="2358036"/>
            <a:ext cx="2468880" cy="164592"/>
          </a:xfrm>
          <a:prstGeom prst="rect">
            <a:avLst/>
          </a:prstGeom>
          <a:noFill/>
          <a:ln>
            <a:noFill/>
          </a:ln>
        </p:spPr>
        <p:txBody>
          <a:bodyPr wrap="square" lIns="0" tIns="0" rIns="0" bIns="0" rtlCol="0" anchor="t">
            <a:normAutofit/>
          </a:bodyPr>
          <a:lstStyle/>
          <a:p>
            <a:pPr marL="0" indent="0" algn="l">
              <a:lnSpc>
                <a:spcPct val="90000"/>
              </a:lnSpc>
              <a:buNone/>
            </a:pPr>
            <a:r>
              <a:rPr lang="en-US" sz="840" dirty="0">
                <a:solidFill>
                  <a:srgbClr val="1F2528"/>
                </a:solidFill>
                <a:latin typeface="Aptos" pitchFamily="34" charset="0"/>
                <a:ea typeface="Aptos" pitchFamily="34" charset="-122"/>
                <a:cs typeface="Aptos" pitchFamily="34" charset="-120"/>
              </a:rPr>
              <a:t>Piczak CNN published LP</a:t>
            </a:r>
            <a:endParaRPr lang="en-US" sz="840" dirty="0"/>
          </a:p>
        </p:txBody>
      </p:sp>
      <p:sp>
        <p:nvSpPr>
          <p:cNvPr id="84" name="Shape 9">
            <a:extLst>
              <a:ext uri="{FF2B5EF4-FFF2-40B4-BE49-F238E27FC236}">
                <a16:creationId xmlns:a16="http://schemas.microsoft.com/office/drawing/2014/main" id="{89759F83-B57B-10FA-0EC0-1D6A5E93E8CE}"/>
              </a:ext>
            </a:extLst>
          </p:cNvPr>
          <p:cNvSpPr/>
          <p:nvPr/>
        </p:nvSpPr>
        <p:spPr>
          <a:xfrm>
            <a:off x="3642595" y="2458620"/>
            <a:ext cx="2148840" cy="0"/>
          </a:xfrm>
          <a:prstGeom prst="line">
            <a:avLst/>
          </a:prstGeom>
          <a:noFill/>
          <a:ln w="5080">
            <a:solidFill>
              <a:srgbClr val="D8D4C8"/>
            </a:solidFill>
            <a:prstDash val="solid"/>
          </a:ln>
        </p:spPr>
        <p:txBody>
          <a:bodyPr/>
          <a:lstStyle/>
          <a:p>
            <a:endParaRPr lang="en-US"/>
          </a:p>
        </p:txBody>
      </p:sp>
      <p:sp>
        <p:nvSpPr>
          <p:cNvPr id="85" name="Shape 10">
            <a:extLst>
              <a:ext uri="{FF2B5EF4-FFF2-40B4-BE49-F238E27FC236}">
                <a16:creationId xmlns:a16="http://schemas.microsoft.com/office/drawing/2014/main" id="{8FC27363-70B1-07AE-89EE-0B62D543DC14}"/>
              </a:ext>
            </a:extLst>
          </p:cNvPr>
          <p:cNvSpPr/>
          <p:nvPr/>
        </p:nvSpPr>
        <p:spPr>
          <a:xfrm>
            <a:off x="3642595" y="2376324"/>
            <a:ext cx="1386002" cy="155448"/>
          </a:xfrm>
          <a:prstGeom prst="rect">
            <a:avLst/>
          </a:prstGeom>
          <a:solidFill>
            <a:srgbClr val="426E9E"/>
          </a:solidFill>
          <a:ln w="12700">
            <a:solidFill>
              <a:srgbClr val="426E9E">
                <a:alpha val="0"/>
              </a:srgbClr>
            </a:solidFill>
            <a:prstDash val="solid"/>
          </a:ln>
        </p:spPr>
        <p:txBody>
          <a:bodyPr/>
          <a:lstStyle/>
          <a:p>
            <a:endParaRPr lang="en-US"/>
          </a:p>
        </p:txBody>
      </p:sp>
      <p:sp>
        <p:nvSpPr>
          <p:cNvPr id="86" name="Text 11">
            <a:extLst>
              <a:ext uri="{FF2B5EF4-FFF2-40B4-BE49-F238E27FC236}">
                <a16:creationId xmlns:a16="http://schemas.microsoft.com/office/drawing/2014/main" id="{135C06E0-7847-D17B-F003-43648D89C164}"/>
              </a:ext>
            </a:extLst>
          </p:cNvPr>
          <p:cNvSpPr/>
          <p:nvPr/>
        </p:nvSpPr>
        <p:spPr>
          <a:xfrm>
            <a:off x="5120037" y="2358036"/>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64.5%</a:t>
            </a:r>
            <a:endParaRPr lang="en-US" sz="760" dirty="0"/>
          </a:p>
        </p:txBody>
      </p:sp>
      <p:sp>
        <p:nvSpPr>
          <p:cNvPr id="87" name="Text 12">
            <a:extLst>
              <a:ext uri="{FF2B5EF4-FFF2-40B4-BE49-F238E27FC236}">
                <a16:creationId xmlns:a16="http://schemas.microsoft.com/office/drawing/2014/main" id="{54052B72-C388-8D68-244F-3292DB2FE9EE}"/>
              </a:ext>
            </a:extLst>
          </p:cNvPr>
          <p:cNvSpPr/>
          <p:nvPr/>
        </p:nvSpPr>
        <p:spPr>
          <a:xfrm>
            <a:off x="1036555" y="2987242"/>
            <a:ext cx="2468880" cy="164592"/>
          </a:xfrm>
          <a:prstGeom prst="rect">
            <a:avLst/>
          </a:prstGeom>
          <a:noFill/>
          <a:ln/>
        </p:spPr>
        <p:txBody>
          <a:bodyPr wrap="square" lIns="0" tIns="0" rIns="0" bIns="0" rtlCol="0" anchor="t">
            <a:normAutofit/>
          </a:bodyPr>
          <a:lstStyle/>
          <a:p>
            <a:pPr marL="0" indent="0" algn="l">
              <a:lnSpc>
                <a:spcPct val="90000"/>
              </a:lnSpc>
              <a:buNone/>
            </a:pPr>
            <a:r>
              <a:rPr lang="en-US" sz="840" dirty="0">
                <a:solidFill>
                  <a:srgbClr val="1F2528"/>
                </a:solidFill>
                <a:latin typeface="Aptos" pitchFamily="34" charset="0"/>
                <a:ea typeface="Aptos" pitchFamily="34" charset="-122"/>
                <a:cs typeface="Aptos" pitchFamily="34" charset="-120"/>
              </a:rPr>
              <a:t>LSTM long</a:t>
            </a:r>
            <a:endParaRPr lang="en-US" sz="840" dirty="0"/>
          </a:p>
        </p:txBody>
      </p:sp>
      <p:sp>
        <p:nvSpPr>
          <p:cNvPr id="88" name="Shape 13">
            <a:extLst>
              <a:ext uri="{FF2B5EF4-FFF2-40B4-BE49-F238E27FC236}">
                <a16:creationId xmlns:a16="http://schemas.microsoft.com/office/drawing/2014/main" id="{CCD71AC8-8AB3-1F05-3728-9D339D92AA8A}"/>
              </a:ext>
            </a:extLst>
          </p:cNvPr>
          <p:cNvSpPr/>
          <p:nvPr/>
        </p:nvSpPr>
        <p:spPr>
          <a:xfrm>
            <a:off x="3642595" y="3087826"/>
            <a:ext cx="2148840" cy="0"/>
          </a:xfrm>
          <a:prstGeom prst="line">
            <a:avLst/>
          </a:prstGeom>
          <a:noFill/>
          <a:ln w="5080">
            <a:solidFill>
              <a:srgbClr val="D8D4C8"/>
            </a:solidFill>
            <a:prstDash val="solid"/>
          </a:ln>
        </p:spPr>
        <p:txBody>
          <a:bodyPr/>
          <a:lstStyle/>
          <a:p>
            <a:endParaRPr lang="en-US"/>
          </a:p>
        </p:txBody>
      </p:sp>
      <p:sp>
        <p:nvSpPr>
          <p:cNvPr id="89" name="Shape 14">
            <a:extLst>
              <a:ext uri="{FF2B5EF4-FFF2-40B4-BE49-F238E27FC236}">
                <a16:creationId xmlns:a16="http://schemas.microsoft.com/office/drawing/2014/main" id="{6B92499E-140F-4596-2835-75CADA9C82CE}"/>
              </a:ext>
            </a:extLst>
          </p:cNvPr>
          <p:cNvSpPr/>
          <p:nvPr/>
        </p:nvSpPr>
        <p:spPr>
          <a:xfrm>
            <a:off x="3642595" y="3005530"/>
            <a:ext cx="1220541" cy="155448"/>
          </a:xfrm>
          <a:prstGeom prst="rect">
            <a:avLst/>
          </a:prstGeom>
          <a:solidFill>
            <a:srgbClr val="426E9E"/>
          </a:solidFill>
          <a:ln w="12700">
            <a:solidFill>
              <a:srgbClr val="426E9E">
                <a:alpha val="0"/>
              </a:srgbClr>
            </a:solidFill>
            <a:prstDash val="solid"/>
          </a:ln>
        </p:spPr>
        <p:txBody>
          <a:bodyPr/>
          <a:lstStyle/>
          <a:p>
            <a:endParaRPr lang="en-US"/>
          </a:p>
        </p:txBody>
      </p:sp>
      <p:sp>
        <p:nvSpPr>
          <p:cNvPr id="90" name="Text 15">
            <a:extLst>
              <a:ext uri="{FF2B5EF4-FFF2-40B4-BE49-F238E27FC236}">
                <a16:creationId xmlns:a16="http://schemas.microsoft.com/office/drawing/2014/main" id="{FE34CADE-9AF5-0010-68EA-AA36CFD67AEE}"/>
              </a:ext>
            </a:extLst>
          </p:cNvPr>
          <p:cNvSpPr/>
          <p:nvPr/>
        </p:nvSpPr>
        <p:spPr>
          <a:xfrm>
            <a:off x="4954576" y="2987242"/>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56.8%</a:t>
            </a:r>
            <a:endParaRPr lang="en-US" sz="760" dirty="0"/>
          </a:p>
        </p:txBody>
      </p:sp>
      <p:sp>
        <p:nvSpPr>
          <p:cNvPr id="91" name="Text 16">
            <a:extLst>
              <a:ext uri="{FF2B5EF4-FFF2-40B4-BE49-F238E27FC236}">
                <a16:creationId xmlns:a16="http://schemas.microsoft.com/office/drawing/2014/main" id="{03906C41-F6DD-2DF0-AAF0-10D415E0D768}"/>
              </a:ext>
            </a:extLst>
          </p:cNvPr>
          <p:cNvSpPr/>
          <p:nvPr/>
        </p:nvSpPr>
        <p:spPr>
          <a:xfrm>
            <a:off x="1036555" y="3515868"/>
            <a:ext cx="2468880" cy="164592"/>
          </a:xfrm>
          <a:prstGeom prst="rect">
            <a:avLst/>
          </a:prstGeom>
          <a:noFill/>
          <a:ln/>
        </p:spPr>
        <p:txBody>
          <a:bodyPr wrap="square" lIns="0" tIns="0" rIns="0" bIns="0" rtlCol="0" anchor="t">
            <a:normAutofit/>
          </a:bodyPr>
          <a:lstStyle/>
          <a:p>
            <a:pPr marL="0" indent="0" algn="l">
              <a:lnSpc>
                <a:spcPct val="90000"/>
              </a:lnSpc>
              <a:buNone/>
            </a:pPr>
            <a:r>
              <a:rPr lang="en-US" sz="840" dirty="0">
                <a:solidFill>
                  <a:srgbClr val="1F2528"/>
                </a:solidFill>
                <a:latin typeface="Aptos" pitchFamily="34" charset="0"/>
                <a:ea typeface="Aptos" pitchFamily="34" charset="-122"/>
                <a:cs typeface="Aptos" pitchFamily="34" charset="-120"/>
              </a:rPr>
              <a:t>VGGish frozen</a:t>
            </a:r>
            <a:endParaRPr lang="en-US" sz="840" dirty="0"/>
          </a:p>
        </p:txBody>
      </p:sp>
      <p:sp>
        <p:nvSpPr>
          <p:cNvPr id="92" name="Shape 17">
            <a:extLst>
              <a:ext uri="{FF2B5EF4-FFF2-40B4-BE49-F238E27FC236}">
                <a16:creationId xmlns:a16="http://schemas.microsoft.com/office/drawing/2014/main" id="{C8B90CB3-6E35-AC85-77DB-300B557FDE8C}"/>
              </a:ext>
            </a:extLst>
          </p:cNvPr>
          <p:cNvSpPr/>
          <p:nvPr/>
        </p:nvSpPr>
        <p:spPr>
          <a:xfrm>
            <a:off x="3642595" y="3616452"/>
            <a:ext cx="2148840" cy="0"/>
          </a:xfrm>
          <a:prstGeom prst="line">
            <a:avLst/>
          </a:prstGeom>
          <a:noFill/>
          <a:ln w="5080">
            <a:solidFill>
              <a:srgbClr val="D8D4C8"/>
            </a:solidFill>
            <a:prstDash val="solid"/>
          </a:ln>
        </p:spPr>
        <p:txBody>
          <a:bodyPr/>
          <a:lstStyle/>
          <a:p>
            <a:endParaRPr lang="en-US"/>
          </a:p>
        </p:txBody>
      </p:sp>
      <p:sp>
        <p:nvSpPr>
          <p:cNvPr id="93" name="Shape 18">
            <a:extLst>
              <a:ext uri="{FF2B5EF4-FFF2-40B4-BE49-F238E27FC236}">
                <a16:creationId xmlns:a16="http://schemas.microsoft.com/office/drawing/2014/main" id="{4281D3AC-A5F8-4551-E43C-4B66D30EA3B8}"/>
              </a:ext>
            </a:extLst>
          </p:cNvPr>
          <p:cNvSpPr/>
          <p:nvPr/>
        </p:nvSpPr>
        <p:spPr>
          <a:xfrm>
            <a:off x="3642595" y="3534156"/>
            <a:ext cx="1386002" cy="155448"/>
          </a:xfrm>
          <a:prstGeom prst="rect">
            <a:avLst/>
          </a:prstGeom>
          <a:solidFill>
            <a:srgbClr val="17677D"/>
          </a:solidFill>
          <a:ln w="12700">
            <a:solidFill>
              <a:srgbClr val="17677D">
                <a:alpha val="0"/>
              </a:srgbClr>
            </a:solidFill>
            <a:prstDash val="solid"/>
          </a:ln>
        </p:spPr>
        <p:txBody>
          <a:bodyPr/>
          <a:lstStyle/>
          <a:p>
            <a:endParaRPr lang="en-US"/>
          </a:p>
        </p:txBody>
      </p:sp>
      <p:sp>
        <p:nvSpPr>
          <p:cNvPr id="94" name="Text 19">
            <a:extLst>
              <a:ext uri="{FF2B5EF4-FFF2-40B4-BE49-F238E27FC236}">
                <a16:creationId xmlns:a16="http://schemas.microsoft.com/office/drawing/2014/main" id="{CDB3EEA4-24AF-0728-D9EB-45FD79F34AAE}"/>
              </a:ext>
            </a:extLst>
          </p:cNvPr>
          <p:cNvSpPr/>
          <p:nvPr/>
        </p:nvSpPr>
        <p:spPr>
          <a:xfrm>
            <a:off x="5104139" y="3509500"/>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64.5%</a:t>
            </a:r>
            <a:endParaRPr lang="en-US" sz="760" dirty="0"/>
          </a:p>
        </p:txBody>
      </p:sp>
      <p:sp>
        <p:nvSpPr>
          <p:cNvPr id="95" name="Text 20">
            <a:extLst>
              <a:ext uri="{FF2B5EF4-FFF2-40B4-BE49-F238E27FC236}">
                <a16:creationId xmlns:a16="http://schemas.microsoft.com/office/drawing/2014/main" id="{169B56EB-0345-90A2-E27C-EB6E66BD991D}"/>
              </a:ext>
            </a:extLst>
          </p:cNvPr>
          <p:cNvSpPr/>
          <p:nvPr/>
        </p:nvSpPr>
        <p:spPr>
          <a:xfrm>
            <a:off x="1036555" y="3835908"/>
            <a:ext cx="2468880" cy="164592"/>
          </a:xfrm>
          <a:prstGeom prst="rect">
            <a:avLst/>
          </a:prstGeom>
          <a:noFill/>
          <a:ln/>
        </p:spPr>
        <p:txBody>
          <a:bodyPr wrap="square" lIns="0" tIns="0" rIns="0" bIns="0" rtlCol="0" anchor="t">
            <a:normAutofit/>
          </a:bodyPr>
          <a:lstStyle/>
          <a:p>
            <a:pPr marL="0" indent="0" algn="l">
              <a:lnSpc>
                <a:spcPct val="90000"/>
              </a:lnSpc>
              <a:buNone/>
            </a:pPr>
            <a:r>
              <a:rPr lang="en-US" sz="840" dirty="0" err="1">
                <a:solidFill>
                  <a:srgbClr val="1F2528"/>
                </a:solidFill>
                <a:latin typeface="Aptos" pitchFamily="34" charset="0"/>
                <a:ea typeface="Aptos" pitchFamily="34" charset="-122"/>
                <a:cs typeface="Aptos" pitchFamily="34" charset="-120"/>
              </a:rPr>
              <a:t>VGGish</a:t>
            </a:r>
            <a:r>
              <a:rPr lang="en-US" sz="840" dirty="0">
                <a:solidFill>
                  <a:srgbClr val="1F2528"/>
                </a:solidFill>
                <a:latin typeface="Aptos" pitchFamily="34" charset="0"/>
                <a:ea typeface="Aptos" pitchFamily="34" charset="-122"/>
                <a:cs typeface="Aptos" pitchFamily="34" charset="-120"/>
              </a:rPr>
              <a:t> fine-tuned</a:t>
            </a:r>
            <a:endParaRPr lang="en-US" sz="840" dirty="0"/>
          </a:p>
        </p:txBody>
      </p:sp>
      <p:sp>
        <p:nvSpPr>
          <p:cNvPr id="96" name="Shape 21">
            <a:extLst>
              <a:ext uri="{FF2B5EF4-FFF2-40B4-BE49-F238E27FC236}">
                <a16:creationId xmlns:a16="http://schemas.microsoft.com/office/drawing/2014/main" id="{0C2EEDD3-2549-A4A5-EAF9-8F5D683ED6F0}"/>
              </a:ext>
            </a:extLst>
          </p:cNvPr>
          <p:cNvSpPr/>
          <p:nvPr/>
        </p:nvSpPr>
        <p:spPr>
          <a:xfrm>
            <a:off x="3642595" y="3936492"/>
            <a:ext cx="2148840" cy="0"/>
          </a:xfrm>
          <a:prstGeom prst="line">
            <a:avLst/>
          </a:prstGeom>
          <a:noFill/>
          <a:ln w="5080">
            <a:solidFill>
              <a:srgbClr val="D8D4C8"/>
            </a:solidFill>
            <a:prstDash val="solid"/>
          </a:ln>
        </p:spPr>
        <p:txBody>
          <a:bodyPr/>
          <a:lstStyle/>
          <a:p>
            <a:endParaRPr lang="en-US"/>
          </a:p>
        </p:txBody>
      </p:sp>
      <p:sp>
        <p:nvSpPr>
          <p:cNvPr id="97" name="Shape 22">
            <a:extLst>
              <a:ext uri="{FF2B5EF4-FFF2-40B4-BE49-F238E27FC236}">
                <a16:creationId xmlns:a16="http://schemas.microsoft.com/office/drawing/2014/main" id="{C986DB74-2247-2BAF-4C72-C3B2613E1B1E}"/>
              </a:ext>
            </a:extLst>
          </p:cNvPr>
          <p:cNvSpPr/>
          <p:nvPr/>
        </p:nvSpPr>
        <p:spPr>
          <a:xfrm>
            <a:off x="3642594" y="3854196"/>
            <a:ext cx="1280160" cy="155448"/>
          </a:xfrm>
          <a:prstGeom prst="rect">
            <a:avLst/>
          </a:prstGeom>
          <a:solidFill>
            <a:srgbClr val="17677D"/>
          </a:solidFill>
          <a:ln w="12700">
            <a:solidFill>
              <a:srgbClr val="17677D">
                <a:alpha val="0"/>
              </a:srgbClr>
            </a:solidFill>
            <a:prstDash val="solid"/>
          </a:ln>
        </p:spPr>
        <p:txBody>
          <a:bodyPr/>
          <a:lstStyle/>
          <a:p>
            <a:endParaRPr lang="en-US"/>
          </a:p>
        </p:txBody>
      </p:sp>
      <p:sp>
        <p:nvSpPr>
          <p:cNvPr id="98" name="Text 23">
            <a:extLst>
              <a:ext uri="{FF2B5EF4-FFF2-40B4-BE49-F238E27FC236}">
                <a16:creationId xmlns:a16="http://schemas.microsoft.com/office/drawing/2014/main" id="{4AAF526B-7322-F1F2-807B-18F46DF1D48B}"/>
              </a:ext>
            </a:extLst>
          </p:cNvPr>
          <p:cNvSpPr/>
          <p:nvPr/>
        </p:nvSpPr>
        <p:spPr>
          <a:xfrm>
            <a:off x="4983557" y="3835908"/>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61%</a:t>
            </a:r>
            <a:endParaRPr lang="en-US" sz="760" dirty="0"/>
          </a:p>
        </p:txBody>
      </p:sp>
      <p:sp>
        <p:nvSpPr>
          <p:cNvPr id="99" name="Text 24">
            <a:extLst>
              <a:ext uri="{FF2B5EF4-FFF2-40B4-BE49-F238E27FC236}">
                <a16:creationId xmlns:a16="http://schemas.microsoft.com/office/drawing/2014/main" id="{D912D868-34DE-03D9-8382-468F7D1DC7B6}"/>
              </a:ext>
            </a:extLst>
          </p:cNvPr>
          <p:cNvSpPr/>
          <p:nvPr/>
        </p:nvSpPr>
        <p:spPr>
          <a:xfrm>
            <a:off x="1033640" y="4979032"/>
            <a:ext cx="2468880" cy="164592"/>
          </a:xfrm>
          <a:prstGeom prst="rect">
            <a:avLst/>
          </a:prstGeom>
          <a:noFill/>
          <a:ln/>
        </p:spPr>
        <p:txBody>
          <a:bodyPr wrap="square" lIns="0" tIns="0" rIns="0" bIns="0" rtlCol="0" anchor="t">
            <a:normAutofit/>
          </a:bodyPr>
          <a:lstStyle/>
          <a:p>
            <a:pPr marL="0" indent="0" algn="l">
              <a:lnSpc>
                <a:spcPct val="90000"/>
              </a:lnSpc>
              <a:buNone/>
            </a:pPr>
            <a:r>
              <a:rPr lang="en-US" sz="840" dirty="0">
                <a:solidFill>
                  <a:srgbClr val="1F2528"/>
                </a:solidFill>
                <a:latin typeface="Aptos" pitchFamily="34" charset="0"/>
                <a:ea typeface="Aptos" pitchFamily="34" charset="-122"/>
                <a:cs typeface="Aptos" pitchFamily="34" charset="-120"/>
              </a:rPr>
              <a:t>BEATs</a:t>
            </a:r>
            <a:endParaRPr lang="en-US" sz="840" dirty="0"/>
          </a:p>
        </p:txBody>
      </p:sp>
      <p:sp>
        <p:nvSpPr>
          <p:cNvPr id="100" name="Shape 25">
            <a:extLst>
              <a:ext uri="{FF2B5EF4-FFF2-40B4-BE49-F238E27FC236}">
                <a16:creationId xmlns:a16="http://schemas.microsoft.com/office/drawing/2014/main" id="{E3C1C568-06A7-1E9D-CFC1-E42EA741E0B1}"/>
              </a:ext>
            </a:extLst>
          </p:cNvPr>
          <p:cNvSpPr/>
          <p:nvPr/>
        </p:nvSpPr>
        <p:spPr>
          <a:xfrm>
            <a:off x="3639680" y="5079616"/>
            <a:ext cx="2148840" cy="0"/>
          </a:xfrm>
          <a:prstGeom prst="line">
            <a:avLst/>
          </a:prstGeom>
          <a:noFill/>
          <a:ln w="5080">
            <a:solidFill>
              <a:srgbClr val="D8D4C8"/>
            </a:solidFill>
            <a:prstDash val="solid"/>
          </a:ln>
        </p:spPr>
        <p:txBody>
          <a:bodyPr/>
          <a:lstStyle/>
          <a:p>
            <a:endParaRPr lang="en-US"/>
          </a:p>
        </p:txBody>
      </p:sp>
      <p:sp>
        <p:nvSpPr>
          <p:cNvPr id="101" name="Shape 26">
            <a:extLst>
              <a:ext uri="{FF2B5EF4-FFF2-40B4-BE49-F238E27FC236}">
                <a16:creationId xmlns:a16="http://schemas.microsoft.com/office/drawing/2014/main" id="{E6DCEFFC-8A2C-ACEE-4AD2-92219D24FD0E}"/>
              </a:ext>
            </a:extLst>
          </p:cNvPr>
          <p:cNvSpPr/>
          <p:nvPr/>
        </p:nvSpPr>
        <p:spPr>
          <a:xfrm>
            <a:off x="3639680" y="4997320"/>
            <a:ext cx="2028505" cy="155448"/>
          </a:xfrm>
          <a:prstGeom prst="rect">
            <a:avLst/>
          </a:prstGeom>
          <a:solidFill>
            <a:srgbClr val="B65D3A"/>
          </a:solidFill>
          <a:ln w="12700">
            <a:solidFill>
              <a:srgbClr val="B65D3A">
                <a:alpha val="0"/>
              </a:srgbClr>
            </a:solidFill>
            <a:prstDash val="solid"/>
          </a:ln>
        </p:spPr>
        <p:txBody>
          <a:bodyPr/>
          <a:lstStyle/>
          <a:p>
            <a:endParaRPr lang="en-US"/>
          </a:p>
        </p:txBody>
      </p:sp>
      <p:sp>
        <p:nvSpPr>
          <p:cNvPr id="102" name="Text 27">
            <a:extLst>
              <a:ext uri="{FF2B5EF4-FFF2-40B4-BE49-F238E27FC236}">
                <a16:creationId xmlns:a16="http://schemas.microsoft.com/office/drawing/2014/main" id="{80E31EB7-621F-0158-0C21-E95F3070273C}"/>
              </a:ext>
            </a:extLst>
          </p:cNvPr>
          <p:cNvSpPr/>
          <p:nvPr/>
        </p:nvSpPr>
        <p:spPr>
          <a:xfrm>
            <a:off x="5759625" y="4979032"/>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94.4%</a:t>
            </a:r>
            <a:endParaRPr lang="en-US" sz="760" dirty="0"/>
          </a:p>
        </p:txBody>
      </p:sp>
      <p:sp>
        <p:nvSpPr>
          <p:cNvPr id="103" name="Text 28">
            <a:extLst>
              <a:ext uri="{FF2B5EF4-FFF2-40B4-BE49-F238E27FC236}">
                <a16:creationId xmlns:a16="http://schemas.microsoft.com/office/drawing/2014/main" id="{D821EA33-7630-1345-F88F-EB7B068CFAAB}"/>
              </a:ext>
            </a:extLst>
          </p:cNvPr>
          <p:cNvSpPr/>
          <p:nvPr/>
        </p:nvSpPr>
        <p:spPr>
          <a:xfrm>
            <a:off x="1033640" y="5299072"/>
            <a:ext cx="2468880" cy="164592"/>
          </a:xfrm>
          <a:prstGeom prst="rect">
            <a:avLst/>
          </a:prstGeom>
          <a:noFill/>
          <a:ln/>
        </p:spPr>
        <p:txBody>
          <a:bodyPr wrap="square" lIns="0" tIns="0" rIns="0" bIns="0" rtlCol="0" anchor="t">
            <a:normAutofit/>
          </a:bodyPr>
          <a:lstStyle/>
          <a:p>
            <a:pPr marL="0" indent="0" algn="l">
              <a:lnSpc>
                <a:spcPct val="90000"/>
              </a:lnSpc>
              <a:buNone/>
            </a:pPr>
            <a:r>
              <a:rPr lang="en-US" sz="840" dirty="0">
                <a:solidFill>
                  <a:srgbClr val="1F2528"/>
                </a:solidFill>
                <a:latin typeface="Aptos" pitchFamily="34" charset="0"/>
                <a:ea typeface="Aptos" pitchFamily="34" charset="-122"/>
                <a:cs typeface="Aptos" pitchFamily="34" charset="-120"/>
              </a:rPr>
              <a:t>AST</a:t>
            </a:r>
            <a:endParaRPr lang="en-US" sz="840" dirty="0"/>
          </a:p>
        </p:txBody>
      </p:sp>
      <p:sp>
        <p:nvSpPr>
          <p:cNvPr id="104" name="Shape 29">
            <a:extLst>
              <a:ext uri="{FF2B5EF4-FFF2-40B4-BE49-F238E27FC236}">
                <a16:creationId xmlns:a16="http://schemas.microsoft.com/office/drawing/2014/main" id="{276FF175-B069-A8A0-ABEE-E63170577D5E}"/>
              </a:ext>
            </a:extLst>
          </p:cNvPr>
          <p:cNvSpPr/>
          <p:nvPr/>
        </p:nvSpPr>
        <p:spPr>
          <a:xfrm>
            <a:off x="3639680" y="5399656"/>
            <a:ext cx="2148840" cy="0"/>
          </a:xfrm>
          <a:prstGeom prst="line">
            <a:avLst/>
          </a:prstGeom>
          <a:noFill/>
          <a:ln w="5080">
            <a:solidFill>
              <a:srgbClr val="D8D4C8"/>
            </a:solidFill>
            <a:prstDash val="solid"/>
          </a:ln>
        </p:spPr>
        <p:txBody>
          <a:bodyPr/>
          <a:lstStyle/>
          <a:p>
            <a:endParaRPr lang="en-US"/>
          </a:p>
        </p:txBody>
      </p:sp>
      <p:sp>
        <p:nvSpPr>
          <p:cNvPr id="105" name="Shape 30">
            <a:extLst>
              <a:ext uri="{FF2B5EF4-FFF2-40B4-BE49-F238E27FC236}">
                <a16:creationId xmlns:a16="http://schemas.microsoft.com/office/drawing/2014/main" id="{9951FC1D-AE23-6F25-595C-B754071F104E}"/>
              </a:ext>
            </a:extLst>
          </p:cNvPr>
          <p:cNvSpPr/>
          <p:nvPr/>
        </p:nvSpPr>
        <p:spPr>
          <a:xfrm>
            <a:off x="3639680" y="5317360"/>
            <a:ext cx="2046770" cy="155448"/>
          </a:xfrm>
          <a:prstGeom prst="rect">
            <a:avLst/>
          </a:prstGeom>
          <a:solidFill>
            <a:srgbClr val="B65D3A"/>
          </a:solidFill>
          <a:ln w="12700">
            <a:solidFill>
              <a:srgbClr val="B65D3A">
                <a:alpha val="0"/>
              </a:srgbClr>
            </a:solidFill>
            <a:prstDash val="solid"/>
          </a:ln>
        </p:spPr>
        <p:txBody>
          <a:bodyPr/>
          <a:lstStyle/>
          <a:p>
            <a:endParaRPr lang="en-US"/>
          </a:p>
        </p:txBody>
      </p:sp>
      <p:sp>
        <p:nvSpPr>
          <p:cNvPr id="106" name="Text 31">
            <a:extLst>
              <a:ext uri="{FF2B5EF4-FFF2-40B4-BE49-F238E27FC236}">
                <a16:creationId xmlns:a16="http://schemas.microsoft.com/office/drawing/2014/main" id="{341066F7-960B-ED72-1376-5C0E8F8CC38B}"/>
              </a:ext>
            </a:extLst>
          </p:cNvPr>
          <p:cNvSpPr/>
          <p:nvPr/>
        </p:nvSpPr>
        <p:spPr>
          <a:xfrm>
            <a:off x="5777890" y="5299072"/>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95.3%</a:t>
            </a:r>
            <a:endParaRPr lang="en-US" sz="760" dirty="0"/>
          </a:p>
        </p:txBody>
      </p:sp>
      <p:sp>
        <p:nvSpPr>
          <p:cNvPr id="107" name="Text 8">
            <a:extLst>
              <a:ext uri="{FF2B5EF4-FFF2-40B4-BE49-F238E27FC236}">
                <a16:creationId xmlns:a16="http://schemas.microsoft.com/office/drawing/2014/main" id="{09A07042-F9E8-BA4F-F6B7-31BE72E9770D}"/>
              </a:ext>
            </a:extLst>
          </p:cNvPr>
          <p:cNvSpPr/>
          <p:nvPr/>
        </p:nvSpPr>
        <p:spPr>
          <a:xfrm>
            <a:off x="1036555" y="2678075"/>
            <a:ext cx="2468880" cy="164592"/>
          </a:xfrm>
          <a:prstGeom prst="rect">
            <a:avLst/>
          </a:prstGeom>
          <a:noFill/>
          <a:ln>
            <a:noFill/>
          </a:ln>
        </p:spPr>
        <p:txBody>
          <a:bodyPr wrap="square" lIns="0" tIns="0" rIns="0" bIns="0" rtlCol="0" anchor="t">
            <a:normAutofit/>
          </a:bodyPr>
          <a:lstStyle/>
          <a:p>
            <a:pPr marL="0" indent="0" algn="l">
              <a:lnSpc>
                <a:spcPct val="90000"/>
              </a:lnSpc>
              <a:buNone/>
            </a:pPr>
            <a:r>
              <a:rPr lang="en-US" sz="840" dirty="0" err="1">
                <a:solidFill>
                  <a:srgbClr val="1F2528"/>
                </a:solidFill>
                <a:latin typeface="Aptos" pitchFamily="34" charset="0"/>
                <a:ea typeface="Aptos" pitchFamily="34" charset="-122"/>
                <a:cs typeface="Aptos" pitchFamily="34" charset="-120"/>
              </a:rPr>
              <a:t>Piczak</a:t>
            </a:r>
            <a:r>
              <a:rPr lang="en-US" sz="840" dirty="0">
                <a:solidFill>
                  <a:srgbClr val="1F2528"/>
                </a:solidFill>
                <a:latin typeface="Aptos" pitchFamily="34" charset="0"/>
                <a:ea typeface="Aptos" pitchFamily="34" charset="-122"/>
                <a:cs typeface="Aptos" pitchFamily="34" charset="-120"/>
              </a:rPr>
              <a:t> CNN Variations</a:t>
            </a:r>
            <a:endParaRPr lang="en-US" sz="840" dirty="0"/>
          </a:p>
        </p:txBody>
      </p:sp>
      <p:sp>
        <p:nvSpPr>
          <p:cNvPr id="108" name="Shape 9">
            <a:extLst>
              <a:ext uri="{FF2B5EF4-FFF2-40B4-BE49-F238E27FC236}">
                <a16:creationId xmlns:a16="http://schemas.microsoft.com/office/drawing/2014/main" id="{3CB338DD-3E05-4AFC-D2D3-9670CB778EA0}"/>
              </a:ext>
            </a:extLst>
          </p:cNvPr>
          <p:cNvSpPr/>
          <p:nvPr/>
        </p:nvSpPr>
        <p:spPr>
          <a:xfrm>
            <a:off x="3642595" y="2778659"/>
            <a:ext cx="2148840" cy="0"/>
          </a:xfrm>
          <a:prstGeom prst="line">
            <a:avLst/>
          </a:prstGeom>
          <a:noFill/>
          <a:ln w="5080">
            <a:solidFill>
              <a:srgbClr val="D8D4C8"/>
            </a:solidFill>
            <a:prstDash val="solid"/>
          </a:ln>
        </p:spPr>
        <p:txBody>
          <a:bodyPr/>
          <a:lstStyle/>
          <a:p>
            <a:endParaRPr lang="en-US"/>
          </a:p>
        </p:txBody>
      </p:sp>
      <p:sp>
        <p:nvSpPr>
          <p:cNvPr id="109" name="Shape 10">
            <a:extLst>
              <a:ext uri="{FF2B5EF4-FFF2-40B4-BE49-F238E27FC236}">
                <a16:creationId xmlns:a16="http://schemas.microsoft.com/office/drawing/2014/main" id="{A20AD5D0-DA6D-A5CA-7CDA-60395B5CDCB1}"/>
              </a:ext>
            </a:extLst>
          </p:cNvPr>
          <p:cNvSpPr/>
          <p:nvPr/>
        </p:nvSpPr>
        <p:spPr>
          <a:xfrm>
            <a:off x="3642595" y="2696363"/>
            <a:ext cx="1463629" cy="155448"/>
          </a:xfrm>
          <a:prstGeom prst="rect">
            <a:avLst/>
          </a:prstGeom>
          <a:solidFill>
            <a:srgbClr val="426E9E"/>
          </a:solidFill>
          <a:ln w="12700">
            <a:solidFill>
              <a:srgbClr val="426E9E">
                <a:alpha val="0"/>
              </a:srgbClr>
            </a:solidFill>
            <a:prstDash val="solid"/>
          </a:ln>
        </p:spPr>
        <p:txBody>
          <a:bodyPr/>
          <a:lstStyle/>
          <a:p>
            <a:endParaRPr lang="en-US"/>
          </a:p>
        </p:txBody>
      </p:sp>
      <p:sp>
        <p:nvSpPr>
          <p:cNvPr id="110" name="Text 11">
            <a:extLst>
              <a:ext uri="{FF2B5EF4-FFF2-40B4-BE49-F238E27FC236}">
                <a16:creationId xmlns:a16="http://schemas.microsoft.com/office/drawing/2014/main" id="{D4D2B609-6A36-24F8-6529-CF90E491D1A7}"/>
              </a:ext>
            </a:extLst>
          </p:cNvPr>
          <p:cNvSpPr/>
          <p:nvPr/>
        </p:nvSpPr>
        <p:spPr>
          <a:xfrm>
            <a:off x="5196984" y="2687222"/>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67.9%</a:t>
            </a:r>
            <a:endParaRPr lang="en-US" sz="760" dirty="0"/>
          </a:p>
        </p:txBody>
      </p:sp>
      <p:cxnSp>
        <p:nvCxnSpPr>
          <p:cNvPr id="111" name="Straight Connector 110">
            <a:extLst>
              <a:ext uri="{FF2B5EF4-FFF2-40B4-BE49-F238E27FC236}">
                <a16:creationId xmlns:a16="http://schemas.microsoft.com/office/drawing/2014/main" id="{79989C5D-32AB-E09D-2FFF-3B3F5FE02BEA}"/>
              </a:ext>
            </a:extLst>
          </p:cNvPr>
          <p:cNvCxnSpPr>
            <a:cxnSpLocks/>
          </p:cNvCxnSpPr>
          <p:nvPr/>
        </p:nvCxnSpPr>
        <p:spPr>
          <a:xfrm>
            <a:off x="1899547" y="3329170"/>
            <a:ext cx="2688538" cy="0"/>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CA249AE1-F836-135F-9C0F-160DFE7C0A03}"/>
              </a:ext>
            </a:extLst>
          </p:cNvPr>
          <p:cNvCxnSpPr>
            <a:cxnSpLocks/>
          </p:cNvCxnSpPr>
          <p:nvPr/>
        </p:nvCxnSpPr>
        <p:spPr>
          <a:xfrm>
            <a:off x="1833032" y="4799608"/>
            <a:ext cx="2688538" cy="0"/>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3" name="Text 16">
            <a:extLst>
              <a:ext uri="{FF2B5EF4-FFF2-40B4-BE49-F238E27FC236}">
                <a16:creationId xmlns:a16="http://schemas.microsoft.com/office/drawing/2014/main" id="{1EE5FD86-B395-B197-A420-58A477178943}"/>
              </a:ext>
            </a:extLst>
          </p:cNvPr>
          <p:cNvSpPr/>
          <p:nvPr/>
        </p:nvSpPr>
        <p:spPr>
          <a:xfrm>
            <a:off x="1036555" y="4145088"/>
            <a:ext cx="2468880" cy="164592"/>
          </a:xfrm>
          <a:prstGeom prst="rect">
            <a:avLst/>
          </a:prstGeom>
          <a:noFill/>
          <a:ln/>
        </p:spPr>
        <p:txBody>
          <a:bodyPr wrap="square" lIns="0" tIns="0" rIns="0" bIns="0" rtlCol="0" anchor="t">
            <a:normAutofit/>
          </a:bodyPr>
          <a:lstStyle/>
          <a:p>
            <a:pPr marL="0" indent="0" algn="l">
              <a:lnSpc>
                <a:spcPct val="90000"/>
              </a:lnSpc>
              <a:buNone/>
            </a:pPr>
            <a:r>
              <a:rPr lang="en-US" sz="840" dirty="0" err="1">
                <a:solidFill>
                  <a:srgbClr val="1F2528"/>
                </a:solidFill>
                <a:latin typeface="Aptos" pitchFamily="34" charset="0"/>
                <a:ea typeface="Aptos" pitchFamily="34" charset="-122"/>
                <a:cs typeface="Aptos" pitchFamily="34" charset="-120"/>
              </a:rPr>
              <a:t>YAMNet</a:t>
            </a:r>
            <a:r>
              <a:rPr lang="en-US" sz="840" dirty="0">
                <a:solidFill>
                  <a:srgbClr val="1F2528"/>
                </a:solidFill>
                <a:latin typeface="Aptos" pitchFamily="34" charset="0"/>
                <a:ea typeface="Aptos" pitchFamily="34" charset="-122"/>
                <a:cs typeface="Aptos" pitchFamily="34" charset="-120"/>
              </a:rPr>
              <a:t> frozen</a:t>
            </a:r>
            <a:endParaRPr lang="en-US" sz="840" dirty="0"/>
          </a:p>
        </p:txBody>
      </p:sp>
      <p:sp>
        <p:nvSpPr>
          <p:cNvPr id="114" name="Shape 17">
            <a:extLst>
              <a:ext uri="{FF2B5EF4-FFF2-40B4-BE49-F238E27FC236}">
                <a16:creationId xmlns:a16="http://schemas.microsoft.com/office/drawing/2014/main" id="{E43611A8-51DB-F9FC-528B-5F129FC70F81}"/>
              </a:ext>
            </a:extLst>
          </p:cNvPr>
          <p:cNvSpPr/>
          <p:nvPr/>
        </p:nvSpPr>
        <p:spPr>
          <a:xfrm>
            <a:off x="3642595" y="4245672"/>
            <a:ext cx="2148840" cy="0"/>
          </a:xfrm>
          <a:prstGeom prst="line">
            <a:avLst/>
          </a:prstGeom>
          <a:noFill/>
          <a:ln w="5080">
            <a:solidFill>
              <a:srgbClr val="D8D4C8"/>
            </a:solidFill>
            <a:prstDash val="solid"/>
          </a:ln>
        </p:spPr>
        <p:txBody>
          <a:bodyPr/>
          <a:lstStyle/>
          <a:p>
            <a:endParaRPr lang="en-US"/>
          </a:p>
        </p:txBody>
      </p:sp>
      <p:sp>
        <p:nvSpPr>
          <p:cNvPr id="115" name="Shape 18">
            <a:extLst>
              <a:ext uri="{FF2B5EF4-FFF2-40B4-BE49-F238E27FC236}">
                <a16:creationId xmlns:a16="http://schemas.microsoft.com/office/drawing/2014/main" id="{7195DB38-D51D-7A05-089F-42469EDA83F6}"/>
              </a:ext>
            </a:extLst>
          </p:cNvPr>
          <p:cNvSpPr/>
          <p:nvPr/>
        </p:nvSpPr>
        <p:spPr>
          <a:xfrm>
            <a:off x="3642595" y="4163376"/>
            <a:ext cx="1828566" cy="155448"/>
          </a:xfrm>
          <a:prstGeom prst="rect">
            <a:avLst/>
          </a:prstGeom>
          <a:solidFill>
            <a:srgbClr val="17677D"/>
          </a:solidFill>
          <a:ln w="12700">
            <a:solidFill>
              <a:srgbClr val="17677D">
                <a:alpha val="0"/>
              </a:srgbClr>
            </a:solidFill>
            <a:prstDash val="solid"/>
          </a:ln>
        </p:spPr>
        <p:txBody>
          <a:bodyPr/>
          <a:lstStyle/>
          <a:p>
            <a:endParaRPr lang="en-US"/>
          </a:p>
        </p:txBody>
      </p:sp>
      <p:sp>
        <p:nvSpPr>
          <p:cNvPr id="116" name="Text 19">
            <a:extLst>
              <a:ext uri="{FF2B5EF4-FFF2-40B4-BE49-F238E27FC236}">
                <a16:creationId xmlns:a16="http://schemas.microsoft.com/office/drawing/2014/main" id="{3507311E-116A-4DE1-2213-6793EF7D04F3}"/>
              </a:ext>
            </a:extLst>
          </p:cNvPr>
          <p:cNvSpPr/>
          <p:nvPr/>
        </p:nvSpPr>
        <p:spPr>
          <a:xfrm>
            <a:off x="5526168" y="4152045"/>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88.5%</a:t>
            </a:r>
            <a:endParaRPr lang="en-US" sz="760" dirty="0"/>
          </a:p>
        </p:txBody>
      </p:sp>
      <p:sp>
        <p:nvSpPr>
          <p:cNvPr id="117" name="Text 20">
            <a:extLst>
              <a:ext uri="{FF2B5EF4-FFF2-40B4-BE49-F238E27FC236}">
                <a16:creationId xmlns:a16="http://schemas.microsoft.com/office/drawing/2014/main" id="{46B1A3B8-E4EE-D257-A784-4541EF7344FE}"/>
              </a:ext>
            </a:extLst>
          </p:cNvPr>
          <p:cNvSpPr/>
          <p:nvPr/>
        </p:nvSpPr>
        <p:spPr>
          <a:xfrm>
            <a:off x="1036555" y="4465128"/>
            <a:ext cx="2468880" cy="164592"/>
          </a:xfrm>
          <a:prstGeom prst="rect">
            <a:avLst/>
          </a:prstGeom>
          <a:noFill/>
          <a:ln/>
        </p:spPr>
        <p:txBody>
          <a:bodyPr wrap="square" lIns="0" tIns="0" rIns="0" bIns="0" rtlCol="0" anchor="t">
            <a:normAutofit/>
          </a:bodyPr>
          <a:lstStyle/>
          <a:p>
            <a:pPr marL="0" indent="0" algn="l">
              <a:lnSpc>
                <a:spcPct val="90000"/>
              </a:lnSpc>
              <a:buNone/>
            </a:pPr>
            <a:r>
              <a:rPr lang="en-US" sz="840" dirty="0">
                <a:solidFill>
                  <a:srgbClr val="1F2528"/>
                </a:solidFill>
                <a:latin typeface="Aptos" pitchFamily="34" charset="0"/>
                <a:ea typeface="Aptos" pitchFamily="34" charset="-122"/>
                <a:cs typeface="Aptos" pitchFamily="34" charset="-120"/>
              </a:rPr>
              <a:t>YAMNet fine-tuned</a:t>
            </a:r>
            <a:endParaRPr lang="en-US" sz="840" dirty="0"/>
          </a:p>
        </p:txBody>
      </p:sp>
      <p:sp>
        <p:nvSpPr>
          <p:cNvPr id="118" name="Shape 21">
            <a:extLst>
              <a:ext uri="{FF2B5EF4-FFF2-40B4-BE49-F238E27FC236}">
                <a16:creationId xmlns:a16="http://schemas.microsoft.com/office/drawing/2014/main" id="{A4FB4967-A018-FA3D-A73B-ECBF8F7B5032}"/>
              </a:ext>
            </a:extLst>
          </p:cNvPr>
          <p:cNvSpPr/>
          <p:nvPr/>
        </p:nvSpPr>
        <p:spPr>
          <a:xfrm>
            <a:off x="3642595" y="4565712"/>
            <a:ext cx="2148840" cy="0"/>
          </a:xfrm>
          <a:prstGeom prst="line">
            <a:avLst/>
          </a:prstGeom>
          <a:noFill/>
          <a:ln w="5080">
            <a:solidFill>
              <a:srgbClr val="D8D4C8"/>
            </a:solidFill>
            <a:prstDash val="solid"/>
          </a:ln>
        </p:spPr>
        <p:txBody>
          <a:bodyPr/>
          <a:lstStyle/>
          <a:p>
            <a:endParaRPr lang="en-US"/>
          </a:p>
        </p:txBody>
      </p:sp>
      <p:sp>
        <p:nvSpPr>
          <p:cNvPr id="119" name="Shape 22">
            <a:extLst>
              <a:ext uri="{FF2B5EF4-FFF2-40B4-BE49-F238E27FC236}">
                <a16:creationId xmlns:a16="http://schemas.microsoft.com/office/drawing/2014/main" id="{71419480-11F2-AABF-0344-F7DE8A9B675A}"/>
              </a:ext>
            </a:extLst>
          </p:cNvPr>
          <p:cNvSpPr/>
          <p:nvPr/>
        </p:nvSpPr>
        <p:spPr>
          <a:xfrm>
            <a:off x="3642595" y="4483416"/>
            <a:ext cx="1792133" cy="155448"/>
          </a:xfrm>
          <a:prstGeom prst="rect">
            <a:avLst/>
          </a:prstGeom>
          <a:solidFill>
            <a:srgbClr val="17677D"/>
          </a:solidFill>
          <a:ln w="12700">
            <a:solidFill>
              <a:srgbClr val="17677D">
                <a:alpha val="0"/>
              </a:srgbClr>
            </a:solidFill>
            <a:prstDash val="solid"/>
          </a:ln>
        </p:spPr>
        <p:txBody>
          <a:bodyPr/>
          <a:lstStyle/>
          <a:p>
            <a:endParaRPr lang="en-US"/>
          </a:p>
        </p:txBody>
      </p:sp>
      <p:sp>
        <p:nvSpPr>
          <p:cNvPr id="120" name="Text 23">
            <a:extLst>
              <a:ext uri="{FF2B5EF4-FFF2-40B4-BE49-F238E27FC236}">
                <a16:creationId xmlns:a16="http://schemas.microsoft.com/office/drawing/2014/main" id="{03D5F084-0824-5DD8-B5D5-C20C2422231C}"/>
              </a:ext>
            </a:extLst>
          </p:cNvPr>
          <p:cNvSpPr/>
          <p:nvPr/>
        </p:nvSpPr>
        <p:spPr>
          <a:xfrm>
            <a:off x="5526168" y="4465128"/>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87.3%</a:t>
            </a:r>
            <a:endParaRPr lang="en-US" sz="7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1126</TotalTime>
  <Words>3023</Words>
  <Application>Microsoft Macintosh PowerPoint</Application>
  <PresentationFormat>Widescreen</PresentationFormat>
  <Paragraphs>471</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-apple-system</vt: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Cornell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Measuring AI Acceleration with ESC-50</dc:title>
  <dc:subject>Environmental sound classification final project</dc:subject>
  <dc:creator>SYSEN 5888 Team</dc:creator>
  <cp:lastModifiedBy>Jonathan Sebastian Charles Lloyd</cp:lastModifiedBy>
  <cp:revision>26</cp:revision>
  <dcterms:created xsi:type="dcterms:W3CDTF">2026-04-28T06:03:37Z</dcterms:created>
  <dcterms:modified xsi:type="dcterms:W3CDTF">2026-05-01T02:12:46Z</dcterms:modified>
</cp:coreProperties>
</file>